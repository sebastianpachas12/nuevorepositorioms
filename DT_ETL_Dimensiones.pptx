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67" r:id="rId2"/>
    <p:sldMasterId id="2147483693" r:id="rId3"/>
  </p:sldMasterIdLst>
  <p:notesMasterIdLst>
    <p:notesMasterId r:id="rId13"/>
  </p:notesMasterIdLst>
  <p:sldIdLst>
    <p:sldId id="2147480609" r:id="rId4"/>
    <p:sldId id="2146849740" r:id="rId5"/>
    <p:sldId id="2147480611" r:id="rId6"/>
    <p:sldId id="2147480613" r:id="rId7"/>
    <p:sldId id="2147480614" r:id="rId8"/>
    <p:sldId id="2146849748" r:id="rId9"/>
    <p:sldId id="2147480610" r:id="rId10"/>
    <p:sldId id="2147480615" r:id="rId11"/>
    <p:sldId id="819" r:id="rId12"/>
  </p:sldIdLst>
  <p:sldSz cx="12192000" cy="6858000"/>
  <p:notesSz cx="6858000" cy="9144000"/>
  <p:custDataLst>
    <p:tags r:id="rId14"/>
  </p:custDataLst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960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>
        <p:scale>
          <a:sx n="75" d="100"/>
          <a:sy n="75" d="100"/>
        </p:scale>
        <p:origin x="360" y="-120"/>
      </p:cViewPr>
      <p:guideLst>
        <p:guide pos="960"/>
        <p:guide pos="211"/>
        <p:guide orient="horz" pos="9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6AF44-DC66-44EC-8A16-8891E70807D3}" type="datetimeFigureOut">
              <a:rPr lang="es-ES_tradnl" smtClean="0"/>
              <a:t>21/07/2026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1F66E-E833-41C9-A9B9-34A4EE7F22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9756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EEE7-B938-F2C9-9567-E663BBA4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3160D-7889-6CD4-1FC4-0841DAA30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A9578-1328-9E72-7E99-4B6614254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E4B75-5119-4697-B601-B88F73CD7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205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DC916-F364-D28C-58A4-9495E00D6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259C3-1C6C-E960-D1B3-E37E84499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142CD-BF25-AB34-69B2-3BC3601BA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136C3-C7DE-DC99-E228-A2104008A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335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E5A7-1492-8875-1258-D16AD088C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B9B97-0FD6-01A0-9FC2-63F204301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BC91E-E599-6FDD-0D49-1337CBED6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37157-6E52-F7B4-4EB9-FF4100F4A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952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33A0-23FE-3758-57AE-A06BF9EC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79A6A-C9D3-7A55-121C-05BFD4F24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4D511-1C69-4399-238B-303D87E9B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CB756-0353-14CD-0898-077AF75ED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383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C878-F59A-A74A-5387-22549409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D158C-119A-4DB3-BE3F-A3EEF856C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7F46C-3526-43AA-9FD4-C4F68C310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EA18-37DC-3216-5CB8-3E82CFF78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6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889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7648-920D-9F52-2731-1C21DE97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F890D-5927-634C-D250-A66AAB175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8A4E5-AA4F-CCBE-4C15-29483B062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F23E1-2178-BEA5-2501-014E59471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7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492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C38CD-D585-13CF-C2D6-94262F21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044A3-E0B6-F18C-DFE0-2AA73E49E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3D884-A17E-3558-EA54-A6277CD46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C4AF7-3E65-2C99-199F-69BC03012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591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648963a9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6" name="Google Shape;996;g648963a9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68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image" Target="../media/image8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8.emf"/><Relationship Id="rId4" Type="http://schemas.microsoft.com/office/2007/relationships/hdphoto" Target="../media/hdphoto1.wdp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vertical y texto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63E8DD7-D67E-F2E4-CC36-243156DB3A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697" y="0"/>
            <a:ext cx="334368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8454F5-F066-6858-5A91-F456AECF53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1078" y="6477000"/>
            <a:ext cx="8850923" cy="3810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C8863332-9BD1-E3AF-AFD4-AA36FFCB69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50926" y="6067430"/>
            <a:ext cx="29815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_tradnl" altLang="es-ES" sz="1000" b="1">
                <a:solidFill>
                  <a:srgbClr val="001A48"/>
                </a:solidFill>
              </a:rPr>
              <a:t>www.managementsolutions.com</a:t>
            </a:r>
            <a:endParaRPr lang="en-US" altLang="es-ES" sz="1000" b="1">
              <a:solidFill>
                <a:srgbClr val="001A48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805A-45FF-8124-8F4D-B8CE036CB2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477000"/>
            <a:ext cx="3341077" cy="381000"/>
          </a:xfrm>
          <a:prstGeom prst="rect">
            <a:avLst/>
          </a:prstGeom>
          <a:solidFill>
            <a:srgbClr val="997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n-US" altLang="es-ES" sz="1000"/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81A6CCB0-B8EE-0303-6DDD-B6FCC18E0264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3364523" y="3086105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 sz="18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7A9B8087-E63A-A026-D176-1CA2CB42D8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91288"/>
            <a:ext cx="263378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0" rIns="0" anchor="ctr"/>
          <a:lstStyle>
            <a:lvl1pPr marL="101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 lang="es-ES" altLang="es-ES" sz="1200" b="1">
                <a:solidFill>
                  <a:schemeClr val="bg1"/>
                </a:solidFill>
              </a:rPr>
              <a:t>Entidades Financieras</a:t>
            </a:r>
            <a:endParaRPr lang="en-US" altLang="es-ES" sz="1200" b="1">
              <a:solidFill>
                <a:schemeClr val="bg1"/>
              </a:solidFill>
            </a:endParaRPr>
          </a:p>
        </p:txBody>
      </p:sp>
      <p:pic>
        <p:nvPicPr>
          <p:cNvPr id="10" name="Picture 41">
            <a:extLst>
              <a:ext uri="{FF2B5EF4-FFF2-40B4-BE49-F238E27FC236}">
                <a16:creationId xmlns:a16="http://schemas.microsoft.com/office/drawing/2014/main" id="{24BEE9CB-3EA2-FD2E-0695-E0D973D45B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9897" y="493686"/>
            <a:ext cx="2209073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9">
            <a:extLst>
              <a:ext uri="{FF2B5EF4-FFF2-40B4-BE49-F238E27FC236}">
                <a16:creationId xmlns:a16="http://schemas.microsoft.com/office/drawing/2014/main" id="{935D05EB-AAA8-D595-4BFE-D3D3AE05DBA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387972" y="3028955"/>
            <a:ext cx="7877908" cy="14763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s-ES" noProof="0"/>
              <a:t>Click to edit Master title style</a:t>
            </a:r>
            <a:endParaRPr lang="es-ES_tradnl" altLang="es-ES" noProof="0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F9E2FDD6-9632-3DD4-657B-E020E8B6167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87972" y="4524375"/>
            <a:ext cx="7971692" cy="9207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rgbClr val="997D00"/>
                </a:solidFill>
              </a:defRPr>
            </a:lvl1pPr>
          </a:lstStyle>
          <a:p>
            <a:pPr lvl="0"/>
            <a:r>
              <a:rPr lang="en-US" altLang="es-ES" noProof="0"/>
              <a:t>Click to edit Master subtitle style</a:t>
            </a:r>
            <a:endParaRPr lang="es-ES_tradnl" altLang="es-ES" noProof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1C96F9C4-AFD0-CA79-3F43-E0E13D3FF6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18643" y="541425"/>
            <a:ext cx="1903460" cy="49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67963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s-ES" altLang="es-ES" sz="10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41078" y="6477000"/>
            <a:ext cx="8850923" cy="3810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12192000" cy="6477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0" y="6826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 sz="1800"/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8850926" y="6067430"/>
            <a:ext cx="29815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_tradnl" altLang="es-ES" sz="1000" b="1">
                <a:solidFill>
                  <a:srgbClr val="001A48"/>
                </a:solidFill>
              </a:rPr>
              <a:t>www.managementsolutions.com</a:t>
            </a:r>
            <a:endParaRPr lang="en-US" altLang="es-ES" sz="1000" b="1">
              <a:solidFill>
                <a:srgbClr val="001A48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" y="6477000"/>
            <a:ext cx="3341077" cy="381000"/>
          </a:xfrm>
          <a:prstGeom prst="rect">
            <a:avLst/>
          </a:prstGeom>
          <a:solidFill>
            <a:srgbClr val="997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n-US" altLang="es-ES" sz="1000"/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H="1">
            <a:off x="3364523" y="3086105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 sz="1800"/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0" y="6491288"/>
            <a:ext cx="263378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0" rIns="0" anchor="ctr"/>
          <a:lstStyle>
            <a:lvl1pPr marL="101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 lang="es-ES" altLang="es-ES" sz="1200" b="1">
                <a:solidFill>
                  <a:schemeClr val="bg1"/>
                </a:solidFill>
              </a:rPr>
              <a:t>Entidades Financieras</a:t>
            </a:r>
            <a:endParaRPr lang="en-US" altLang="es-ES" sz="1200" b="1">
              <a:solidFill>
                <a:schemeClr val="bg1"/>
              </a:solidFill>
            </a:endParaRPr>
          </a:p>
        </p:txBody>
      </p:sp>
      <p:pic>
        <p:nvPicPr>
          <p:cNvPr id="15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8970" y="1120775"/>
            <a:ext cx="2727569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0926" y="1120775"/>
            <a:ext cx="2725616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387972" y="3028955"/>
            <a:ext cx="7877908" cy="14763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s-ES" noProof="0"/>
              <a:t>Click to edit Master title style</a:t>
            </a:r>
            <a:endParaRPr lang="es-ES_tradnl" altLang="es-ES" noProof="0"/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87972" y="4524375"/>
            <a:ext cx="7971692" cy="9207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rgbClr val="997D00"/>
                </a:solidFill>
              </a:defRPr>
            </a:lvl1pPr>
          </a:lstStyle>
          <a:p>
            <a:pPr lvl="0"/>
            <a:r>
              <a:rPr lang="en-US" altLang="es-ES" noProof="0"/>
              <a:t>Click to edit Master subtitle style</a:t>
            </a:r>
            <a:endParaRPr lang="es-ES_tradnl" altLang="es-ES" noProof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684" y="1314131"/>
            <a:ext cx="3262406" cy="69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58879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664910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247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263833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7124" y="1303338"/>
            <a:ext cx="50487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43434" y="1303338"/>
            <a:ext cx="505069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83142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696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696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3408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9638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49743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247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84" y="273055"/>
            <a:ext cx="681501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67201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8252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067336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7001" y="361950"/>
            <a:ext cx="2577122" cy="5056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3681" y="361950"/>
            <a:ext cx="7545754" cy="5056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066776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2" name="Rectangle 1" hidden="1"/>
          <p:cNvSpPr/>
          <p:nvPr userDrawn="1">
            <p:custDataLst>
              <p:tags r:id="rId1"/>
            </p:custDataLst>
          </p:nvPr>
        </p:nvSpPr>
        <p:spPr bwMode="auto">
          <a:xfrm>
            <a:off x="-17319" y="-140388"/>
            <a:ext cx="246308" cy="4924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_tradnl" sz="3200" b="0" i="0" baseline="0">
              <a:latin typeface="Arial"/>
              <a:ea typeface="+mj-ea"/>
              <a:cs typeface="+mj-cs"/>
              <a:sym typeface="Arial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41132" y="6477000"/>
            <a:ext cx="8850923" cy="381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0" y="1"/>
            <a:ext cx="12192000" cy="6477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20" y="6826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7974925" y="6067544"/>
            <a:ext cx="410771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sz="1400" b="1">
                <a:solidFill>
                  <a:schemeClr val="bg1"/>
                </a:solidFill>
                <a:latin typeface="Calibri" panose="020F0502020204030204" pitchFamily="34" charset="0"/>
                <a:sym typeface="Wingdings" pitchFamily="2" charset="2"/>
              </a:rPr>
              <a:t>www.managementsolutions.com</a:t>
            </a:r>
            <a:endParaRPr lang="en-US" sz="1400" b="1">
              <a:solidFill>
                <a:schemeClr val="bg1"/>
              </a:solidFill>
              <a:latin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3" y="6477000"/>
            <a:ext cx="3341077" cy="3810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333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gray">
          <a:xfrm>
            <a:off x="9290595" y="6487921"/>
            <a:ext cx="2792045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sz="1333">
                <a:solidFill>
                  <a:srgbClr val="FFFFFF"/>
                </a:solidFill>
                <a:latin typeface="Calibri" panose="020F0502020204030204" pitchFamily="34" charset="0"/>
                <a:sym typeface="Wingdings" pitchFamily="2" charset="2"/>
              </a:rPr>
              <a:t>Madrid, julio de 2018</a:t>
            </a:r>
            <a:endParaRPr lang="en-US" sz="1333">
              <a:solidFill>
                <a:srgbClr val="FFFFFF"/>
              </a:solidFill>
              <a:latin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" y="6491288"/>
            <a:ext cx="3341129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480000" rIns="0" anchor="ctr"/>
          <a:lstStyle/>
          <a:p>
            <a:pPr marL="0" indent="0"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  <a:sym typeface="Wingdings" pitchFamily="2" charset="2"/>
              </a:rPr>
              <a:t>     Entidades Financieras</a:t>
            </a:r>
          </a:p>
        </p:txBody>
      </p:sp>
      <p:sp>
        <p:nvSpPr>
          <p:cNvPr id="14" name="Text Box 1030"/>
          <p:cNvSpPr txBox="1">
            <a:spLocks noChangeArrowheads="1"/>
          </p:cNvSpPr>
          <p:nvPr/>
        </p:nvSpPr>
        <p:spPr bwMode="auto">
          <a:xfrm>
            <a:off x="5001867" y="1263650"/>
            <a:ext cx="203590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s-ES" sz="1600" u="sng">
              <a:solidFill>
                <a:srgbClr val="00000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9536167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16287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87350"/>
            <a:ext cx="12192000" cy="76327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2" name="Rectangle 1" hidden="1"/>
          <p:cNvSpPr/>
          <p:nvPr userDrawn="1">
            <p:custDataLst>
              <p:tags r:id="rId1"/>
            </p:custDataLst>
          </p:nvPr>
        </p:nvSpPr>
        <p:spPr bwMode="auto">
          <a:xfrm>
            <a:off x="-17319" y="-140388"/>
            <a:ext cx="246308" cy="4924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_tradnl" sz="2667" b="0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341077" y="6477000"/>
            <a:ext cx="8850923" cy="381000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0" y="1"/>
            <a:ext cx="12192000" cy="647700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gray">
          <a:xfrm>
            <a:off x="0" y="6826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sp>
        <p:nvSpPr>
          <p:cNvPr id="8" name="Rectangle 12"/>
          <p:cNvSpPr>
            <a:spLocks noChangeArrowheads="1"/>
          </p:cNvSpPr>
          <p:nvPr userDrawn="1"/>
        </p:nvSpPr>
        <p:spPr bwMode="auto">
          <a:xfrm rot="16200000">
            <a:off x="-2666291" y="3467850"/>
            <a:ext cx="5682325" cy="2280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900" tIns="51951" rIns="103900" bIns="51951">
            <a:spAutoFit/>
          </a:bodyPr>
          <a:lstStyle/>
          <a:p>
            <a:pPr algn="r">
              <a:defRPr/>
            </a:pPr>
            <a:r>
              <a:rPr lang="es-ES" sz="800">
                <a:solidFill>
                  <a:schemeClr val="bg1"/>
                </a:solidFill>
              </a:rPr>
              <a:t> </a:t>
            </a:r>
            <a:r>
              <a:rPr lang="es-ES_tradnl" sz="800">
                <a:solidFill>
                  <a:schemeClr val="bg1"/>
                </a:solidFill>
              </a:rPr>
              <a:t>©</a:t>
            </a:r>
            <a:r>
              <a:rPr lang="es-ES" sz="800">
                <a:solidFill>
                  <a:schemeClr val="bg1"/>
                </a:solidFill>
              </a:rPr>
              <a:t> Management Solutions 2023. Todos los derechos reservados</a:t>
            </a:r>
            <a:endParaRPr lang="es-ES_tradnl" sz="800">
              <a:solidFill>
                <a:schemeClr val="bg1"/>
              </a:solidFill>
            </a:endParaRPr>
          </a:p>
        </p:txBody>
      </p:sp>
      <p:sp>
        <p:nvSpPr>
          <p:cNvPr id="9" name="Rectangle 15"/>
          <p:cNvSpPr>
            <a:spLocks noChangeArrowheads="1"/>
          </p:cNvSpPr>
          <p:nvPr userDrawn="1"/>
        </p:nvSpPr>
        <p:spPr bwMode="auto">
          <a:xfrm>
            <a:off x="7145073" y="6441758"/>
            <a:ext cx="2979616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r">
              <a:defRPr/>
            </a:pPr>
            <a:r>
              <a:rPr lang="es-ES_tradnl" sz="1200" b="1">
                <a:solidFill>
                  <a:schemeClr val="bg1"/>
                </a:solidFill>
              </a:rPr>
              <a:t>www.managementsolutions.com 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 userDrawn="1"/>
        </p:nvSpPr>
        <p:spPr bwMode="auto">
          <a:xfrm>
            <a:off x="0" y="6477000"/>
            <a:ext cx="3341077" cy="381000"/>
          </a:xfrm>
          <a:prstGeom prst="rect">
            <a:avLst/>
          </a:prstGeom>
          <a:solidFill>
            <a:srgbClr val="997D00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 algn="ctr">
              <a:defRPr/>
            </a:pPr>
            <a:endParaRPr lang="en-US" sz="1200"/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gray">
          <a:xfrm>
            <a:off x="10453397" y="6486526"/>
            <a:ext cx="1570375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l"/>
            <a:r>
              <a:rPr lang="es-ES" sz="1200">
                <a:solidFill>
                  <a:schemeClr val="bg1"/>
                </a:solidFill>
              </a:rPr>
              <a:t>Diciembre de 2023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4" name="Rectangle 45"/>
          <p:cNvSpPr>
            <a:spLocks noChangeArrowheads="1"/>
          </p:cNvSpPr>
          <p:nvPr userDrawn="1"/>
        </p:nvSpPr>
        <p:spPr bwMode="auto">
          <a:xfrm>
            <a:off x="155321" y="6491288"/>
            <a:ext cx="2633784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409056" tIns="51951" rIns="0" bIns="51951" anchor="ctr"/>
          <a:lstStyle/>
          <a:p>
            <a:pPr marL="0" indent="0" algn="ctr">
              <a:defRPr/>
            </a:pPr>
            <a:r>
              <a:rPr lang="es-ES" sz="1600" b="1">
                <a:solidFill>
                  <a:schemeClr val="bg1"/>
                </a:solidFill>
              </a:rPr>
              <a:t>Control</a:t>
            </a:r>
            <a:r>
              <a:rPr lang="es-ES" sz="1600" b="1" baseline="0">
                <a:solidFill>
                  <a:schemeClr val="bg1"/>
                </a:solidFill>
              </a:rPr>
              <a:t> de Gestión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15" name="Line 48"/>
          <p:cNvSpPr>
            <a:spLocks noChangeShapeType="1"/>
          </p:cNvSpPr>
          <p:nvPr userDrawn="1"/>
        </p:nvSpPr>
        <p:spPr bwMode="gray">
          <a:xfrm flipH="1">
            <a:off x="10279703" y="6565900"/>
            <a:ext cx="0" cy="228600"/>
          </a:xfrm>
          <a:prstGeom prst="line">
            <a:avLst/>
          </a:prstGeom>
          <a:noFill/>
          <a:ln w="25400">
            <a:solidFill>
              <a:srgbClr val="997D00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sp>
        <p:nvSpPr>
          <p:cNvPr id="19" name="Rectangle 18"/>
          <p:cNvSpPr/>
          <p:nvPr userDrawn="1"/>
        </p:nvSpPr>
        <p:spPr bwMode="auto">
          <a:xfrm>
            <a:off x="4878590" y="3909054"/>
            <a:ext cx="7362093" cy="1898121"/>
          </a:xfrm>
          <a:prstGeom prst="rect">
            <a:avLst/>
          </a:prstGeom>
          <a:solidFill>
            <a:schemeClr val="bg1">
              <a:alpha val="73000"/>
            </a:schemeClr>
          </a:solidFill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rot="0" spcFirstLastPara="0" vertOverflow="overflow" horzOverflow="overflow" vert="horz" wrap="none" lIns="103900" tIns="51951" rIns="103900" bIns="519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s-ES" sz="1333"/>
          </a:p>
        </p:txBody>
      </p:sp>
      <p:pic>
        <p:nvPicPr>
          <p:cNvPr id="12185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70525" y="932723"/>
            <a:ext cx="2309284" cy="1081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275837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vertical y texto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63E8DD7-D67E-F2E4-CC36-243156DB3A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697" y="0"/>
            <a:ext cx="334368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8454F5-F066-6858-5A91-F456AECF53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1078" y="6477000"/>
            <a:ext cx="8850923" cy="3810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C8863332-9BD1-E3AF-AFD4-AA36FFCB69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50926" y="6067430"/>
            <a:ext cx="29815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_tradnl" altLang="es-ES" sz="1000" b="1">
                <a:solidFill>
                  <a:srgbClr val="001A48"/>
                </a:solidFill>
              </a:rPr>
              <a:t>www.managementsolutions.com</a:t>
            </a:r>
            <a:endParaRPr lang="en-US" altLang="es-ES" sz="1000" b="1">
              <a:solidFill>
                <a:srgbClr val="001A48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805A-45FF-8124-8F4D-B8CE036CB2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477000"/>
            <a:ext cx="3341077" cy="381000"/>
          </a:xfrm>
          <a:prstGeom prst="rect">
            <a:avLst/>
          </a:prstGeom>
          <a:solidFill>
            <a:srgbClr val="997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n-US" altLang="es-ES" sz="1000"/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81A6CCB0-B8EE-0303-6DDD-B6FCC18E0264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3364523" y="3086105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 sz="18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7A9B8087-E63A-A026-D176-1CA2CB42D8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91288"/>
            <a:ext cx="263378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0" rIns="0" anchor="ctr"/>
          <a:lstStyle>
            <a:lvl1pPr marL="101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 lang="es-ES" altLang="es-ES" sz="1200" b="1">
                <a:solidFill>
                  <a:schemeClr val="bg1"/>
                </a:solidFill>
              </a:rPr>
              <a:t>Entidades Financieras</a:t>
            </a:r>
            <a:endParaRPr lang="en-US" altLang="es-ES" sz="1200" b="1">
              <a:solidFill>
                <a:schemeClr val="bg1"/>
              </a:solidFill>
            </a:endParaRPr>
          </a:p>
        </p:txBody>
      </p:sp>
      <p:pic>
        <p:nvPicPr>
          <p:cNvPr id="10" name="Picture 41">
            <a:extLst>
              <a:ext uri="{FF2B5EF4-FFF2-40B4-BE49-F238E27FC236}">
                <a16:creationId xmlns:a16="http://schemas.microsoft.com/office/drawing/2014/main" id="{24BEE9CB-3EA2-FD2E-0695-E0D973D45B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9897" y="493686"/>
            <a:ext cx="2209073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9">
            <a:extLst>
              <a:ext uri="{FF2B5EF4-FFF2-40B4-BE49-F238E27FC236}">
                <a16:creationId xmlns:a16="http://schemas.microsoft.com/office/drawing/2014/main" id="{935D05EB-AAA8-D595-4BFE-D3D3AE05DBA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387972" y="3028955"/>
            <a:ext cx="7877908" cy="14763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s-ES" noProof="0"/>
              <a:t>Click to edit Master title style</a:t>
            </a:r>
            <a:endParaRPr lang="es-ES_tradnl" altLang="es-ES" noProof="0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F9E2FDD6-9632-3DD4-657B-E020E8B6167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87972" y="4524375"/>
            <a:ext cx="7971692" cy="9207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rgbClr val="997D00"/>
                </a:solidFill>
              </a:defRPr>
            </a:lvl1pPr>
          </a:lstStyle>
          <a:p>
            <a:pPr lvl="0"/>
            <a:r>
              <a:rPr lang="en-US" altLang="es-ES" noProof="0"/>
              <a:t>Click to edit Master subtitle style</a:t>
            </a:r>
            <a:endParaRPr lang="es-ES_tradnl" altLang="es-ES" noProof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1C96F9C4-AFD0-CA79-3F43-E0E13D3FF6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18643" y="541425"/>
            <a:ext cx="1903460" cy="49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58146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s-ES" altLang="es-ES" sz="10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41078" y="6477000"/>
            <a:ext cx="8850923" cy="3810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12192000" cy="6477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0" y="6826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 sz="1800"/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8850926" y="6067430"/>
            <a:ext cx="29815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_tradnl" altLang="es-ES" sz="1000" b="1">
                <a:solidFill>
                  <a:srgbClr val="001A48"/>
                </a:solidFill>
              </a:rPr>
              <a:t>www.managementsolutions.com</a:t>
            </a:r>
            <a:endParaRPr lang="en-US" altLang="es-ES" sz="1000" b="1">
              <a:solidFill>
                <a:srgbClr val="001A48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" y="6477000"/>
            <a:ext cx="3341077" cy="381000"/>
          </a:xfrm>
          <a:prstGeom prst="rect">
            <a:avLst/>
          </a:prstGeom>
          <a:solidFill>
            <a:srgbClr val="997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n-US" altLang="es-ES" sz="1000"/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H="1">
            <a:off x="3364523" y="3086105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 sz="1800"/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0" y="6491288"/>
            <a:ext cx="263378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0" rIns="0" anchor="ctr"/>
          <a:lstStyle>
            <a:lvl1pPr marL="101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 lang="es-ES" altLang="es-ES" sz="1200" b="1">
                <a:solidFill>
                  <a:schemeClr val="bg1"/>
                </a:solidFill>
              </a:rPr>
              <a:t>Entidades Financieras</a:t>
            </a:r>
            <a:endParaRPr lang="en-US" altLang="es-ES" sz="1200" b="1">
              <a:solidFill>
                <a:schemeClr val="bg1"/>
              </a:solidFill>
            </a:endParaRPr>
          </a:p>
        </p:txBody>
      </p:sp>
      <p:pic>
        <p:nvPicPr>
          <p:cNvPr id="15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8970" y="1120775"/>
            <a:ext cx="2727569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0926" y="1120775"/>
            <a:ext cx="2725616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387972" y="3028955"/>
            <a:ext cx="7877908" cy="14763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s-ES" noProof="0"/>
              <a:t>Click to edit Master title style</a:t>
            </a:r>
            <a:endParaRPr lang="es-ES_tradnl" altLang="es-ES" noProof="0"/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87972" y="4524375"/>
            <a:ext cx="7971692" cy="9207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rgbClr val="997D00"/>
                </a:solidFill>
              </a:defRPr>
            </a:lvl1pPr>
          </a:lstStyle>
          <a:p>
            <a:pPr lvl="0"/>
            <a:r>
              <a:rPr lang="en-US" altLang="es-ES" noProof="0"/>
              <a:t>Click to edit Master subtitle style</a:t>
            </a:r>
            <a:endParaRPr lang="es-ES_tradnl" altLang="es-ES" noProof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684" y="1314131"/>
            <a:ext cx="3262406" cy="69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484430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83144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247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7680066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7124" y="1303338"/>
            <a:ext cx="50487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43434" y="1303338"/>
            <a:ext cx="505069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472245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696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696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215730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8167353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93482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247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84" y="273055"/>
            <a:ext cx="681501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69090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6856657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22056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7001" y="361950"/>
            <a:ext cx="2577122" cy="5056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3681" y="361950"/>
            <a:ext cx="7545754" cy="5056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264330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92876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5349213"/>
            <a:ext cx="12192000" cy="1508787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9072331" y="6441758"/>
            <a:ext cx="2979616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r">
              <a:defRPr/>
            </a:pPr>
            <a:r>
              <a:rPr lang="es-ES_tradnl" sz="1200" b="1">
                <a:solidFill>
                  <a:schemeClr val="bg1"/>
                </a:solidFill>
              </a:rPr>
              <a:t>www.managementsolutions.com 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5" name="Line 23"/>
          <p:cNvSpPr>
            <a:spLocks noChangeShapeType="1"/>
          </p:cNvSpPr>
          <p:nvPr userDrawn="1"/>
        </p:nvSpPr>
        <p:spPr bwMode="gray">
          <a:xfrm>
            <a:off x="0" y="5349213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414" y="1028733"/>
            <a:ext cx="2309284" cy="1081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4511824" y="2957076"/>
            <a:ext cx="316835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333" b="1">
                <a:solidFill>
                  <a:schemeClr val="bg2"/>
                </a:solidFill>
                <a:latin typeface="Segoe Print" panose="02000600000000000000" pitchFamily="2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689736484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30407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893"/>
            <a:ext cx="12192000" cy="5807107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10124690" y="876491"/>
            <a:ext cx="1827961" cy="8243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>
              <a:latin typeface="+mj-lt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2" name="Rectangle 1" hidden="1"/>
          <p:cNvSpPr/>
          <p:nvPr userDrawn="1">
            <p:custDataLst>
              <p:tags r:id="rId1"/>
            </p:custDataLst>
          </p:nvPr>
        </p:nvSpPr>
        <p:spPr bwMode="auto">
          <a:xfrm>
            <a:off x="-17319" y="-140388"/>
            <a:ext cx="246308" cy="4924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_tradnl" sz="2667" b="0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20" name="Rectangle 19"/>
          <p:cNvSpPr>
            <a:spLocks noChangeArrowheads="1"/>
          </p:cNvSpPr>
          <p:nvPr userDrawn="1"/>
        </p:nvSpPr>
        <p:spPr bwMode="auto">
          <a:xfrm>
            <a:off x="3341077" y="6477000"/>
            <a:ext cx="8850923" cy="381000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21" name="Rectangle 15"/>
          <p:cNvSpPr>
            <a:spLocks noChangeArrowheads="1"/>
          </p:cNvSpPr>
          <p:nvPr userDrawn="1"/>
        </p:nvSpPr>
        <p:spPr bwMode="auto">
          <a:xfrm>
            <a:off x="7145073" y="6441758"/>
            <a:ext cx="2979616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r">
              <a:defRPr/>
            </a:pPr>
            <a:r>
              <a:rPr lang="es-ES_tradnl" sz="1200" b="1">
                <a:solidFill>
                  <a:schemeClr val="bg1"/>
                </a:solidFill>
              </a:rPr>
              <a:t>www.managementsolutions.com 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>
            <a:spLocks noChangeArrowheads="1"/>
          </p:cNvSpPr>
          <p:nvPr userDrawn="1"/>
        </p:nvSpPr>
        <p:spPr bwMode="auto">
          <a:xfrm>
            <a:off x="0" y="6477000"/>
            <a:ext cx="3341077" cy="381000"/>
          </a:xfrm>
          <a:prstGeom prst="rect">
            <a:avLst/>
          </a:prstGeom>
          <a:solidFill>
            <a:srgbClr val="997D00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 algn="ctr">
              <a:defRPr/>
            </a:pPr>
            <a:endParaRPr lang="en-US" sz="1200"/>
          </a:p>
        </p:txBody>
      </p:sp>
      <p:sp>
        <p:nvSpPr>
          <p:cNvPr id="23" name="Rectangle 7"/>
          <p:cNvSpPr>
            <a:spLocks noChangeArrowheads="1"/>
          </p:cNvSpPr>
          <p:nvPr userDrawn="1"/>
        </p:nvSpPr>
        <p:spPr bwMode="gray">
          <a:xfrm>
            <a:off x="9840417" y="6486526"/>
            <a:ext cx="2024895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r"/>
            <a:r>
              <a:rPr lang="es-ES" sz="1200">
                <a:solidFill>
                  <a:schemeClr val="bg1"/>
                </a:solidFill>
              </a:rPr>
              <a:t>Noviembre de 2025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5" name="Rectangle 45"/>
          <p:cNvSpPr>
            <a:spLocks noChangeArrowheads="1"/>
          </p:cNvSpPr>
          <p:nvPr userDrawn="1"/>
        </p:nvSpPr>
        <p:spPr bwMode="auto">
          <a:xfrm>
            <a:off x="155321" y="6491288"/>
            <a:ext cx="2633784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409056" tIns="51951" rIns="0" bIns="51951" anchor="ctr"/>
          <a:lstStyle/>
          <a:p>
            <a:pPr marL="0" indent="0" algn="ctr">
              <a:defRPr/>
            </a:pPr>
            <a:r>
              <a:rPr lang="es-ES" sz="1600" b="1">
                <a:solidFill>
                  <a:schemeClr val="bg1"/>
                </a:solidFill>
              </a:rPr>
              <a:t>Entidades Financieras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26" name="Line 48"/>
          <p:cNvSpPr>
            <a:spLocks noChangeShapeType="1"/>
          </p:cNvSpPr>
          <p:nvPr userDrawn="1"/>
        </p:nvSpPr>
        <p:spPr bwMode="gray">
          <a:xfrm flipH="1">
            <a:off x="10279703" y="6565900"/>
            <a:ext cx="0" cy="228600"/>
          </a:xfrm>
          <a:prstGeom prst="line">
            <a:avLst/>
          </a:prstGeom>
          <a:noFill/>
          <a:ln w="25400">
            <a:solidFill>
              <a:srgbClr val="997D00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0" y="1"/>
            <a:ext cx="12192000" cy="647700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gray">
          <a:xfrm>
            <a:off x="0" y="6572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sp>
        <p:nvSpPr>
          <p:cNvPr id="30" name="Rectangle 12"/>
          <p:cNvSpPr>
            <a:spLocks noChangeArrowheads="1"/>
          </p:cNvSpPr>
          <p:nvPr userDrawn="1"/>
        </p:nvSpPr>
        <p:spPr bwMode="auto">
          <a:xfrm rot="16200000">
            <a:off x="-2666291" y="3467850"/>
            <a:ext cx="5682325" cy="2280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900" tIns="51951" rIns="103900" bIns="51951">
            <a:spAutoFit/>
          </a:bodyPr>
          <a:lstStyle/>
          <a:p>
            <a:pPr algn="r">
              <a:defRPr/>
            </a:pPr>
            <a:r>
              <a:rPr lang="es-ES" sz="800">
                <a:solidFill>
                  <a:schemeClr val="bg1"/>
                </a:solidFill>
              </a:rPr>
              <a:t> </a:t>
            </a:r>
            <a:r>
              <a:rPr lang="es-ES_tradnl" sz="800">
                <a:solidFill>
                  <a:schemeClr val="bg1"/>
                </a:solidFill>
              </a:rPr>
              <a:t>©</a:t>
            </a:r>
            <a:r>
              <a:rPr lang="es-ES" sz="800">
                <a:solidFill>
                  <a:schemeClr val="bg1"/>
                </a:solidFill>
              </a:rPr>
              <a:t> Management </a:t>
            </a:r>
            <a:r>
              <a:rPr lang="en-GB" sz="800" noProof="0">
                <a:solidFill>
                  <a:schemeClr val="bg1"/>
                </a:solidFill>
              </a:rPr>
              <a:t>Solutions</a:t>
            </a:r>
            <a:r>
              <a:rPr lang="es-ES" sz="800">
                <a:solidFill>
                  <a:schemeClr val="bg1"/>
                </a:solidFill>
              </a:rPr>
              <a:t> 2025. </a:t>
            </a:r>
            <a:r>
              <a:rPr lang="es-ES_tradnl" sz="800" noProof="0">
                <a:solidFill>
                  <a:schemeClr val="bg1"/>
                </a:solidFill>
              </a:rPr>
              <a:t>Todos los derechos reservados.</a:t>
            </a:r>
            <a:endParaRPr lang="en-GB" sz="800" noProof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 userDrawn="1"/>
        </p:nvSpPr>
        <p:spPr bwMode="auto">
          <a:xfrm>
            <a:off x="5327915" y="4869160"/>
            <a:ext cx="6864085" cy="1274024"/>
          </a:xfrm>
          <a:prstGeom prst="rect">
            <a:avLst/>
          </a:prstGeom>
          <a:solidFill>
            <a:schemeClr val="bg1">
              <a:alpha val="73000"/>
            </a:schemeClr>
          </a:solidFill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rot="0" spcFirstLastPara="0" vertOverflow="overflow" horzOverflow="overflow" vert="horz" wrap="none" lIns="103900" tIns="51951" rIns="103900" bIns="519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s-ES" sz="1333"/>
          </a:p>
        </p:txBody>
      </p:sp>
      <p:pic>
        <p:nvPicPr>
          <p:cNvPr id="32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16119" y="898388"/>
            <a:ext cx="1639885" cy="768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7F92A2-407F-914C-F60D-6524481A3CB7}"/>
              </a:ext>
            </a:extLst>
          </p:cNvPr>
          <p:cNvSpPr/>
          <p:nvPr userDrawn="1"/>
        </p:nvSpPr>
        <p:spPr>
          <a:xfrm>
            <a:off x="8145584" y="879430"/>
            <a:ext cx="1827961" cy="8243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>
              <a:latin typeface="+mj-lt"/>
            </a:endParaRPr>
          </a:p>
        </p:txBody>
      </p:sp>
      <p:pic>
        <p:nvPicPr>
          <p:cNvPr id="8" name="Picture 396">
            <a:extLst>
              <a:ext uri="{FF2B5EF4-FFF2-40B4-BE49-F238E27FC236}">
                <a16:creationId xmlns:a16="http://schemas.microsoft.com/office/drawing/2014/main" id="{5B00B500-A399-752F-2357-4606205EAA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5900" y1="40429" x2="35900" y2="40429"/>
                        <a14:foregroundMark x1="40700" y1="39857" x2="42800" y2="37429"/>
                        <a14:foregroundMark x1="34400" y1="37714" x2="70800" y2="61571"/>
                        <a14:foregroundMark x1="70800" y1="61571" x2="62800" y2="54571"/>
                        <a14:foregroundMark x1="55900" y1="38000" x2="65400" y2="44857"/>
                        <a14:foregroundMark x1="33800" y1="51000" x2="37300" y2="53286"/>
                        <a14:foregroundMark x1="40300" y1="49143" x2="39000" y2="61714"/>
                        <a14:foregroundMark x1="75300" y1="51000" x2="87900" y2="5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0804" y="595319"/>
            <a:ext cx="2017521" cy="141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02560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648963a9e2_0_104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Calibri"/>
              <a:buNone/>
              <a:defRPr sz="6933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9pPr>
          </a:lstStyle>
          <a:p>
            <a:endParaRPr/>
          </a:p>
        </p:txBody>
      </p:sp>
      <p:sp>
        <p:nvSpPr>
          <p:cNvPr id="523" name="Google Shape;523;g648963a9e2_0_104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libri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24" name="Google Shape;524;g648963a9e2_0_104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5278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slideLayout" Target="../slideLayouts/slideLayout30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9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/>
          <p:cNvSpPr>
            <a:spLocks noChangeArrowheads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1027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7124" y="1303338"/>
            <a:ext cx="10287001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Click to edit Master text styles</a:t>
            </a:r>
          </a:p>
          <a:p>
            <a:pPr lvl="1"/>
            <a:r>
              <a:rPr lang="en-US" altLang="es-ES"/>
              <a:t>Second level</a:t>
            </a:r>
          </a:p>
          <a:p>
            <a:pPr lvl="2"/>
            <a:r>
              <a:rPr lang="en-US" altLang="es-ES"/>
              <a:t>Third level</a:t>
            </a:r>
          </a:p>
          <a:p>
            <a:pPr lvl="3"/>
            <a:r>
              <a:rPr lang="en-US" altLang="es-ES"/>
              <a:t>Fourth level</a:t>
            </a:r>
          </a:p>
          <a:p>
            <a:pPr lvl="4"/>
            <a:r>
              <a:rPr lang="en-US" altLang="es-ES"/>
              <a:t>Fifth level</a:t>
            </a:r>
          </a:p>
        </p:txBody>
      </p:sp>
      <p:sp>
        <p:nvSpPr>
          <p:cNvPr id="1028" name="Rectangle 42"/>
          <p:cNvSpPr>
            <a:spLocks noChangeArrowheads="1"/>
          </p:cNvSpPr>
          <p:nvPr/>
        </p:nvSpPr>
        <p:spPr bwMode="gray">
          <a:xfrm>
            <a:off x="5341818" y="6681791"/>
            <a:ext cx="2924908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9pPr>
          </a:lstStyle>
          <a:p>
            <a:pPr eaLnBrk="1" hangingPunct="1">
              <a:defRPr/>
            </a:pPr>
            <a:r>
              <a:rPr lang="es-ES" altLang="es-ES" sz="600">
                <a:solidFill>
                  <a:schemeClr val="bg1"/>
                </a:solidFill>
                <a:cs typeface="+mn-cs"/>
              </a:rPr>
              <a:t> </a:t>
            </a:r>
            <a:r>
              <a:rPr lang="es-ES_tradnl" altLang="es-ES" sz="600">
                <a:solidFill>
                  <a:schemeClr val="bg1"/>
                </a:solidFill>
                <a:cs typeface="+mn-cs"/>
              </a:rPr>
              <a:t>©</a:t>
            </a:r>
            <a:r>
              <a:rPr lang="es-ES" altLang="es-ES" sz="600">
                <a:solidFill>
                  <a:schemeClr val="bg1"/>
                </a:solidFill>
                <a:cs typeface="+mn-cs"/>
              </a:rPr>
              <a:t>  Management Solutions  2008. Todos los derechos reservados </a:t>
            </a:r>
          </a:p>
        </p:txBody>
      </p:sp>
      <p:sp>
        <p:nvSpPr>
          <p:cNvPr id="1029" name="Rectangle 40"/>
          <p:cNvSpPr>
            <a:spLocks noGrp="1" noChangeArrowheads="1"/>
          </p:cNvSpPr>
          <p:nvPr>
            <p:ph type="title"/>
          </p:nvPr>
        </p:nvSpPr>
        <p:spPr bwMode="gray">
          <a:xfrm>
            <a:off x="1283682" y="361950"/>
            <a:ext cx="988841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Click to edit Master title style</a:t>
            </a:r>
          </a:p>
        </p:txBody>
      </p:sp>
      <p:grpSp>
        <p:nvGrpSpPr>
          <p:cNvPr id="1030" name="Group 54"/>
          <p:cNvGrpSpPr/>
          <p:nvPr/>
        </p:nvGrpSpPr>
        <p:grpSpPr>
          <a:xfrm>
            <a:off x="0" y="5"/>
            <a:ext cx="12192000" cy="327025"/>
            <a:chOff x="0" y="0"/>
            <a:chExt cx="6240" cy="206"/>
          </a:xfrm>
        </p:grpSpPr>
        <p:sp>
          <p:nvSpPr>
            <p:cNvPr id="1034" name="Rectangle 55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9pPr>
            </a:lstStyle>
            <a:p>
              <a:pPr algn="ctr" eaLnBrk="1" hangingPunct="1"/>
              <a:endParaRPr lang="en-US" altLang="es-ES" sz="2000">
                <a:solidFill>
                  <a:schemeClr val="bg1"/>
                </a:solidFill>
              </a:endParaRPr>
            </a:p>
          </p:txBody>
        </p:sp>
        <p:sp>
          <p:nvSpPr>
            <p:cNvPr id="1035" name="Line 56"/>
            <p:cNvSpPr>
              <a:spLocks noChangeShapeType="1"/>
            </p:cNvSpPr>
            <p:nvPr userDrawn="1"/>
          </p:nvSpPr>
          <p:spPr bwMode="gray">
            <a:xfrm>
              <a:off x="0" y="206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 sz="1800"/>
            </a:p>
          </p:txBody>
        </p:sp>
      </p:grpSp>
      <p:pic>
        <p:nvPicPr>
          <p:cNvPr id="1031" name="Picture 59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834" y="6570668"/>
            <a:ext cx="2211754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2" name="Rectangle 61"/>
          <p:cNvSpPr>
            <a:spLocks noChangeArrowheads="1"/>
          </p:cNvSpPr>
          <p:nvPr/>
        </p:nvSpPr>
        <p:spPr bwMode="auto">
          <a:xfrm>
            <a:off x="8313617" y="6656388"/>
            <a:ext cx="371426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" altLang="es-ES" sz="600">
                <a:solidFill>
                  <a:srgbClr val="997D00"/>
                </a:solidFill>
              </a:rPr>
              <a:t>|  </a:t>
            </a:r>
            <a:r>
              <a:rPr lang="es-ES" altLang="es-ES" sz="800">
                <a:solidFill>
                  <a:srgbClr val="997D00"/>
                </a:solidFill>
              </a:rPr>
              <a:t>Página </a:t>
            </a:r>
            <a:fld id="{714C7DFB-E309-44C9-9AF5-33BA1CA47A31}" type="slidenum">
              <a:rPr lang="es-ES" altLang="es-ES" sz="800">
                <a:solidFill>
                  <a:srgbClr val="997D00"/>
                </a:solidFill>
              </a:rPr>
              <a:pPr algn="r" eaLnBrk="1" hangingPunct="1"/>
              <a:t>‹Nº›</a:t>
            </a:fld>
            <a:endParaRPr lang="en-US" altLang="es-ES" sz="800">
              <a:solidFill>
                <a:srgbClr val="997D00"/>
              </a:solidFill>
            </a:endParaRPr>
          </a:p>
          <a:p>
            <a:pPr algn="r" eaLnBrk="1" hangingPunct="1"/>
            <a:endParaRPr lang="es-ES" altLang="es-ES" sz="600">
              <a:solidFill>
                <a:schemeClr val="hlink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7266" y="6557416"/>
            <a:ext cx="1299022" cy="22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77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61" r:id="rId13"/>
    <p:sldLayoutId id="2147483662" r:id="rId14"/>
    <p:sldLayoutId id="2147483663" r:id="rId15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9pPr>
    </p:titleStyle>
    <p:bodyStyle>
      <a:lvl1pPr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Webdings" pitchFamily="18" charset="2"/>
        <a:buChar char="4"/>
        <a:defRPr sz="1600">
          <a:solidFill>
            <a:schemeClr val="tx1"/>
          </a:solidFill>
          <a:latin typeface="+mn-lt"/>
        </a:defRPr>
      </a:lvl2pPr>
      <a:lvl3pPr marL="660400" indent="-889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3pPr>
      <a:lvl4pPr marL="996950" indent="-14605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4pPr>
      <a:lvl5pPr marL="13779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5pPr>
      <a:lvl6pPr marL="18351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6pPr>
      <a:lvl7pPr marL="22923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7pPr>
      <a:lvl8pPr marL="27495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8pPr>
      <a:lvl9pPr marL="32067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/>
          <p:cNvSpPr>
            <a:spLocks noChangeArrowheads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1027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7124" y="1303338"/>
            <a:ext cx="10287001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Click to edit Master text styles</a:t>
            </a:r>
          </a:p>
          <a:p>
            <a:pPr lvl="1"/>
            <a:r>
              <a:rPr lang="en-US" altLang="es-ES"/>
              <a:t>Second level</a:t>
            </a:r>
          </a:p>
          <a:p>
            <a:pPr lvl="2"/>
            <a:r>
              <a:rPr lang="en-US" altLang="es-ES"/>
              <a:t>Third level</a:t>
            </a:r>
          </a:p>
          <a:p>
            <a:pPr lvl="3"/>
            <a:r>
              <a:rPr lang="en-US" altLang="es-ES"/>
              <a:t>Fourth level</a:t>
            </a:r>
          </a:p>
          <a:p>
            <a:pPr lvl="4"/>
            <a:r>
              <a:rPr lang="en-US" altLang="es-ES"/>
              <a:t>Fifth level</a:t>
            </a:r>
          </a:p>
        </p:txBody>
      </p:sp>
      <p:sp>
        <p:nvSpPr>
          <p:cNvPr id="1028" name="Rectangle 42"/>
          <p:cNvSpPr>
            <a:spLocks noChangeArrowheads="1"/>
          </p:cNvSpPr>
          <p:nvPr/>
        </p:nvSpPr>
        <p:spPr bwMode="gray">
          <a:xfrm>
            <a:off x="5341818" y="6681791"/>
            <a:ext cx="2924908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9pPr>
          </a:lstStyle>
          <a:p>
            <a:pPr eaLnBrk="1" hangingPunct="1">
              <a:defRPr/>
            </a:pPr>
            <a:r>
              <a:rPr lang="es-ES" altLang="es-ES" sz="600">
                <a:solidFill>
                  <a:schemeClr val="bg1"/>
                </a:solidFill>
                <a:cs typeface="+mn-cs"/>
              </a:rPr>
              <a:t> </a:t>
            </a:r>
            <a:r>
              <a:rPr lang="es-ES_tradnl" altLang="es-ES" sz="600">
                <a:solidFill>
                  <a:schemeClr val="bg1"/>
                </a:solidFill>
                <a:cs typeface="+mn-cs"/>
              </a:rPr>
              <a:t>©</a:t>
            </a:r>
            <a:r>
              <a:rPr lang="es-ES" altLang="es-ES" sz="600">
                <a:solidFill>
                  <a:schemeClr val="bg1"/>
                </a:solidFill>
                <a:cs typeface="+mn-cs"/>
              </a:rPr>
              <a:t>  Management Solutions  2008. Todos los derechos reservados </a:t>
            </a:r>
          </a:p>
        </p:txBody>
      </p:sp>
      <p:sp>
        <p:nvSpPr>
          <p:cNvPr id="1029" name="Rectangle 40"/>
          <p:cNvSpPr>
            <a:spLocks noGrp="1" noChangeArrowheads="1"/>
          </p:cNvSpPr>
          <p:nvPr>
            <p:ph type="title"/>
          </p:nvPr>
        </p:nvSpPr>
        <p:spPr bwMode="gray">
          <a:xfrm>
            <a:off x="1283682" y="361950"/>
            <a:ext cx="988841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Click to edit Master title style</a:t>
            </a:r>
          </a:p>
        </p:txBody>
      </p:sp>
      <p:grpSp>
        <p:nvGrpSpPr>
          <p:cNvPr id="1030" name="Group 54"/>
          <p:cNvGrpSpPr/>
          <p:nvPr/>
        </p:nvGrpSpPr>
        <p:grpSpPr>
          <a:xfrm>
            <a:off x="0" y="5"/>
            <a:ext cx="12192000" cy="327025"/>
            <a:chOff x="0" y="0"/>
            <a:chExt cx="6240" cy="206"/>
          </a:xfrm>
        </p:grpSpPr>
        <p:sp>
          <p:nvSpPr>
            <p:cNvPr id="1034" name="Rectangle 55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9pPr>
            </a:lstStyle>
            <a:p>
              <a:pPr algn="ctr" eaLnBrk="1" hangingPunct="1"/>
              <a:endParaRPr lang="en-US" altLang="es-ES" sz="2000">
                <a:solidFill>
                  <a:schemeClr val="bg1"/>
                </a:solidFill>
              </a:endParaRPr>
            </a:p>
          </p:txBody>
        </p:sp>
        <p:sp>
          <p:nvSpPr>
            <p:cNvPr id="1035" name="Line 56"/>
            <p:cNvSpPr>
              <a:spLocks noChangeShapeType="1"/>
            </p:cNvSpPr>
            <p:nvPr userDrawn="1"/>
          </p:nvSpPr>
          <p:spPr bwMode="gray">
            <a:xfrm>
              <a:off x="0" y="206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 sz="1800"/>
            </a:p>
          </p:txBody>
        </p:sp>
      </p:grpSp>
      <p:pic>
        <p:nvPicPr>
          <p:cNvPr id="1031" name="Picture 5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834" y="6570668"/>
            <a:ext cx="2211754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2" name="Rectangle 61"/>
          <p:cNvSpPr>
            <a:spLocks noChangeArrowheads="1"/>
          </p:cNvSpPr>
          <p:nvPr/>
        </p:nvSpPr>
        <p:spPr bwMode="auto">
          <a:xfrm>
            <a:off x="8313617" y="6656388"/>
            <a:ext cx="371426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" altLang="es-ES" sz="600">
                <a:solidFill>
                  <a:srgbClr val="997D00"/>
                </a:solidFill>
              </a:rPr>
              <a:t>|  </a:t>
            </a:r>
            <a:r>
              <a:rPr lang="es-ES" altLang="es-ES" sz="800">
                <a:solidFill>
                  <a:srgbClr val="997D00"/>
                </a:solidFill>
              </a:rPr>
              <a:t>Página </a:t>
            </a:r>
            <a:fld id="{714C7DFB-E309-44C9-9AF5-33BA1CA47A31}" type="slidenum">
              <a:rPr lang="es-ES" altLang="es-ES" sz="800">
                <a:solidFill>
                  <a:srgbClr val="997D00"/>
                </a:solidFill>
              </a:rPr>
              <a:pPr algn="r" eaLnBrk="1" hangingPunct="1"/>
              <a:t>‹Nº›</a:t>
            </a:fld>
            <a:endParaRPr lang="en-US" altLang="es-ES" sz="800">
              <a:solidFill>
                <a:srgbClr val="997D00"/>
              </a:solidFill>
            </a:endParaRPr>
          </a:p>
          <a:p>
            <a:pPr algn="r" eaLnBrk="1" hangingPunct="1"/>
            <a:endParaRPr lang="es-ES" altLang="es-ES" sz="600">
              <a:solidFill>
                <a:schemeClr val="hlink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7266" y="6557416"/>
            <a:ext cx="1299022" cy="22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987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9pPr>
    </p:titleStyle>
    <p:bodyStyle>
      <a:lvl1pPr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Webdings" pitchFamily="18" charset="2"/>
        <a:buChar char="4"/>
        <a:defRPr sz="1600">
          <a:solidFill>
            <a:schemeClr val="tx1"/>
          </a:solidFill>
          <a:latin typeface="+mn-lt"/>
        </a:defRPr>
      </a:lvl2pPr>
      <a:lvl3pPr marL="660400" indent="-889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3pPr>
      <a:lvl4pPr marL="996950" indent="-14605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4pPr>
      <a:lvl5pPr marL="13779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5pPr>
      <a:lvl6pPr marL="18351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6pPr>
      <a:lvl7pPr marL="22923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7pPr>
      <a:lvl8pPr marL="27495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8pPr>
      <a:lvl9pPr marL="32067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2" name="Rectangle 1" hidden="1"/>
          <p:cNvSpPr/>
          <p:nvPr userDrawn="1">
            <p:custDataLst>
              <p:tags r:id="rId7"/>
            </p:custDataLst>
          </p:nvPr>
        </p:nvSpPr>
        <p:spPr bwMode="auto">
          <a:xfrm>
            <a:off x="-17319" y="-140388"/>
            <a:ext cx="246308" cy="4924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933" b="0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1060" name="Rectangle 36"/>
          <p:cNvSpPr>
            <a:spLocks noChangeArrowheads="1"/>
          </p:cNvSpPr>
          <p:nvPr/>
        </p:nvSpPr>
        <p:spPr bwMode="white">
          <a:xfrm>
            <a:off x="2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067" name="Text Box 43"/>
          <p:cNvSpPr txBox="1">
            <a:spLocks noChangeArrowheads="1"/>
          </p:cNvSpPr>
          <p:nvPr/>
        </p:nvSpPr>
        <p:spPr bwMode="gray">
          <a:xfrm>
            <a:off x="10496064" y="6611939"/>
            <a:ext cx="1594339" cy="256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067">
                <a:solidFill>
                  <a:srgbClr val="FFFFFF"/>
                </a:solidFill>
                <a:sym typeface="Wingdings" pitchFamily="2" charset="2"/>
              </a:rPr>
              <a:t>   Página </a:t>
            </a:r>
            <a:fld id="{604FF6F4-BDF1-458E-B6A2-2CACB65D2DB5}" type="slidenum">
              <a:rPr lang="es-ES" sz="1067">
                <a:solidFill>
                  <a:srgbClr val="FFFFFF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sz="1067">
              <a:solidFill>
                <a:srgbClr val="FFFFFF"/>
              </a:solidFill>
              <a:sym typeface="Wingdings" pitchFamily="2" charset="2"/>
            </a:endParaRPr>
          </a:p>
        </p:txBody>
      </p:sp>
      <p:sp>
        <p:nvSpPr>
          <p:cNvPr id="61445" name="Rectangle 59"/>
          <p:cNvSpPr>
            <a:spLocks noGrp="1" noChangeArrowheads="1"/>
          </p:cNvSpPr>
          <p:nvPr>
            <p:ph type="title"/>
          </p:nvPr>
        </p:nvSpPr>
        <p:spPr bwMode="gray">
          <a:xfrm>
            <a:off x="521731" y="333375"/>
            <a:ext cx="8655539" cy="7429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46" name="Rectangle 6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1754" y="1417639"/>
            <a:ext cx="11240476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level1</a:t>
            </a:r>
          </a:p>
        </p:txBody>
      </p:sp>
      <p:grpSp>
        <p:nvGrpSpPr>
          <p:cNvPr id="61447" name="Group 61"/>
          <p:cNvGrpSpPr/>
          <p:nvPr/>
        </p:nvGrpSpPr>
        <p:grpSpPr>
          <a:xfrm>
            <a:off x="20" y="0"/>
            <a:ext cx="12192000" cy="298451"/>
            <a:chOff x="0" y="0"/>
            <a:chExt cx="6240" cy="188"/>
          </a:xfrm>
        </p:grpSpPr>
        <p:sp>
          <p:nvSpPr>
            <p:cNvPr id="1086" name="Rectangle 62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 w="9525">
              <a:noFill/>
              <a:miter lim="800000"/>
            </a:ln>
            <a:effectLst/>
          </p:spPr>
          <p:txBody>
            <a:bodyPr rot="10800000"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667">
                <a:solidFill>
                  <a:srgbClr val="FFFFFF"/>
                </a:solidFill>
                <a:sym typeface="Wingdings" pitchFamily="2" charset="2"/>
              </a:endParaRPr>
            </a:p>
          </p:txBody>
        </p:sp>
        <p:sp>
          <p:nvSpPr>
            <p:cNvPr id="1087" name="Line 63"/>
            <p:cNvSpPr>
              <a:spLocks noChangeShapeType="1"/>
            </p:cNvSpPr>
            <p:nvPr userDrawn="1"/>
          </p:nvSpPr>
          <p:spPr bwMode="gray">
            <a:xfrm>
              <a:off x="0" y="188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ES" sz="1600" b="1">
                <a:solidFill>
                  <a:srgbClr val="000000"/>
                </a:solidFill>
                <a:sym typeface="Wingdings" pitchFamily="2" charset="2"/>
              </a:endParaRPr>
            </a:p>
          </p:txBody>
        </p:sp>
      </p:grpSp>
      <p:sp>
        <p:nvSpPr>
          <p:cNvPr id="1088" name="Text Box 64"/>
          <p:cNvSpPr txBox="1">
            <a:spLocks noChangeArrowheads="1"/>
          </p:cNvSpPr>
          <p:nvPr/>
        </p:nvSpPr>
        <p:spPr bwMode="gray">
          <a:xfrm>
            <a:off x="10496064" y="6581459"/>
            <a:ext cx="1594339" cy="256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067">
                <a:solidFill>
                  <a:srgbClr val="808080"/>
                </a:solidFill>
                <a:sym typeface="Wingdings" pitchFamily="2" charset="2"/>
              </a:rPr>
              <a:t>   Página </a:t>
            </a:r>
            <a:fld id="{01481FC6-969E-48EC-A3B1-A4B6D7C06B78}" type="slidenum">
              <a:rPr lang="es-ES" sz="1067">
                <a:solidFill>
                  <a:srgbClr val="808080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sz="1067">
              <a:solidFill>
                <a:srgbClr val="808080"/>
              </a:solidFill>
              <a:sym typeface="Wingdings" pitchFamily="2" charset="2"/>
            </a:endParaRPr>
          </a:p>
        </p:txBody>
      </p:sp>
      <p:sp>
        <p:nvSpPr>
          <p:cNvPr id="1089" name="Line 65"/>
          <p:cNvSpPr>
            <a:spLocks noChangeShapeType="1"/>
          </p:cNvSpPr>
          <p:nvPr/>
        </p:nvSpPr>
        <p:spPr bwMode="auto">
          <a:xfrm flipH="1">
            <a:off x="11306908" y="6673970"/>
            <a:ext cx="0" cy="100013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091" name="Rectangle 67"/>
          <p:cNvSpPr>
            <a:spLocks noChangeArrowheads="1"/>
          </p:cNvSpPr>
          <p:nvPr/>
        </p:nvSpPr>
        <p:spPr bwMode="gray">
          <a:xfrm>
            <a:off x="8102675" y="6670161"/>
            <a:ext cx="3145692" cy="1231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800">
                <a:solidFill>
                  <a:srgbClr val="808080"/>
                </a:solidFill>
                <a:sym typeface="Wingdings" pitchFamily="2" charset="2"/>
              </a:rPr>
              <a:t> </a:t>
            </a:r>
            <a:r>
              <a:rPr lang="es-ES_tradnl" sz="800">
                <a:solidFill>
                  <a:srgbClr val="808080"/>
                </a:solidFill>
                <a:sym typeface="Wingdings" pitchFamily="2" charset="2"/>
              </a:rPr>
              <a:t>©</a:t>
            </a:r>
            <a:r>
              <a:rPr lang="es-ES" sz="800">
                <a:solidFill>
                  <a:srgbClr val="808080"/>
                </a:solidFill>
                <a:sym typeface="Wingdings" pitchFamily="2" charset="2"/>
              </a:rPr>
              <a:t>  Management Solutions  2025. Todos los derechos reservados </a:t>
            </a:r>
          </a:p>
        </p:txBody>
      </p:sp>
      <p:pic>
        <p:nvPicPr>
          <p:cNvPr id="15" name="Picture 19" descr="ManagementSolutions_h_1"/>
          <p:cNvPicPr>
            <a:picLocks noChangeAspect="1" noChangeArrowheads="1"/>
          </p:cNvPicPr>
          <p:nvPr userDrawn="1"/>
        </p:nvPicPr>
        <p:blipFill>
          <a:blip r:embed="rId9"/>
          <a:stretch>
            <a:fillRect/>
          </a:stretch>
        </p:blipFill>
        <p:spPr bwMode="auto">
          <a:xfrm>
            <a:off x="134872" y="6596183"/>
            <a:ext cx="1640648" cy="206375"/>
          </a:xfrm>
          <a:prstGeom prst="rect">
            <a:avLst/>
          </a:prstGeom>
          <a:noFill/>
          <a:ln w="9525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58026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5pPr>
      <a:lvl6pPr marL="609585" algn="l" rtl="0" fontAlgn="base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6pPr>
      <a:lvl7pPr marL="1219170" algn="l" rtl="0" fontAlgn="base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7pPr>
      <a:lvl8pPr marL="1828754" algn="l" rtl="0" fontAlgn="base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8pPr>
      <a:lvl9pPr marL="2438339" algn="l" rtl="0" fontAlgn="base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9pPr>
    </p:titleStyle>
    <p:bodyStyle>
      <a:lvl1pPr marL="457189" indent="-457189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har char="•"/>
        <a:defRPr sz="2133">
          <a:solidFill>
            <a:schemeClr val="tx1"/>
          </a:solidFill>
          <a:latin typeface="+mn-lt"/>
          <a:ea typeface="+mn-ea"/>
          <a:cs typeface="+mn-cs"/>
        </a:defRPr>
      </a:lvl1pPr>
      <a:lvl2pPr marL="507987" indent="-253994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hlink"/>
        </a:buClr>
        <a:buSzPct val="80000"/>
        <a:buFont typeface="Webdings" pitchFamily="18" charset="2"/>
        <a:buChar char="4"/>
        <a:defRPr sz="2133">
          <a:solidFill>
            <a:schemeClr val="tx1"/>
          </a:solidFill>
          <a:latin typeface="+mn-lt"/>
        </a:defRPr>
      </a:lvl2pPr>
      <a:lvl3pPr marL="880511" indent="-11853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3pPr>
      <a:lvl4pPr marL="1329233" indent="-194728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4pPr>
      <a:lvl5pPr marL="1837221" indent="-253994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5pPr>
      <a:lvl6pPr marL="2446805" indent="-253994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6pPr>
      <a:lvl7pPr marL="3056390" indent="-253994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7pPr>
      <a:lvl8pPr marL="3665975" indent="-253994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8pPr>
      <a:lvl9pPr marL="4275560" indent="-253994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7.svg"/><Relationship Id="rId12" Type="http://schemas.openxmlformats.org/officeDocument/2006/relationships/image" Target="../media/image21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image" Target="../media/image16.svg"/><Relationship Id="rId11" Type="http://schemas.openxmlformats.org/officeDocument/2006/relationships/image" Target="../media/image23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7.svg"/><Relationship Id="rId12" Type="http://schemas.openxmlformats.org/officeDocument/2006/relationships/image" Target="../media/image23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8B70-6662-24F6-7780-C3AFE111AF13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s-ES_tradnl" sz="3200" b="1"/>
              <a:t>Nueva Solución RNT + ALM + FTP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C0EFA-3AEC-73D9-05F3-0D710719BF36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s-ES_tradnl"/>
              <a:t>Diseño Técnico Propuesta 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378AA7-CC72-FBBC-00E2-EB8FE9020BF9}"/>
              </a:ext>
            </a:extLst>
          </p:cNvPr>
          <p:cNvSpPr/>
          <p:nvPr/>
        </p:nvSpPr>
        <p:spPr>
          <a:xfrm>
            <a:off x="0" y="6493933"/>
            <a:ext cx="3327400" cy="352800"/>
          </a:xfrm>
          <a:prstGeom prst="rect">
            <a:avLst/>
          </a:prstGeom>
          <a:solidFill>
            <a:srgbClr val="997D00"/>
          </a:solidFill>
          <a:ln w="3175">
            <a:solidFill>
              <a:srgbClr val="997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_tradnl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Junio 2026</a:t>
            </a:r>
          </a:p>
        </p:txBody>
      </p:sp>
    </p:spTree>
    <p:extLst>
      <p:ext uri="{BB962C8B-B14F-4D97-AF65-F5344CB8AC3E}">
        <p14:creationId xmlns:p14="http://schemas.microsoft.com/office/powerpoint/2010/main" val="29394461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B762-9AAD-D5F8-FC2E-CDA62EEA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2" name="Connector: Elbow 1321">
            <a:extLst>
              <a:ext uri="{FF2B5EF4-FFF2-40B4-BE49-F238E27FC236}">
                <a16:creationId xmlns:a16="http://schemas.microsoft.com/office/drawing/2014/main" id="{3E9DD95B-77F1-4B72-DA7A-5793BAA3FD62}"/>
              </a:ext>
            </a:extLst>
          </p:cNvPr>
          <p:cNvCxnSpPr>
            <a:stCxn id="1244" idx="0"/>
          </p:cNvCxnSpPr>
          <p:nvPr/>
        </p:nvCxnSpPr>
        <p:spPr bwMode="auto">
          <a:xfrm rot="5400000" flipH="1" flipV="1">
            <a:off x="4767175" y="2788631"/>
            <a:ext cx="1215322" cy="18692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BECB1363-EB65-9D5A-0309-B86A22179E0F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1B907FC-F754-6A02-0E6D-17CC7922B87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>
                <a:solidFill>
                  <a:srgbClr val="002569"/>
                </a:solidFill>
                <a:latin typeface="Segoe UI Light"/>
              </a:rPr>
              <a:t>Diseño Técnico</a:t>
            </a:r>
            <a:endParaRPr kumimoji="0" lang="es-ES" sz="2133" b="1" i="0" u="none" strike="noStrike" kern="0" cap="none" spc="0" normalizeH="0" baseline="0" noProof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1" kern="0">
                <a:solidFill>
                  <a:srgbClr val="E0D399">
                    <a:lumMod val="75000"/>
                  </a:srgbClr>
                </a:solidFill>
                <a:latin typeface="Segoe UI Light"/>
              </a:rPr>
              <a:t>Proceso Diario Rentabilidad: Diagrama de Flujos de Información</a:t>
            </a:r>
            <a:endParaRPr kumimoji="0" lang="es-ES" sz="1600" b="1" i="0" u="none" strike="noStrike" kern="0" cap="none" spc="0" normalizeH="0" baseline="0" noProof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9247" name="Rectangle 9246">
            <a:extLst>
              <a:ext uri="{FF2B5EF4-FFF2-40B4-BE49-F238E27FC236}">
                <a16:creationId xmlns:a16="http://schemas.microsoft.com/office/drawing/2014/main" id="{D151AE9F-3F86-243B-367C-394D0FE7E5AA}"/>
              </a:ext>
            </a:extLst>
          </p:cNvPr>
          <p:cNvSpPr/>
          <p:nvPr/>
        </p:nvSpPr>
        <p:spPr bwMode="auto">
          <a:xfrm>
            <a:off x="4038028" y="3479697"/>
            <a:ext cx="2514806" cy="1045049"/>
          </a:xfrm>
          <a:prstGeom prst="rect">
            <a:avLst/>
          </a:prstGeom>
          <a:noFill/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endParaRPr lang="es-ES_tradnl" sz="800" b="1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274" name="Group 9273">
            <a:extLst>
              <a:ext uri="{FF2B5EF4-FFF2-40B4-BE49-F238E27FC236}">
                <a16:creationId xmlns:a16="http://schemas.microsoft.com/office/drawing/2014/main" id="{AAFA3C30-0B7B-D7AE-B43E-00E6B6B0A36A}"/>
              </a:ext>
            </a:extLst>
          </p:cNvPr>
          <p:cNvGrpSpPr/>
          <p:nvPr/>
        </p:nvGrpSpPr>
        <p:grpSpPr>
          <a:xfrm>
            <a:off x="1208690" y="3250961"/>
            <a:ext cx="1295547" cy="1718424"/>
            <a:chOff x="1208690" y="1042337"/>
            <a:chExt cx="1295547" cy="1718424"/>
          </a:xfrm>
        </p:grpSpPr>
        <p:grpSp>
          <p:nvGrpSpPr>
            <p:cNvPr id="9260" name="Group 9259">
              <a:extLst>
                <a:ext uri="{FF2B5EF4-FFF2-40B4-BE49-F238E27FC236}">
                  <a16:creationId xmlns:a16="http://schemas.microsoft.com/office/drawing/2014/main" id="{E4E27EE2-5826-94DF-DF39-386E1D54560A}"/>
                </a:ext>
              </a:extLst>
            </p:cNvPr>
            <p:cNvGrpSpPr/>
            <p:nvPr/>
          </p:nvGrpSpPr>
          <p:grpSpPr>
            <a:xfrm>
              <a:off x="1312643" y="1310565"/>
              <a:ext cx="1080000" cy="1411539"/>
              <a:chOff x="1312643" y="1047807"/>
              <a:chExt cx="1080000" cy="1411539"/>
            </a:xfrm>
          </p:grpSpPr>
          <p:sp>
            <p:nvSpPr>
              <p:cNvPr id="9244" name="Rectangle 9243">
                <a:extLst>
                  <a:ext uri="{FF2B5EF4-FFF2-40B4-BE49-F238E27FC236}">
                    <a16:creationId xmlns:a16="http://schemas.microsoft.com/office/drawing/2014/main" id="{9004FBB6-6362-DA30-89C4-8EC0DFB5223A}"/>
                  </a:ext>
                </a:extLst>
              </p:cNvPr>
              <p:cNvSpPr/>
              <p:nvPr/>
            </p:nvSpPr>
            <p:spPr bwMode="auto">
              <a:xfrm>
                <a:off x="1312643" y="1047807"/>
                <a:ext cx="10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none" rtlCol="0" anchor="ctr">
                <a:noAutofit/>
              </a:bodyPr>
              <a:lstStyle/>
              <a:p>
                <a:r>
                  <a:rPr lang="es-ES_tradnl" sz="600" b="1">
                    <a:latin typeface="Arial" pitchFamily="34" charset="0"/>
                    <a:cs typeface="Arial" pitchFamily="34" charset="0"/>
                  </a:rPr>
                  <a:t>DIM_CUENTA_CONT</a:t>
                </a:r>
              </a:p>
            </p:txBody>
          </p:sp>
          <p:sp>
            <p:nvSpPr>
              <p:cNvPr id="9249" name="TextBox 9248">
                <a:extLst>
                  <a:ext uri="{FF2B5EF4-FFF2-40B4-BE49-F238E27FC236}">
                    <a16:creationId xmlns:a16="http://schemas.microsoft.com/office/drawing/2014/main" id="{C0932CC5-4C67-860F-5957-91F508703DC3}"/>
                  </a:ext>
                </a:extLst>
              </p:cNvPr>
              <p:cNvSpPr txBox="1"/>
              <p:nvPr/>
            </p:nvSpPr>
            <p:spPr>
              <a:xfrm>
                <a:off x="1312643" y="1250709"/>
                <a:ext cx="10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none" rtlCol="0" anchor="ctr">
                <a:noAutofit/>
              </a:bodyPr>
              <a:lstStyle>
                <a:defPPr>
                  <a:defRPr lang="es-ES_tradnl"/>
                </a:defPPr>
                <a:lvl1pPr algn="ctr">
                  <a:defRPr sz="700" b="1"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algn="l"/>
                <a:r>
                  <a:rPr lang="es-ES_tradnl" sz="600"/>
                  <a:t>DIM_TIENDA</a:t>
                </a:r>
              </a:p>
            </p:txBody>
          </p:sp>
          <p:sp>
            <p:nvSpPr>
              <p:cNvPr id="9251" name="TextBox 9250">
                <a:extLst>
                  <a:ext uri="{FF2B5EF4-FFF2-40B4-BE49-F238E27FC236}">
                    <a16:creationId xmlns:a16="http://schemas.microsoft.com/office/drawing/2014/main" id="{0027E7AE-ABEB-EA9E-308F-B3C540F44C54}"/>
                  </a:ext>
                </a:extLst>
              </p:cNvPr>
              <p:cNvSpPr txBox="1"/>
              <p:nvPr/>
            </p:nvSpPr>
            <p:spPr>
              <a:xfrm>
                <a:off x="1312643" y="1453611"/>
                <a:ext cx="10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none" rtlCol="0" anchor="ctr">
                <a:noAutofit/>
              </a:bodyPr>
              <a:lstStyle>
                <a:defPPr>
                  <a:defRPr lang="es-ES_tradnl"/>
                </a:defPPr>
                <a:lvl1pPr algn="ctr">
                  <a:defRPr sz="700" b="1"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algn="l"/>
                <a:r>
                  <a:rPr lang="es-ES_tradnl" sz="600"/>
                  <a:t>DIM_CENTRO_CONTABLE</a:t>
                </a:r>
              </a:p>
            </p:txBody>
          </p:sp>
          <p:sp>
            <p:nvSpPr>
              <p:cNvPr id="9253" name="TextBox 9252">
                <a:extLst>
                  <a:ext uri="{FF2B5EF4-FFF2-40B4-BE49-F238E27FC236}">
                    <a16:creationId xmlns:a16="http://schemas.microsoft.com/office/drawing/2014/main" id="{D404221C-1E90-EC1F-2091-22148EE755D8}"/>
                  </a:ext>
                </a:extLst>
              </p:cNvPr>
              <p:cNvSpPr txBox="1"/>
              <p:nvPr/>
            </p:nvSpPr>
            <p:spPr>
              <a:xfrm>
                <a:off x="1312643" y="1656513"/>
                <a:ext cx="10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none" rtlCol="0" anchor="ctr">
                <a:noAutofit/>
              </a:bodyPr>
              <a:lstStyle>
                <a:defPPr>
                  <a:defRPr lang="es-ES_tradnl"/>
                </a:defPPr>
                <a:lvl1pPr algn="ctr">
                  <a:defRPr sz="700" b="1"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algn="l"/>
                <a:r>
                  <a:rPr lang="es-ES_tradnl" sz="600"/>
                  <a:t>DIM_SEGMENTO</a:t>
                </a:r>
              </a:p>
            </p:txBody>
          </p:sp>
          <p:sp>
            <p:nvSpPr>
              <p:cNvPr id="9256" name="TextBox 9255">
                <a:extLst>
                  <a:ext uri="{FF2B5EF4-FFF2-40B4-BE49-F238E27FC236}">
                    <a16:creationId xmlns:a16="http://schemas.microsoft.com/office/drawing/2014/main" id="{D49DCAE3-4F0C-C473-4531-8E4E86B710FC}"/>
                  </a:ext>
                </a:extLst>
              </p:cNvPr>
              <p:cNvSpPr txBox="1"/>
              <p:nvPr/>
            </p:nvSpPr>
            <p:spPr>
              <a:xfrm>
                <a:off x="1312643" y="1859415"/>
                <a:ext cx="10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none" rtlCol="0" anchor="ctr">
                <a:noAutofit/>
              </a:bodyPr>
              <a:lstStyle>
                <a:defPPr>
                  <a:defRPr lang="es-ES_tradnl"/>
                </a:defPPr>
                <a:lvl1pPr algn="ctr">
                  <a:defRPr sz="700" b="1"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algn="l"/>
                <a:r>
                  <a:rPr lang="es-ES_tradnl" sz="600"/>
                  <a:t>DIM_AGRP_CONTABLE</a:t>
                </a:r>
              </a:p>
            </p:txBody>
          </p:sp>
          <p:sp>
            <p:nvSpPr>
              <p:cNvPr id="9258" name="TextBox 9257">
                <a:extLst>
                  <a:ext uri="{FF2B5EF4-FFF2-40B4-BE49-F238E27FC236}">
                    <a16:creationId xmlns:a16="http://schemas.microsoft.com/office/drawing/2014/main" id="{28F7B6B0-678D-0B94-8624-D3E7D301A973}"/>
                  </a:ext>
                </a:extLst>
              </p:cNvPr>
              <p:cNvSpPr txBox="1"/>
              <p:nvPr/>
            </p:nvSpPr>
            <p:spPr>
              <a:xfrm>
                <a:off x="1312643" y="2062318"/>
                <a:ext cx="10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none" rtlCol="0" anchor="ctr">
                <a:noAutofit/>
              </a:bodyPr>
              <a:lstStyle>
                <a:defPPr>
                  <a:defRPr lang="es-ES_tradnl"/>
                </a:defPPr>
                <a:lvl1pPr algn="ctr">
                  <a:defRPr sz="700" b="1"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algn="l"/>
                <a:r>
                  <a:rPr lang="es-ES_tradnl" sz="600"/>
                  <a:t>DIM_CUENTA_CONT_IFRS</a:t>
                </a:r>
              </a:p>
            </p:txBody>
          </p:sp>
          <p:sp>
            <p:nvSpPr>
              <p:cNvPr id="9259" name="TextBox 9258">
                <a:extLst>
                  <a:ext uri="{FF2B5EF4-FFF2-40B4-BE49-F238E27FC236}">
                    <a16:creationId xmlns:a16="http://schemas.microsoft.com/office/drawing/2014/main" id="{44ED2681-0BE7-5F4A-1929-B5AA276C213A}"/>
                  </a:ext>
                </a:extLst>
              </p:cNvPr>
              <p:cNvSpPr txBox="1"/>
              <p:nvPr/>
            </p:nvSpPr>
            <p:spPr>
              <a:xfrm>
                <a:off x="1312643" y="2279346"/>
                <a:ext cx="10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none" rtlCol="0" anchor="ctr">
                <a:noAutofit/>
              </a:bodyPr>
              <a:lstStyle>
                <a:defPPr>
                  <a:defRPr lang="es-ES_tradnl"/>
                </a:defPPr>
                <a:lvl1pPr algn="ctr">
                  <a:defRPr sz="700" b="1"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algn="l"/>
                <a:r>
                  <a:rPr lang="es-ES_tradnl" sz="600"/>
                  <a:t>…………</a:t>
                </a:r>
              </a:p>
            </p:txBody>
          </p:sp>
        </p:grpSp>
        <p:sp>
          <p:nvSpPr>
            <p:cNvPr id="9261" name="Rectangle 9260">
              <a:extLst>
                <a:ext uri="{FF2B5EF4-FFF2-40B4-BE49-F238E27FC236}">
                  <a16:creationId xmlns:a16="http://schemas.microsoft.com/office/drawing/2014/main" id="{E9F9B1BD-0777-D477-A74E-386B357309D1}"/>
                </a:ext>
              </a:extLst>
            </p:cNvPr>
            <p:cNvSpPr/>
            <p:nvPr/>
          </p:nvSpPr>
          <p:spPr bwMode="auto">
            <a:xfrm>
              <a:off x="1208690" y="1257781"/>
              <a:ext cx="1261242" cy="15029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9262" name="TextBox 9261">
              <a:extLst>
                <a:ext uri="{FF2B5EF4-FFF2-40B4-BE49-F238E27FC236}">
                  <a16:creationId xmlns:a16="http://schemas.microsoft.com/office/drawing/2014/main" id="{EC6D858D-3A9F-C8F0-4A5C-E7646F8C882C}"/>
                </a:ext>
              </a:extLst>
            </p:cNvPr>
            <p:cNvSpPr txBox="1"/>
            <p:nvPr/>
          </p:nvSpPr>
          <p:spPr>
            <a:xfrm>
              <a:off x="1208690" y="1042337"/>
              <a:ext cx="129554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Carga de Dimensiones</a:t>
              </a:r>
            </a:p>
          </p:txBody>
        </p:sp>
      </p:grpSp>
      <p:grpSp>
        <p:nvGrpSpPr>
          <p:cNvPr id="9275" name="Group 9274">
            <a:extLst>
              <a:ext uri="{FF2B5EF4-FFF2-40B4-BE49-F238E27FC236}">
                <a16:creationId xmlns:a16="http://schemas.microsoft.com/office/drawing/2014/main" id="{62A214B3-CD68-1FC4-8EA2-12A3DD140DFA}"/>
              </a:ext>
            </a:extLst>
          </p:cNvPr>
          <p:cNvGrpSpPr/>
          <p:nvPr/>
        </p:nvGrpSpPr>
        <p:grpSpPr>
          <a:xfrm>
            <a:off x="2598661" y="3272860"/>
            <a:ext cx="1261242" cy="739258"/>
            <a:chOff x="1208690" y="2879387"/>
            <a:chExt cx="1261242" cy="739258"/>
          </a:xfrm>
        </p:grpSpPr>
        <p:sp>
          <p:nvSpPr>
            <p:cNvPr id="9243" name="Rectangle 9242">
              <a:extLst>
                <a:ext uri="{FF2B5EF4-FFF2-40B4-BE49-F238E27FC236}">
                  <a16:creationId xmlns:a16="http://schemas.microsoft.com/office/drawing/2014/main" id="{8D433DB6-5711-64D8-9BE3-17A8346BF2F6}"/>
                </a:ext>
              </a:extLst>
            </p:cNvPr>
            <p:cNvSpPr/>
            <p:nvPr/>
          </p:nvSpPr>
          <p:spPr bwMode="auto">
            <a:xfrm>
              <a:off x="1299311" y="3152259"/>
              <a:ext cx="10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600" b="1" dirty="0">
                  <a:latin typeface="Arial" pitchFamily="34" charset="0"/>
                  <a:cs typeface="Arial" pitchFamily="34" charset="0"/>
                </a:rPr>
                <a:t>DT_CLIENTE_DIA</a:t>
              </a:r>
            </a:p>
          </p:txBody>
        </p:sp>
        <p:sp>
          <p:nvSpPr>
            <p:cNvPr id="9271" name="TextBox 9270">
              <a:extLst>
                <a:ext uri="{FF2B5EF4-FFF2-40B4-BE49-F238E27FC236}">
                  <a16:creationId xmlns:a16="http://schemas.microsoft.com/office/drawing/2014/main" id="{3AF80066-5877-6A50-39DA-059AA0D7B566}"/>
                </a:ext>
              </a:extLst>
            </p:cNvPr>
            <p:cNvSpPr txBox="1"/>
            <p:nvPr/>
          </p:nvSpPr>
          <p:spPr>
            <a:xfrm>
              <a:off x="1299311" y="3389687"/>
              <a:ext cx="1080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 dirty="0"/>
                <a:t>DIM_PERSONA</a:t>
              </a:r>
            </a:p>
          </p:txBody>
        </p:sp>
        <p:sp>
          <p:nvSpPr>
            <p:cNvPr id="9272" name="Rectangle 9271">
              <a:extLst>
                <a:ext uri="{FF2B5EF4-FFF2-40B4-BE49-F238E27FC236}">
                  <a16:creationId xmlns:a16="http://schemas.microsoft.com/office/drawing/2014/main" id="{D7A03F7C-9F83-59C5-2EDA-50CB7740B322}"/>
                </a:ext>
              </a:extLst>
            </p:cNvPr>
            <p:cNvSpPr/>
            <p:nvPr/>
          </p:nvSpPr>
          <p:spPr bwMode="auto">
            <a:xfrm>
              <a:off x="1208690" y="3068481"/>
              <a:ext cx="1261242" cy="5501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9273" name="TextBox 9272">
              <a:extLst>
                <a:ext uri="{FF2B5EF4-FFF2-40B4-BE49-F238E27FC236}">
                  <a16:creationId xmlns:a16="http://schemas.microsoft.com/office/drawing/2014/main" id="{00E55E3B-9426-8839-4A76-8364B95D29B1}"/>
                </a:ext>
              </a:extLst>
            </p:cNvPr>
            <p:cNvSpPr txBox="1"/>
            <p:nvPr/>
          </p:nvSpPr>
          <p:spPr>
            <a:xfrm>
              <a:off x="1299311" y="2879387"/>
              <a:ext cx="105509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Carga de Clientes</a:t>
              </a:r>
            </a:p>
          </p:txBody>
        </p:sp>
      </p:grpSp>
      <p:sp>
        <p:nvSpPr>
          <p:cNvPr id="1231" name="TextBox 1230">
            <a:extLst>
              <a:ext uri="{FF2B5EF4-FFF2-40B4-BE49-F238E27FC236}">
                <a16:creationId xmlns:a16="http://schemas.microsoft.com/office/drawing/2014/main" id="{87FB5548-6498-3FBE-8287-5F0097CDD42F}"/>
              </a:ext>
            </a:extLst>
          </p:cNvPr>
          <p:cNvSpPr txBox="1"/>
          <p:nvPr/>
        </p:nvSpPr>
        <p:spPr>
          <a:xfrm>
            <a:off x="9761925" y="3577262"/>
            <a:ext cx="1506196" cy="16023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2"/>
            </a:solidFill>
            <a:round/>
          </a:ln>
        </p:spPr>
        <p:txBody>
          <a:bodyPr wrap="none" rtlCol="0" anchor="ctr">
            <a:noAutofit/>
          </a:bodyPr>
          <a:lstStyle>
            <a:defPPr>
              <a:defRPr lang="es-ES_tradnl"/>
            </a:defPPr>
            <a:lvl1pPr algn="ctr">
              <a:defRPr sz="6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_tradnl" sz="800"/>
              <a:t>FACT_RENTABILIDAD_DIA</a:t>
            </a:r>
          </a:p>
        </p:txBody>
      </p:sp>
      <p:grpSp>
        <p:nvGrpSpPr>
          <p:cNvPr id="1245" name="Group 1244">
            <a:extLst>
              <a:ext uri="{FF2B5EF4-FFF2-40B4-BE49-F238E27FC236}">
                <a16:creationId xmlns:a16="http://schemas.microsoft.com/office/drawing/2014/main" id="{BD373FCB-18AD-BC55-0697-DBB36A37932C}"/>
              </a:ext>
            </a:extLst>
          </p:cNvPr>
          <p:cNvGrpSpPr/>
          <p:nvPr/>
        </p:nvGrpSpPr>
        <p:grpSpPr>
          <a:xfrm>
            <a:off x="4023969" y="3202697"/>
            <a:ext cx="2514805" cy="1316394"/>
            <a:chOff x="4360296" y="888967"/>
            <a:chExt cx="2514805" cy="1316394"/>
          </a:xfrm>
        </p:grpSpPr>
        <p:sp>
          <p:nvSpPr>
            <p:cNvPr id="1225" name="TextBox 1224">
              <a:extLst>
                <a:ext uri="{FF2B5EF4-FFF2-40B4-BE49-F238E27FC236}">
                  <a16:creationId xmlns:a16="http://schemas.microsoft.com/office/drawing/2014/main" id="{B8A9ED2C-FC3C-A13B-6126-36D48FF649C1}"/>
                </a:ext>
              </a:extLst>
            </p:cNvPr>
            <p:cNvSpPr txBox="1"/>
            <p:nvPr/>
          </p:nvSpPr>
          <p:spPr>
            <a:xfrm>
              <a:off x="5617698" y="1274404"/>
              <a:ext cx="1224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FACT_SALDOS_OPER_DIA</a:t>
              </a:r>
            </a:p>
          </p:txBody>
        </p:sp>
        <p:sp>
          <p:nvSpPr>
            <p:cNvPr id="1235" name="Rectangle 1234">
              <a:extLst>
                <a:ext uri="{FF2B5EF4-FFF2-40B4-BE49-F238E27FC236}">
                  <a16:creationId xmlns:a16="http://schemas.microsoft.com/office/drawing/2014/main" id="{FDA86B21-F23C-94FF-E312-9C116686164C}"/>
                </a:ext>
              </a:extLst>
            </p:cNvPr>
            <p:cNvSpPr/>
            <p:nvPr/>
          </p:nvSpPr>
          <p:spPr bwMode="auto">
            <a:xfrm>
              <a:off x="4429490" y="1651480"/>
              <a:ext cx="1024640" cy="215444"/>
            </a:xfrm>
            <a:prstGeom prst="rect">
              <a:avLst/>
            </a:prstGeom>
            <a:solidFill>
              <a:srgbClr val="92D050"/>
            </a:solidFill>
            <a:ln w="9525">
              <a:noFill/>
              <a:round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s-ES_tradnl" sz="800" b="1">
                  <a:latin typeface="Arial" pitchFamily="34" charset="0"/>
                  <a:cs typeface="Arial" pitchFamily="34" charset="0"/>
                </a:rPr>
                <a:t>T_APRRINT_XXX</a:t>
              </a:r>
            </a:p>
          </p:txBody>
        </p:sp>
        <p:sp>
          <p:nvSpPr>
            <p:cNvPr id="1236" name="Rectangle 1235">
              <a:extLst>
                <a:ext uri="{FF2B5EF4-FFF2-40B4-BE49-F238E27FC236}">
                  <a16:creationId xmlns:a16="http://schemas.microsoft.com/office/drawing/2014/main" id="{E36144A3-DCEA-C860-322F-8DD165CCA374}"/>
                </a:ext>
              </a:extLst>
            </p:cNvPr>
            <p:cNvSpPr/>
            <p:nvPr/>
          </p:nvSpPr>
          <p:spPr bwMode="auto">
            <a:xfrm>
              <a:off x="5617698" y="1651480"/>
              <a:ext cx="1188000" cy="215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600" b="1">
                  <a:latin typeface="Arial" pitchFamily="34" charset="0"/>
                  <a:cs typeface="Arial" pitchFamily="34" charset="0"/>
                </a:rPr>
                <a:t>DIM_CONTRATO</a:t>
              </a:r>
            </a:p>
          </p:txBody>
        </p:sp>
        <p:sp>
          <p:nvSpPr>
            <p:cNvPr id="1237" name="Rectangle 1236">
              <a:extLst>
                <a:ext uri="{FF2B5EF4-FFF2-40B4-BE49-F238E27FC236}">
                  <a16:creationId xmlns:a16="http://schemas.microsoft.com/office/drawing/2014/main" id="{57199015-1C20-9B76-D308-B1F1DA440DF0}"/>
                </a:ext>
              </a:extLst>
            </p:cNvPr>
            <p:cNvSpPr/>
            <p:nvPr/>
          </p:nvSpPr>
          <p:spPr bwMode="auto">
            <a:xfrm>
              <a:off x="5617698" y="1915149"/>
              <a:ext cx="1188000" cy="215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600" b="1">
                  <a:latin typeface="Arial" pitchFamily="34" charset="0"/>
                  <a:cs typeface="Arial" pitchFamily="34" charset="0"/>
                </a:rPr>
                <a:t>DT_CONTRATO_DIA</a:t>
              </a:r>
            </a:p>
          </p:txBody>
        </p:sp>
        <p:sp>
          <p:nvSpPr>
            <p:cNvPr id="1244" name="Rectangle 1243">
              <a:extLst>
                <a:ext uri="{FF2B5EF4-FFF2-40B4-BE49-F238E27FC236}">
                  <a16:creationId xmlns:a16="http://schemas.microsoft.com/office/drawing/2014/main" id="{943585D4-BDB9-847D-44B3-333E78EB1B2E}"/>
                </a:ext>
              </a:extLst>
            </p:cNvPr>
            <p:cNvSpPr/>
            <p:nvPr/>
          </p:nvSpPr>
          <p:spPr bwMode="auto">
            <a:xfrm>
              <a:off x="4360296" y="1176026"/>
              <a:ext cx="2514805" cy="10293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1243" name="TextBox 1242">
              <a:extLst>
                <a:ext uri="{FF2B5EF4-FFF2-40B4-BE49-F238E27FC236}">
                  <a16:creationId xmlns:a16="http://schemas.microsoft.com/office/drawing/2014/main" id="{A7AA3C04-950E-1404-F845-ABFAE3582D35}"/>
                </a:ext>
              </a:extLst>
            </p:cNvPr>
            <p:cNvSpPr txBox="1"/>
            <p:nvPr/>
          </p:nvSpPr>
          <p:spPr>
            <a:xfrm>
              <a:off x="4577734" y="888967"/>
              <a:ext cx="1883849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Carga de Saldos / Contratos Diario</a:t>
              </a:r>
            </a:p>
          </p:txBody>
        </p:sp>
      </p:grpSp>
      <p:grpSp>
        <p:nvGrpSpPr>
          <p:cNvPr id="1263" name="Group 1262">
            <a:extLst>
              <a:ext uri="{FF2B5EF4-FFF2-40B4-BE49-F238E27FC236}">
                <a16:creationId xmlns:a16="http://schemas.microsoft.com/office/drawing/2014/main" id="{5853E2BF-E8D6-EBA2-12AC-9F267F639D76}"/>
              </a:ext>
            </a:extLst>
          </p:cNvPr>
          <p:cNvGrpSpPr/>
          <p:nvPr/>
        </p:nvGrpSpPr>
        <p:grpSpPr>
          <a:xfrm>
            <a:off x="4023969" y="4594753"/>
            <a:ext cx="2459016" cy="553310"/>
            <a:chOff x="4360296" y="2270512"/>
            <a:chExt cx="2459016" cy="553310"/>
          </a:xfrm>
        </p:grpSpPr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6049F056-B267-C012-12D6-47AAE3074A99}"/>
                </a:ext>
              </a:extLst>
            </p:cNvPr>
            <p:cNvSpPr txBox="1"/>
            <p:nvPr/>
          </p:nvSpPr>
          <p:spPr>
            <a:xfrm>
              <a:off x="5545697" y="2568136"/>
              <a:ext cx="1224000" cy="2022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FACT_MOV_OPER_DIA</a:t>
              </a:r>
            </a:p>
          </p:txBody>
        </p:sp>
        <p:sp>
          <p:nvSpPr>
            <p:cNvPr id="1253" name="Rectangle 1252">
              <a:extLst>
                <a:ext uri="{FF2B5EF4-FFF2-40B4-BE49-F238E27FC236}">
                  <a16:creationId xmlns:a16="http://schemas.microsoft.com/office/drawing/2014/main" id="{8ECE195A-30BA-6E0C-42B4-EEC8876E02D1}"/>
                </a:ext>
              </a:extLst>
            </p:cNvPr>
            <p:cNvSpPr/>
            <p:nvPr/>
          </p:nvSpPr>
          <p:spPr bwMode="auto">
            <a:xfrm>
              <a:off x="4360296" y="2462726"/>
              <a:ext cx="2459016" cy="3610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1255" name="Rectangle 1254">
              <a:extLst>
                <a:ext uri="{FF2B5EF4-FFF2-40B4-BE49-F238E27FC236}">
                  <a16:creationId xmlns:a16="http://schemas.microsoft.com/office/drawing/2014/main" id="{92572A30-BCB8-BA96-D460-A500EC258310}"/>
                </a:ext>
              </a:extLst>
            </p:cNvPr>
            <p:cNvSpPr/>
            <p:nvPr/>
          </p:nvSpPr>
          <p:spPr bwMode="auto">
            <a:xfrm>
              <a:off x="4470365" y="2554924"/>
              <a:ext cx="942887" cy="215444"/>
            </a:xfrm>
            <a:prstGeom prst="rect">
              <a:avLst/>
            </a:prstGeom>
            <a:solidFill>
              <a:srgbClr val="92D050"/>
            </a:solidFill>
            <a:ln w="9525">
              <a:noFill/>
              <a:round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s-ES_tradnl" sz="800" b="1">
                  <a:latin typeface="Arial" pitchFamily="34" charset="0"/>
                  <a:cs typeface="Arial" pitchFamily="34" charset="0"/>
                </a:rPr>
                <a:t>INC_FMOVCON</a:t>
              </a:r>
            </a:p>
          </p:txBody>
        </p:sp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E136606D-370F-1E4F-9E16-F3C6452581DC}"/>
                </a:ext>
              </a:extLst>
            </p:cNvPr>
            <p:cNvSpPr txBox="1"/>
            <p:nvPr/>
          </p:nvSpPr>
          <p:spPr>
            <a:xfrm>
              <a:off x="4647879" y="2270512"/>
              <a:ext cx="202170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Carga Movimientos Operativos Diario</a:t>
              </a:r>
            </a:p>
          </p:txBody>
        </p:sp>
      </p:grp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E5E93EDC-6C04-8385-B96C-D60E7E332BC0}"/>
              </a:ext>
            </a:extLst>
          </p:cNvPr>
          <p:cNvGrpSpPr/>
          <p:nvPr/>
        </p:nvGrpSpPr>
        <p:grpSpPr>
          <a:xfrm>
            <a:off x="4051863" y="5472416"/>
            <a:ext cx="2459016" cy="569863"/>
            <a:chOff x="4366428" y="2910972"/>
            <a:chExt cx="2459016" cy="569863"/>
          </a:xfrm>
        </p:grpSpPr>
        <p:sp>
          <p:nvSpPr>
            <p:cNvPr id="1223" name="TextBox 1222">
              <a:extLst>
                <a:ext uri="{FF2B5EF4-FFF2-40B4-BE49-F238E27FC236}">
                  <a16:creationId xmlns:a16="http://schemas.microsoft.com/office/drawing/2014/main" id="{D072D2A7-1609-16AD-CFF7-176C2BC6B49F}"/>
                </a:ext>
              </a:extLst>
            </p:cNvPr>
            <p:cNvSpPr txBox="1"/>
            <p:nvPr/>
          </p:nvSpPr>
          <p:spPr>
            <a:xfrm>
              <a:off x="5545697" y="3205638"/>
              <a:ext cx="1224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FACT_SALDOS_CTB_DIA</a:t>
              </a:r>
            </a:p>
          </p:txBody>
        </p:sp>
        <p:sp>
          <p:nvSpPr>
            <p:cNvPr id="1258" name="Rectangle 1257">
              <a:extLst>
                <a:ext uri="{FF2B5EF4-FFF2-40B4-BE49-F238E27FC236}">
                  <a16:creationId xmlns:a16="http://schemas.microsoft.com/office/drawing/2014/main" id="{6D5A64FE-1149-AFC4-451B-70902913A3B3}"/>
                </a:ext>
              </a:extLst>
            </p:cNvPr>
            <p:cNvSpPr/>
            <p:nvPr/>
          </p:nvSpPr>
          <p:spPr bwMode="auto">
            <a:xfrm>
              <a:off x="4366428" y="3119739"/>
              <a:ext cx="2459016" cy="3610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1259" name="TextBox 1258">
              <a:extLst>
                <a:ext uri="{FF2B5EF4-FFF2-40B4-BE49-F238E27FC236}">
                  <a16:creationId xmlns:a16="http://schemas.microsoft.com/office/drawing/2014/main" id="{2CC27EEE-7E98-C223-F35E-9940C001DAD8}"/>
                </a:ext>
              </a:extLst>
            </p:cNvPr>
            <p:cNvSpPr txBox="1"/>
            <p:nvPr/>
          </p:nvSpPr>
          <p:spPr>
            <a:xfrm>
              <a:off x="4700754" y="2910972"/>
              <a:ext cx="16898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Carga Saldos Contables Diario</a:t>
              </a:r>
            </a:p>
          </p:txBody>
        </p:sp>
        <p:sp>
          <p:nvSpPr>
            <p:cNvPr id="1260" name="Rectangle 1259">
              <a:extLst>
                <a:ext uri="{FF2B5EF4-FFF2-40B4-BE49-F238E27FC236}">
                  <a16:creationId xmlns:a16="http://schemas.microsoft.com/office/drawing/2014/main" id="{31DCEFF2-3443-7B0C-1137-BBEE259B0976}"/>
                </a:ext>
              </a:extLst>
            </p:cNvPr>
            <p:cNvSpPr/>
            <p:nvPr/>
          </p:nvSpPr>
          <p:spPr bwMode="auto">
            <a:xfrm>
              <a:off x="4470364" y="3190249"/>
              <a:ext cx="942887" cy="200055"/>
            </a:xfrm>
            <a:prstGeom prst="rect">
              <a:avLst/>
            </a:prstGeom>
            <a:solidFill>
              <a:srgbClr val="92D050"/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s-ES_tradnl" sz="800" b="1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265" name="Group 1264">
            <a:extLst>
              <a:ext uri="{FF2B5EF4-FFF2-40B4-BE49-F238E27FC236}">
                <a16:creationId xmlns:a16="http://schemas.microsoft.com/office/drawing/2014/main" id="{AEE2D339-879E-A7CB-05C6-02718D0053B7}"/>
              </a:ext>
            </a:extLst>
          </p:cNvPr>
          <p:cNvGrpSpPr/>
          <p:nvPr/>
        </p:nvGrpSpPr>
        <p:grpSpPr>
          <a:xfrm>
            <a:off x="9625585" y="5485932"/>
            <a:ext cx="1831998" cy="554177"/>
            <a:chOff x="7480168" y="2089097"/>
            <a:chExt cx="1831998" cy="554177"/>
          </a:xfrm>
        </p:grpSpPr>
        <p:sp>
          <p:nvSpPr>
            <p:cNvPr id="1227" name="TextBox 1226">
              <a:extLst>
                <a:ext uri="{FF2B5EF4-FFF2-40B4-BE49-F238E27FC236}">
                  <a16:creationId xmlns:a16="http://schemas.microsoft.com/office/drawing/2014/main" id="{1D9D9A7C-6742-2584-0DD3-C373CCDDA95F}"/>
                </a:ext>
              </a:extLst>
            </p:cNvPr>
            <p:cNvSpPr txBox="1"/>
            <p:nvPr/>
          </p:nvSpPr>
          <p:spPr>
            <a:xfrm>
              <a:off x="7782333" y="2369799"/>
              <a:ext cx="1224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FACT_CONCILIACION_DIA</a:t>
              </a:r>
            </a:p>
          </p:txBody>
        </p:sp>
        <p:sp>
          <p:nvSpPr>
            <p:cNvPr id="1261" name="Rectangle 1260">
              <a:extLst>
                <a:ext uri="{FF2B5EF4-FFF2-40B4-BE49-F238E27FC236}">
                  <a16:creationId xmlns:a16="http://schemas.microsoft.com/office/drawing/2014/main" id="{564A9F32-3127-A1E9-860A-F914CF62C84A}"/>
                </a:ext>
              </a:extLst>
            </p:cNvPr>
            <p:cNvSpPr/>
            <p:nvPr/>
          </p:nvSpPr>
          <p:spPr bwMode="auto">
            <a:xfrm>
              <a:off x="7480168" y="2282178"/>
              <a:ext cx="1831998" cy="3610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1262" name="TextBox 1261">
              <a:extLst>
                <a:ext uri="{FF2B5EF4-FFF2-40B4-BE49-F238E27FC236}">
                  <a16:creationId xmlns:a16="http://schemas.microsoft.com/office/drawing/2014/main" id="{E44AE609-B060-4F21-5EF5-A3E9574EDDA4}"/>
                </a:ext>
              </a:extLst>
            </p:cNvPr>
            <p:cNvSpPr txBox="1"/>
            <p:nvPr/>
          </p:nvSpPr>
          <p:spPr>
            <a:xfrm>
              <a:off x="7778827" y="2089097"/>
              <a:ext cx="15061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Conciliación Diaria</a:t>
              </a:r>
            </a:p>
          </p:txBody>
        </p:sp>
      </p:grp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F326AA20-571E-1D4A-B2E7-EC89ECA621BD}"/>
              </a:ext>
            </a:extLst>
          </p:cNvPr>
          <p:cNvCxnSpPr>
            <a:stCxn id="1223" idx="3"/>
            <a:endCxn id="1261" idx="1"/>
          </p:cNvCxnSpPr>
          <p:nvPr/>
        </p:nvCxnSpPr>
        <p:spPr bwMode="auto">
          <a:xfrm>
            <a:off x="6455132" y="5859415"/>
            <a:ext cx="3170453" cy="1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334" name="Group 1333">
            <a:extLst>
              <a:ext uri="{FF2B5EF4-FFF2-40B4-BE49-F238E27FC236}">
                <a16:creationId xmlns:a16="http://schemas.microsoft.com/office/drawing/2014/main" id="{4C5205A1-5261-651B-67FA-8F725B59823D}"/>
              </a:ext>
            </a:extLst>
          </p:cNvPr>
          <p:cNvGrpSpPr/>
          <p:nvPr/>
        </p:nvGrpSpPr>
        <p:grpSpPr>
          <a:xfrm>
            <a:off x="5468300" y="1862633"/>
            <a:ext cx="1689249" cy="883607"/>
            <a:chOff x="5636464" y="978304"/>
            <a:chExt cx="1689249" cy="883607"/>
          </a:xfrm>
        </p:grpSpPr>
        <p:sp>
          <p:nvSpPr>
            <p:cNvPr id="1315" name="Flowchart: Document 1314">
              <a:extLst>
                <a:ext uri="{FF2B5EF4-FFF2-40B4-BE49-F238E27FC236}">
                  <a16:creationId xmlns:a16="http://schemas.microsoft.com/office/drawing/2014/main" id="{512464D1-7FD7-424C-04B0-34CBBEB39964}"/>
                </a:ext>
              </a:extLst>
            </p:cNvPr>
            <p:cNvSpPr/>
            <p:nvPr/>
          </p:nvSpPr>
          <p:spPr>
            <a:xfrm>
              <a:off x="5684464" y="1204352"/>
              <a:ext cx="1584000" cy="144000"/>
            </a:xfrm>
            <a:prstGeom prst="flowChartDocumen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800" b="1">
                  <a:latin typeface="Arial" pitchFamily="34" charset="0"/>
                  <a:cs typeface="Arial" pitchFamily="34" charset="0"/>
                </a:rPr>
                <a:t>STG_ASSET</a:t>
              </a:r>
            </a:p>
          </p:txBody>
        </p:sp>
        <p:sp>
          <p:nvSpPr>
            <p:cNvPr id="1316" name="Flowchart: Document 1315">
              <a:extLst>
                <a:ext uri="{FF2B5EF4-FFF2-40B4-BE49-F238E27FC236}">
                  <a16:creationId xmlns:a16="http://schemas.microsoft.com/office/drawing/2014/main" id="{6C442BB5-2F08-B61C-F400-F149F10016B2}"/>
                </a:ext>
              </a:extLst>
            </p:cNvPr>
            <p:cNvSpPr/>
            <p:nvPr/>
          </p:nvSpPr>
          <p:spPr>
            <a:xfrm>
              <a:off x="5684464" y="1354175"/>
              <a:ext cx="1584000" cy="144000"/>
            </a:xfrm>
            <a:prstGeom prst="flowChartDocumen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800" b="1">
                  <a:latin typeface="Arial" pitchFamily="34" charset="0"/>
                  <a:cs typeface="Arial" pitchFamily="34" charset="0"/>
                </a:rPr>
                <a:t>STG_LIABILITY</a:t>
              </a:r>
            </a:p>
          </p:txBody>
        </p:sp>
        <p:sp>
          <p:nvSpPr>
            <p:cNvPr id="1317" name="Flowchart: Document 1316">
              <a:extLst>
                <a:ext uri="{FF2B5EF4-FFF2-40B4-BE49-F238E27FC236}">
                  <a16:creationId xmlns:a16="http://schemas.microsoft.com/office/drawing/2014/main" id="{13913E2B-7981-80D8-9C1B-1004D1AD3FBA}"/>
                </a:ext>
              </a:extLst>
            </p:cNvPr>
            <p:cNvSpPr/>
            <p:nvPr/>
          </p:nvSpPr>
          <p:spPr>
            <a:xfrm>
              <a:off x="5684464" y="1520902"/>
              <a:ext cx="1584000" cy="144000"/>
            </a:xfrm>
            <a:prstGeom prst="flowChartDocumen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800" b="1">
                  <a:latin typeface="Arial" pitchFamily="34" charset="0"/>
                  <a:cs typeface="Arial" pitchFamily="34" charset="0"/>
                </a:rPr>
                <a:t>STG_PAYMENT_SCHEDULE</a:t>
              </a:r>
            </a:p>
          </p:txBody>
        </p:sp>
        <p:sp>
          <p:nvSpPr>
            <p:cNvPr id="1319" name="Flowchart: Document 1318">
              <a:extLst>
                <a:ext uri="{FF2B5EF4-FFF2-40B4-BE49-F238E27FC236}">
                  <a16:creationId xmlns:a16="http://schemas.microsoft.com/office/drawing/2014/main" id="{1F46BAFD-9528-78A6-B334-2A971F2E298D}"/>
                </a:ext>
              </a:extLst>
            </p:cNvPr>
            <p:cNvSpPr/>
            <p:nvPr/>
          </p:nvSpPr>
          <p:spPr>
            <a:xfrm>
              <a:off x="5684464" y="1686673"/>
              <a:ext cx="1584000" cy="144000"/>
            </a:xfrm>
            <a:prstGeom prst="flowChartDocumen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800" b="1">
                  <a:latin typeface="Arial" pitchFamily="34" charset="0"/>
                  <a:cs typeface="Arial" pitchFamily="34" charset="0"/>
                </a:rPr>
                <a:t>STG_EXCHANGE_RATES</a:t>
              </a:r>
            </a:p>
          </p:txBody>
        </p:sp>
        <p:sp>
          <p:nvSpPr>
            <p:cNvPr id="1320" name="TextBox 1319">
              <a:extLst>
                <a:ext uri="{FF2B5EF4-FFF2-40B4-BE49-F238E27FC236}">
                  <a16:creationId xmlns:a16="http://schemas.microsoft.com/office/drawing/2014/main" id="{F5F9CC5A-D579-AC83-E7C3-9EF94F5D5111}"/>
                </a:ext>
              </a:extLst>
            </p:cNvPr>
            <p:cNvSpPr txBox="1"/>
            <p:nvPr/>
          </p:nvSpPr>
          <p:spPr>
            <a:xfrm>
              <a:off x="5740525" y="978304"/>
              <a:ext cx="14718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Interfaces Entrada OFSAA</a:t>
              </a:r>
            </a:p>
          </p:txBody>
        </p:sp>
        <p:sp>
          <p:nvSpPr>
            <p:cNvPr id="1321" name="Rectangle 1320">
              <a:extLst>
                <a:ext uri="{FF2B5EF4-FFF2-40B4-BE49-F238E27FC236}">
                  <a16:creationId xmlns:a16="http://schemas.microsoft.com/office/drawing/2014/main" id="{3075C6D8-E8C0-4605-81BD-66BBB3481736}"/>
                </a:ext>
              </a:extLst>
            </p:cNvPr>
            <p:cNvSpPr/>
            <p:nvPr/>
          </p:nvSpPr>
          <p:spPr bwMode="auto">
            <a:xfrm>
              <a:off x="5636464" y="1149527"/>
              <a:ext cx="1689249" cy="712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</p:grpSp>
      <p:grpSp>
        <p:nvGrpSpPr>
          <p:cNvPr id="9330" name="Group 9329">
            <a:extLst>
              <a:ext uri="{FF2B5EF4-FFF2-40B4-BE49-F238E27FC236}">
                <a16:creationId xmlns:a16="http://schemas.microsoft.com/office/drawing/2014/main" id="{9827B1D2-27B8-7158-C007-8E35CF36EA59}"/>
              </a:ext>
            </a:extLst>
          </p:cNvPr>
          <p:cNvGrpSpPr/>
          <p:nvPr/>
        </p:nvGrpSpPr>
        <p:grpSpPr>
          <a:xfrm>
            <a:off x="7778019" y="1856310"/>
            <a:ext cx="1689249" cy="915139"/>
            <a:chOff x="7662408" y="1087597"/>
            <a:chExt cx="1689249" cy="915139"/>
          </a:xfrm>
        </p:grpSpPr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5BC04D72-040D-D435-0EAA-21F5CAC0F0CF}"/>
                </a:ext>
              </a:extLst>
            </p:cNvPr>
            <p:cNvSpPr txBox="1"/>
            <p:nvPr/>
          </p:nvSpPr>
          <p:spPr>
            <a:xfrm>
              <a:off x="7766469" y="1087597"/>
              <a:ext cx="139333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Interfaces Salida OFSAA</a:t>
              </a:r>
            </a:p>
          </p:txBody>
        </p:sp>
        <p:sp>
          <p:nvSpPr>
            <p:cNvPr id="1330" name="Rectangle 1329">
              <a:extLst>
                <a:ext uri="{FF2B5EF4-FFF2-40B4-BE49-F238E27FC236}">
                  <a16:creationId xmlns:a16="http://schemas.microsoft.com/office/drawing/2014/main" id="{67A63E9F-9A61-0271-EB9E-03D47618CC9B}"/>
                </a:ext>
              </a:extLst>
            </p:cNvPr>
            <p:cNvSpPr/>
            <p:nvPr/>
          </p:nvSpPr>
          <p:spPr bwMode="auto">
            <a:xfrm>
              <a:off x="7662408" y="1290352"/>
              <a:ext cx="1689249" cy="712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1331" name="Flowchart: Document 1330">
              <a:extLst>
                <a:ext uri="{FF2B5EF4-FFF2-40B4-BE49-F238E27FC236}">
                  <a16:creationId xmlns:a16="http://schemas.microsoft.com/office/drawing/2014/main" id="{BDF439EB-BADD-6AA1-FF79-EA09680923AC}"/>
                </a:ext>
              </a:extLst>
            </p:cNvPr>
            <p:cNvSpPr/>
            <p:nvPr/>
          </p:nvSpPr>
          <p:spPr>
            <a:xfrm>
              <a:off x="7725342" y="1355593"/>
              <a:ext cx="1554132" cy="281424"/>
            </a:xfrm>
            <a:prstGeom prst="flowChartDocumen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>
                  <a:latin typeface="Arial" pitchFamily="34" charset="0"/>
                  <a:cs typeface="Arial" pitchFamily="34" charset="0"/>
                </a:rPr>
                <a:t>TP Rate Extract Liability Instrument Dataset</a:t>
              </a:r>
            </a:p>
          </p:txBody>
        </p:sp>
        <p:sp>
          <p:nvSpPr>
            <p:cNvPr id="1332" name="Flowchart: Document 1331">
              <a:extLst>
                <a:ext uri="{FF2B5EF4-FFF2-40B4-BE49-F238E27FC236}">
                  <a16:creationId xmlns:a16="http://schemas.microsoft.com/office/drawing/2014/main" id="{1A0A6667-33C3-9599-AA1B-40493DCA0E53}"/>
                </a:ext>
              </a:extLst>
            </p:cNvPr>
            <p:cNvSpPr/>
            <p:nvPr/>
          </p:nvSpPr>
          <p:spPr>
            <a:xfrm>
              <a:off x="7728473" y="1681629"/>
              <a:ext cx="1588658" cy="269183"/>
            </a:xfrm>
            <a:prstGeom prst="flowChartDocumen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>
                  <a:latin typeface="Arial" pitchFamily="34" charset="0"/>
                  <a:cs typeface="Arial" pitchFamily="34" charset="0"/>
                </a:rPr>
                <a:t>TP Rate Extract Asset Instrument Dataset</a:t>
              </a:r>
            </a:p>
          </p:txBody>
        </p:sp>
      </p:grpSp>
      <p:cxnSp>
        <p:nvCxnSpPr>
          <p:cNvPr id="1338" name="Straight Arrow Connector 1337">
            <a:extLst>
              <a:ext uri="{FF2B5EF4-FFF2-40B4-BE49-F238E27FC236}">
                <a16:creationId xmlns:a16="http://schemas.microsoft.com/office/drawing/2014/main" id="{475FCD48-D3D3-183B-7DB0-76146AD7C49C}"/>
              </a:ext>
            </a:extLst>
          </p:cNvPr>
          <p:cNvCxnSpPr>
            <a:stCxn id="1333" idx="2"/>
            <a:endCxn id="1231" idx="0"/>
          </p:cNvCxnSpPr>
          <p:nvPr/>
        </p:nvCxnSpPr>
        <p:spPr bwMode="auto">
          <a:xfrm flipH="1">
            <a:off x="10515023" y="2870807"/>
            <a:ext cx="3730" cy="7064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41" name="Connector: Elbow 1340">
            <a:extLst>
              <a:ext uri="{FF2B5EF4-FFF2-40B4-BE49-F238E27FC236}">
                <a16:creationId xmlns:a16="http://schemas.microsoft.com/office/drawing/2014/main" id="{9847BCA1-CDD1-C0C6-F8B1-57DB667D5807}"/>
              </a:ext>
            </a:extLst>
          </p:cNvPr>
          <p:cNvCxnSpPr>
            <a:stCxn id="1225" idx="0"/>
            <a:endCxn id="1231" idx="0"/>
          </p:cNvCxnSpPr>
          <p:nvPr/>
        </p:nvCxnSpPr>
        <p:spPr bwMode="auto">
          <a:xfrm rot="5400000" flipH="1" flipV="1">
            <a:off x="8198761" y="1271872"/>
            <a:ext cx="10872" cy="4621652"/>
          </a:xfrm>
          <a:prstGeom prst="bentConnector3">
            <a:avLst>
              <a:gd name="adj1" fmla="val 123591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90" name="Straight Arrow Connector 9289">
            <a:extLst>
              <a:ext uri="{FF2B5EF4-FFF2-40B4-BE49-F238E27FC236}">
                <a16:creationId xmlns:a16="http://schemas.microsoft.com/office/drawing/2014/main" id="{9D52ED11-ABC0-9E3A-AABF-AF703A73AEAC}"/>
              </a:ext>
            </a:extLst>
          </p:cNvPr>
          <p:cNvCxnSpPr>
            <a:stCxn id="1225" idx="3"/>
          </p:cNvCxnSpPr>
          <p:nvPr/>
        </p:nvCxnSpPr>
        <p:spPr bwMode="auto">
          <a:xfrm>
            <a:off x="6505371" y="3680467"/>
            <a:ext cx="325655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95" name="Straight Arrow Connector 9294">
            <a:extLst>
              <a:ext uri="{FF2B5EF4-FFF2-40B4-BE49-F238E27FC236}">
                <a16:creationId xmlns:a16="http://schemas.microsoft.com/office/drawing/2014/main" id="{22C9D6FF-8D86-3788-8ECF-8F7ED87D7C43}"/>
              </a:ext>
            </a:extLst>
          </p:cNvPr>
          <p:cNvCxnSpPr>
            <a:stCxn id="1252" idx="3"/>
          </p:cNvCxnSpPr>
          <p:nvPr/>
        </p:nvCxnSpPr>
        <p:spPr bwMode="auto">
          <a:xfrm>
            <a:off x="6433370" y="4993493"/>
            <a:ext cx="3328555" cy="238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302" name="Straight Arrow Connector 9301">
            <a:extLst>
              <a:ext uri="{FF2B5EF4-FFF2-40B4-BE49-F238E27FC236}">
                <a16:creationId xmlns:a16="http://schemas.microsoft.com/office/drawing/2014/main" id="{47567184-ABA1-343C-22DF-1DAB80AFE77D}"/>
              </a:ext>
            </a:extLst>
          </p:cNvPr>
          <p:cNvCxnSpPr>
            <a:stCxn id="1330" idx="3"/>
            <a:endCxn id="1333" idx="1"/>
          </p:cNvCxnSpPr>
          <p:nvPr/>
        </p:nvCxnSpPr>
        <p:spPr bwMode="auto">
          <a:xfrm flipV="1">
            <a:off x="9467268" y="2409424"/>
            <a:ext cx="206860" cy="58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9329" name="Group 9328">
            <a:extLst>
              <a:ext uri="{FF2B5EF4-FFF2-40B4-BE49-F238E27FC236}">
                <a16:creationId xmlns:a16="http://schemas.microsoft.com/office/drawing/2014/main" id="{D5B6ECA4-E334-98CC-AF4D-4C9F89249408}"/>
              </a:ext>
            </a:extLst>
          </p:cNvPr>
          <p:cNvGrpSpPr/>
          <p:nvPr/>
        </p:nvGrpSpPr>
        <p:grpSpPr>
          <a:xfrm>
            <a:off x="9674128" y="1747457"/>
            <a:ext cx="1689249" cy="1123350"/>
            <a:chOff x="9674128" y="968234"/>
            <a:chExt cx="1689249" cy="1123350"/>
          </a:xfrm>
        </p:grpSpPr>
        <p:sp>
          <p:nvSpPr>
            <p:cNvPr id="1301" name="TextBox 1300">
              <a:extLst>
                <a:ext uri="{FF2B5EF4-FFF2-40B4-BE49-F238E27FC236}">
                  <a16:creationId xmlns:a16="http://schemas.microsoft.com/office/drawing/2014/main" id="{00313109-D351-DF7F-8474-4D3AE161325C}"/>
                </a:ext>
              </a:extLst>
            </p:cNvPr>
            <p:cNvSpPr txBox="1"/>
            <p:nvPr/>
          </p:nvSpPr>
          <p:spPr>
            <a:xfrm>
              <a:off x="9761925" y="1257992"/>
              <a:ext cx="1512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DT_TASA_TRANSF_CTO_DIA</a:t>
              </a:r>
            </a:p>
          </p:txBody>
        </p:sp>
        <p:sp>
          <p:nvSpPr>
            <p:cNvPr id="1303" name="TextBox 1302">
              <a:extLst>
                <a:ext uri="{FF2B5EF4-FFF2-40B4-BE49-F238E27FC236}">
                  <a16:creationId xmlns:a16="http://schemas.microsoft.com/office/drawing/2014/main" id="{E2373AB2-15DC-A3BF-01B1-CFAF7E0BB3BF}"/>
                </a:ext>
              </a:extLst>
            </p:cNvPr>
            <p:cNvSpPr txBox="1"/>
            <p:nvPr/>
          </p:nvSpPr>
          <p:spPr>
            <a:xfrm>
              <a:off x="9761925" y="1501962"/>
              <a:ext cx="1512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DT_TASA_TRANSF_BUCKET_DIA</a:t>
              </a:r>
            </a:p>
          </p:txBody>
        </p:sp>
        <p:sp>
          <p:nvSpPr>
            <p:cNvPr id="1333" name="Rectangle 1332">
              <a:extLst>
                <a:ext uri="{FF2B5EF4-FFF2-40B4-BE49-F238E27FC236}">
                  <a16:creationId xmlns:a16="http://schemas.microsoft.com/office/drawing/2014/main" id="{2D262E1C-BB1F-EAC3-FC37-38C4DC00A501}"/>
                </a:ext>
              </a:extLst>
            </p:cNvPr>
            <p:cNvSpPr/>
            <p:nvPr/>
          </p:nvSpPr>
          <p:spPr bwMode="auto">
            <a:xfrm>
              <a:off x="9674128" y="1168818"/>
              <a:ext cx="1689249" cy="92276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9301" name="TextBox 9300">
              <a:extLst>
                <a:ext uri="{FF2B5EF4-FFF2-40B4-BE49-F238E27FC236}">
                  <a16:creationId xmlns:a16="http://schemas.microsoft.com/office/drawing/2014/main" id="{75B8A899-0A30-3B50-3FE3-815D3A0425A4}"/>
                </a:ext>
              </a:extLst>
            </p:cNvPr>
            <p:cNvSpPr txBox="1"/>
            <p:nvPr/>
          </p:nvSpPr>
          <p:spPr>
            <a:xfrm>
              <a:off x="10150794" y="968234"/>
              <a:ext cx="6591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800" b="1">
                  <a:latin typeface="Arial" pitchFamily="34" charset="0"/>
                  <a:cs typeface="Arial" pitchFamily="34" charset="0"/>
                </a:rPr>
                <a:t>Carga TTI</a:t>
              </a:r>
            </a:p>
          </p:txBody>
        </p:sp>
        <p:sp>
          <p:nvSpPr>
            <p:cNvPr id="9305" name="TextBox 9304">
              <a:extLst>
                <a:ext uri="{FF2B5EF4-FFF2-40B4-BE49-F238E27FC236}">
                  <a16:creationId xmlns:a16="http://schemas.microsoft.com/office/drawing/2014/main" id="{50B8AF55-5E7A-B7B2-A379-61D8D64FD2AD}"/>
                </a:ext>
              </a:extLst>
            </p:cNvPr>
            <p:cNvSpPr txBox="1"/>
            <p:nvPr/>
          </p:nvSpPr>
          <p:spPr>
            <a:xfrm>
              <a:off x="9761925" y="1845352"/>
              <a:ext cx="1506196" cy="2038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DT_TASA_TRANSF_ESPECIAL</a:t>
              </a:r>
            </a:p>
          </p:txBody>
        </p:sp>
      </p:grpSp>
      <p:grpSp>
        <p:nvGrpSpPr>
          <p:cNvPr id="9323" name="Group 9322">
            <a:extLst>
              <a:ext uri="{FF2B5EF4-FFF2-40B4-BE49-F238E27FC236}">
                <a16:creationId xmlns:a16="http://schemas.microsoft.com/office/drawing/2014/main" id="{6D51D75F-A838-2345-4445-6DEC867BDE34}"/>
              </a:ext>
            </a:extLst>
          </p:cNvPr>
          <p:cNvGrpSpPr/>
          <p:nvPr/>
        </p:nvGrpSpPr>
        <p:grpSpPr>
          <a:xfrm>
            <a:off x="1225392" y="2231618"/>
            <a:ext cx="1244540" cy="758887"/>
            <a:chOff x="1225392" y="1504943"/>
            <a:chExt cx="1244540" cy="758887"/>
          </a:xfrm>
        </p:grpSpPr>
        <p:sp>
          <p:nvSpPr>
            <p:cNvPr id="9278" name="TextBox 9277">
              <a:extLst>
                <a:ext uri="{FF2B5EF4-FFF2-40B4-BE49-F238E27FC236}">
                  <a16:creationId xmlns:a16="http://schemas.microsoft.com/office/drawing/2014/main" id="{48EB8B13-B339-41B8-9F6B-2CBA869678C5}"/>
                </a:ext>
              </a:extLst>
            </p:cNvPr>
            <p:cNvSpPr txBox="1"/>
            <p:nvPr/>
          </p:nvSpPr>
          <p:spPr>
            <a:xfrm>
              <a:off x="1285255" y="1814607"/>
              <a:ext cx="1116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DT_CUADRO_PAGO_MES</a:t>
              </a:r>
            </a:p>
          </p:txBody>
        </p:sp>
        <p:sp>
          <p:nvSpPr>
            <p:cNvPr id="1216" name="TextBox 1215">
              <a:extLst>
                <a:ext uri="{FF2B5EF4-FFF2-40B4-BE49-F238E27FC236}">
                  <a16:creationId xmlns:a16="http://schemas.microsoft.com/office/drawing/2014/main" id="{EFB84220-51B4-0D78-BB33-1581FFBFF597}"/>
                </a:ext>
              </a:extLst>
            </p:cNvPr>
            <p:cNvSpPr txBox="1"/>
            <p:nvPr/>
          </p:nvSpPr>
          <p:spPr>
            <a:xfrm>
              <a:off x="1287153" y="1583830"/>
              <a:ext cx="1116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DT_TIPO_CAMBIO_DIA</a:t>
              </a:r>
            </a:p>
          </p:txBody>
        </p:sp>
        <p:sp>
          <p:nvSpPr>
            <p:cNvPr id="1219" name="TextBox 1218">
              <a:extLst>
                <a:ext uri="{FF2B5EF4-FFF2-40B4-BE49-F238E27FC236}">
                  <a16:creationId xmlns:a16="http://schemas.microsoft.com/office/drawing/2014/main" id="{F44B194B-7207-9687-132E-9E0D4BE3F6DC}"/>
                </a:ext>
              </a:extLst>
            </p:cNvPr>
            <p:cNvSpPr txBox="1"/>
            <p:nvPr/>
          </p:nvSpPr>
          <p:spPr>
            <a:xfrm>
              <a:off x="1285255" y="2048572"/>
              <a:ext cx="1116000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>
              <a:defPPr>
                <a:defRPr lang="es-ES_tradnl"/>
              </a:defPPr>
              <a:lvl1pPr algn="ctr">
                <a:defRPr sz="600" b="1">
                  <a:latin typeface="Arial" pitchFamily="34" charset="0"/>
                  <a:cs typeface="Arial" pitchFamily="34" charset="0"/>
                </a:defRPr>
              </a:lvl1pPr>
            </a:lstStyle>
            <a:p>
              <a:r>
                <a:rPr lang="es-ES_tradnl"/>
                <a:t>DT_CURVA_DIA</a:t>
              </a:r>
            </a:p>
          </p:txBody>
        </p:sp>
        <p:sp>
          <p:nvSpPr>
            <p:cNvPr id="9321" name="Rectangle 9320">
              <a:extLst>
                <a:ext uri="{FF2B5EF4-FFF2-40B4-BE49-F238E27FC236}">
                  <a16:creationId xmlns:a16="http://schemas.microsoft.com/office/drawing/2014/main" id="{06AB6DF5-4C98-A0DD-67CC-51B0F876EF5D}"/>
                </a:ext>
              </a:extLst>
            </p:cNvPr>
            <p:cNvSpPr/>
            <p:nvPr/>
          </p:nvSpPr>
          <p:spPr bwMode="auto">
            <a:xfrm>
              <a:off x="1225392" y="1504943"/>
              <a:ext cx="1244540" cy="758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</p:grpSp>
      <p:cxnSp>
        <p:nvCxnSpPr>
          <p:cNvPr id="9324" name="Straight Arrow Connector 9323">
            <a:extLst>
              <a:ext uri="{FF2B5EF4-FFF2-40B4-BE49-F238E27FC236}">
                <a16:creationId xmlns:a16="http://schemas.microsoft.com/office/drawing/2014/main" id="{29D21B4A-1E2E-1911-F294-6E6CABF96AE9}"/>
              </a:ext>
            </a:extLst>
          </p:cNvPr>
          <p:cNvCxnSpPr>
            <a:stCxn id="9321" idx="3"/>
          </p:cNvCxnSpPr>
          <p:nvPr/>
        </p:nvCxnSpPr>
        <p:spPr bwMode="auto">
          <a:xfrm>
            <a:off x="2469932" y="2611062"/>
            <a:ext cx="2811439" cy="164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331" name="Flowchart: Terminator 9330">
            <a:extLst>
              <a:ext uri="{FF2B5EF4-FFF2-40B4-BE49-F238E27FC236}">
                <a16:creationId xmlns:a16="http://schemas.microsoft.com/office/drawing/2014/main" id="{9C94A5EC-4B3D-1CC7-0043-567D30AC4035}"/>
              </a:ext>
            </a:extLst>
          </p:cNvPr>
          <p:cNvSpPr/>
          <p:nvPr/>
        </p:nvSpPr>
        <p:spPr bwMode="auto">
          <a:xfrm>
            <a:off x="7023199" y="2913652"/>
            <a:ext cx="870578" cy="389513"/>
          </a:xfrm>
          <a:prstGeom prst="flowChartTerminator">
            <a:avLst/>
          </a:prstGeom>
          <a:solidFill>
            <a:srgbClr val="FF0000"/>
          </a:solidFill>
          <a:ln w="9525">
            <a:noFill/>
            <a:round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_tradnl" sz="12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OFSAA</a:t>
            </a:r>
          </a:p>
        </p:txBody>
      </p:sp>
      <p:cxnSp>
        <p:nvCxnSpPr>
          <p:cNvPr id="9334" name="Connector: Elbow 9333">
            <a:extLst>
              <a:ext uri="{FF2B5EF4-FFF2-40B4-BE49-F238E27FC236}">
                <a16:creationId xmlns:a16="http://schemas.microsoft.com/office/drawing/2014/main" id="{2556CE1B-9BFB-3C1C-6240-9578B420AC27}"/>
              </a:ext>
            </a:extLst>
          </p:cNvPr>
          <p:cNvCxnSpPr>
            <a:stCxn id="1321" idx="2"/>
            <a:endCxn id="9331" idx="1"/>
          </p:cNvCxnSpPr>
          <p:nvPr/>
        </p:nvCxnSpPr>
        <p:spPr bwMode="auto">
          <a:xfrm rot="16200000" flipH="1">
            <a:off x="6486978" y="2572187"/>
            <a:ext cx="362169" cy="71027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338" name="Connector: Elbow 9337">
            <a:extLst>
              <a:ext uri="{FF2B5EF4-FFF2-40B4-BE49-F238E27FC236}">
                <a16:creationId xmlns:a16="http://schemas.microsoft.com/office/drawing/2014/main" id="{D55060ED-E00A-DB56-CAC7-E0E337D2D997}"/>
              </a:ext>
            </a:extLst>
          </p:cNvPr>
          <p:cNvCxnSpPr>
            <a:stCxn id="9331" idx="3"/>
            <a:endCxn id="1330" idx="2"/>
          </p:cNvCxnSpPr>
          <p:nvPr/>
        </p:nvCxnSpPr>
        <p:spPr bwMode="auto">
          <a:xfrm flipV="1">
            <a:off x="7893777" y="2771449"/>
            <a:ext cx="728867" cy="33696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350" name="Straight Arrow Connector 9349">
            <a:extLst>
              <a:ext uri="{FF2B5EF4-FFF2-40B4-BE49-F238E27FC236}">
                <a16:creationId xmlns:a16="http://schemas.microsoft.com/office/drawing/2014/main" id="{515E9778-BA59-EAEA-DA4E-3CCD82922275}"/>
              </a:ext>
            </a:extLst>
          </p:cNvPr>
          <p:cNvCxnSpPr/>
          <p:nvPr/>
        </p:nvCxnSpPr>
        <p:spPr bwMode="auto">
          <a:xfrm flipH="1">
            <a:off x="9911651" y="5195571"/>
            <a:ext cx="0" cy="4811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354" name="Straight Arrow Connector 9353">
            <a:extLst>
              <a:ext uri="{FF2B5EF4-FFF2-40B4-BE49-F238E27FC236}">
                <a16:creationId xmlns:a16="http://schemas.microsoft.com/office/drawing/2014/main" id="{567B9CE5-A868-05DF-C0C4-F1015F8BA4FC}"/>
              </a:ext>
            </a:extLst>
          </p:cNvPr>
          <p:cNvCxnSpPr/>
          <p:nvPr/>
        </p:nvCxnSpPr>
        <p:spPr bwMode="auto">
          <a:xfrm flipH="1" flipV="1">
            <a:off x="11131488" y="5195571"/>
            <a:ext cx="0" cy="4811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357" name="TextBox 9356">
            <a:extLst>
              <a:ext uri="{FF2B5EF4-FFF2-40B4-BE49-F238E27FC236}">
                <a16:creationId xmlns:a16="http://schemas.microsoft.com/office/drawing/2014/main" id="{64E7C45D-3B0B-B2D9-0BCF-ECA852AD949C}"/>
              </a:ext>
            </a:extLst>
          </p:cNvPr>
          <p:cNvSpPr txBox="1"/>
          <p:nvPr/>
        </p:nvSpPr>
        <p:spPr>
          <a:xfrm>
            <a:off x="9375371" y="3259532"/>
            <a:ext cx="12025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b="1">
                <a:latin typeface="Arial" pitchFamily="34" charset="0"/>
                <a:cs typeface="Arial" pitchFamily="34" charset="0"/>
              </a:rPr>
              <a:t>Cálculo de Asignado</a:t>
            </a:r>
          </a:p>
        </p:txBody>
      </p:sp>
      <p:sp>
        <p:nvSpPr>
          <p:cNvPr id="9358" name="TextBox 9357">
            <a:extLst>
              <a:ext uri="{FF2B5EF4-FFF2-40B4-BE49-F238E27FC236}">
                <a16:creationId xmlns:a16="http://schemas.microsoft.com/office/drawing/2014/main" id="{829E6374-5AC1-0AA1-7909-4ED4B48500AA}"/>
              </a:ext>
            </a:extLst>
          </p:cNvPr>
          <p:cNvSpPr txBox="1"/>
          <p:nvPr/>
        </p:nvSpPr>
        <p:spPr>
          <a:xfrm>
            <a:off x="8544451" y="3747615"/>
            <a:ext cx="11480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b="1">
                <a:latin typeface="Arial" pitchFamily="34" charset="0"/>
                <a:cs typeface="Arial" pitchFamily="34" charset="0"/>
              </a:rPr>
              <a:t>Saldos x Operación</a:t>
            </a:r>
          </a:p>
        </p:txBody>
      </p:sp>
      <p:sp>
        <p:nvSpPr>
          <p:cNvPr id="9359" name="TextBox 9358">
            <a:extLst>
              <a:ext uri="{FF2B5EF4-FFF2-40B4-BE49-F238E27FC236}">
                <a16:creationId xmlns:a16="http://schemas.microsoft.com/office/drawing/2014/main" id="{3B796953-85A9-AA4F-630F-6ADA912E89B7}"/>
              </a:ext>
            </a:extLst>
          </p:cNvPr>
          <p:cNvSpPr txBox="1"/>
          <p:nvPr/>
        </p:nvSpPr>
        <p:spPr>
          <a:xfrm>
            <a:off x="8436248" y="4732808"/>
            <a:ext cx="13644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b="1">
                <a:latin typeface="Arial" pitchFamily="34" charset="0"/>
                <a:cs typeface="Arial" pitchFamily="34" charset="0"/>
              </a:rPr>
              <a:t>Resultados x Operación</a:t>
            </a:r>
          </a:p>
        </p:txBody>
      </p:sp>
      <p:sp>
        <p:nvSpPr>
          <p:cNvPr id="9360" name="TextBox 9359">
            <a:extLst>
              <a:ext uri="{FF2B5EF4-FFF2-40B4-BE49-F238E27FC236}">
                <a16:creationId xmlns:a16="http://schemas.microsoft.com/office/drawing/2014/main" id="{BC611121-E119-48C5-D577-7CCB328D3710}"/>
              </a:ext>
            </a:extLst>
          </p:cNvPr>
          <p:cNvSpPr txBox="1"/>
          <p:nvPr/>
        </p:nvSpPr>
        <p:spPr>
          <a:xfrm>
            <a:off x="11151750" y="5281670"/>
            <a:ext cx="1024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b="1">
                <a:latin typeface="Arial" pitchFamily="34" charset="0"/>
                <a:cs typeface="Arial" pitchFamily="34" charset="0"/>
              </a:rPr>
              <a:t>Resto Contable y</a:t>
            </a:r>
          </a:p>
          <a:p>
            <a:r>
              <a:rPr lang="es-ES_tradnl" sz="800" b="1">
                <a:latin typeface="Arial" pitchFamily="34" charset="0"/>
                <a:cs typeface="Arial" pitchFamily="34" charset="0"/>
              </a:rPr>
              <a:t>Conciliación</a:t>
            </a:r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DC78F784-F1DE-74B3-169B-63231542C06D}"/>
              </a:ext>
            </a:extLst>
          </p:cNvPr>
          <p:cNvSpPr/>
          <p:nvPr/>
        </p:nvSpPr>
        <p:spPr bwMode="auto">
          <a:xfrm>
            <a:off x="207817" y="2418666"/>
            <a:ext cx="870578" cy="389513"/>
          </a:xfrm>
          <a:prstGeom prst="flowChartTerminator">
            <a:avLst/>
          </a:prstGeom>
          <a:solidFill>
            <a:srgbClr val="002060"/>
          </a:solidFill>
          <a:ln w="9525">
            <a:noFill/>
            <a:round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_tradnl" sz="12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Inicio</a:t>
            </a:r>
          </a:p>
        </p:txBody>
      </p:sp>
      <p:sp>
        <p:nvSpPr>
          <p:cNvPr id="5" name="Google Shape;72;p7">
            <a:extLst>
              <a:ext uri="{FF2B5EF4-FFF2-40B4-BE49-F238E27FC236}">
                <a16:creationId xmlns:a16="http://schemas.microsoft.com/office/drawing/2014/main" id="{942C2243-FB5F-DF8E-6B71-3422A326F1F9}"/>
              </a:ext>
            </a:extLst>
          </p:cNvPr>
          <p:cNvSpPr txBox="1"/>
          <p:nvPr/>
        </p:nvSpPr>
        <p:spPr>
          <a:xfrm>
            <a:off x="380373" y="1119653"/>
            <a:ext cx="11283696" cy="51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1" tIns="49502" rIns="99031" bIns="49502" anchor="t" anchorCtr="0">
            <a:noAutofit/>
          </a:bodyPr>
          <a:lstStyle/>
          <a:p>
            <a:pPr algn="ctr">
              <a:spcAft>
                <a:spcPts val="785"/>
              </a:spcAft>
              <a:buClr>
                <a:schemeClr val="tx1"/>
              </a:buClr>
            </a:pPr>
            <a:r>
              <a:rPr lang="es-ES_tradnl" sz="1517">
                <a:solidFill>
                  <a:srgbClr val="001A48"/>
                </a:solidFill>
                <a:latin typeface="+mj-lt"/>
                <a:ea typeface="Lato"/>
                <a:cs typeface="Calibri" panose="020F0502020204030204" pitchFamily="34" charset="0"/>
              </a:rPr>
              <a:t>A continuación se muestra un diagrama a alto nivel de todo el flujo de información centrado en el proceso diario de rentabilidad: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C8D4DD-6B76-630C-BF99-BEFA5875C159}"/>
              </a:ext>
            </a:extLst>
          </p:cNvPr>
          <p:cNvSpPr/>
          <p:nvPr/>
        </p:nvSpPr>
        <p:spPr bwMode="auto">
          <a:xfrm>
            <a:off x="483848" y="3744796"/>
            <a:ext cx="636713" cy="144000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s-ES_tradnl" sz="800" b="1">
                <a:latin typeface="Arial" pitchFamily="34" charset="0"/>
                <a:cs typeface="Arial" pitchFamily="34" charset="0"/>
              </a:rPr>
              <a:t>Maestros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A855FC-3BE5-0D6A-AD39-2CEBBC05D65C}"/>
              </a:ext>
            </a:extLst>
          </p:cNvPr>
          <p:cNvSpPr/>
          <p:nvPr/>
        </p:nvSpPr>
        <p:spPr bwMode="auto">
          <a:xfrm>
            <a:off x="473785" y="3938770"/>
            <a:ext cx="636713" cy="144000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s-ES_tradnl" sz="800" b="1">
                <a:latin typeface="Arial" pitchFamily="34" charset="0"/>
                <a:cs typeface="Arial" pitchFamily="34" charset="0"/>
              </a:rPr>
              <a:t>Maestros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2A2F1C-A85F-4D1E-6CF1-299346EE17DD}"/>
              </a:ext>
            </a:extLst>
          </p:cNvPr>
          <p:cNvSpPr/>
          <p:nvPr/>
        </p:nvSpPr>
        <p:spPr bwMode="auto">
          <a:xfrm>
            <a:off x="473785" y="4135253"/>
            <a:ext cx="636713" cy="144000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s-ES_tradnl" sz="800" b="1">
                <a:latin typeface="Arial" pitchFamily="34" charset="0"/>
                <a:cs typeface="Arial" pitchFamily="34" charset="0"/>
              </a:rPr>
              <a:t>Maestros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250575-C875-A938-39A9-6C4E44D22AE1}"/>
              </a:ext>
            </a:extLst>
          </p:cNvPr>
          <p:cNvSpPr/>
          <p:nvPr/>
        </p:nvSpPr>
        <p:spPr bwMode="auto">
          <a:xfrm>
            <a:off x="473785" y="4551700"/>
            <a:ext cx="636713" cy="144000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s-ES_tradnl" sz="800" b="1">
                <a:latin typeface="Arial" pitchFamily="34" charset="0"/>
                <a:cs typeface="Arial" pitchFamily="34" charset="0"/>
              </a:rPr>
              <a:t>Maestros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9623E4-E7E8-8BD1-442E-53D44E40A659}"/>
              </a:ext>
            </a:extLst>
          </p:cNvPr>
          <p:cNvSpPr/>
          <p:nvPr/>
        </p:nvSpPr>
        <p:spPr bwMode="auto">
          <a:xfrm>
            <a:off x="473785" y="4765689"/>
            <a:ext cx="636713" cy="144000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_tradnl" sz="800" b="1">
                <a:latin typeface="Arial" pitchFamily="34" charset="0"/>
                <a:cs typeface="Arial" pitchFamily="34" charset="0"/>
              </a:rPr>
              <a:t>………</a:t>
            </a:r>
          </a:p>
        </p:txBody>
      </p:sp>
    </p:spTree>
    <p:extLst>
      <p:ext uri="{BB962C8B-B14F-4D97-AF65-F5344CB8AC3E}">
        <p14:creationId xmlns:p14="http://schemas.microsoft.com/office/powerpoint/2010/main" val="76107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9D49-61C8-84C3-7B22-ECD85BD3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E49C784C-A595-F3E0-7092-19EDDF957960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FED2019-23D1-FEC0-E8AA-433263A7A8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 dirty="0">
                <a:solidFill>
                  <a:srgbClr val="002569"/>
                </a:solidFill>
                <a:latin typeface="Segoe UI Light"/>
              </a:rPr>
              <a:t>Diseño Técnico</a:t>
            </a:r>
            <a:endParaRPr kumimoji="0" lang="es-ES" sz="2133" b="1" i="0" u="none" strike="noStrike" kern="0" cap="none" spc="0" normalizeH="0" baseline="0" noProof="0" dirty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E0D399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Flujo Aprovisionamiento </a:t>
            </a:r>
            <a:r>
              <a:rPr lang="es-ES" sz="1600" b="1" kern="0" dirty="0">
                <a:solidFill>
                  <a:srgbClr val="E0D399">
                    <a:lumMod val="75000"/>
                  </a:srgbClr>
                </a:solidFill>
                <a:latin typeface="Segoe UI Light"/>
              </a:rPr>
              <a:t>Cuentas Contables</a:t>
            </a: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59" name="Rectangle: Rounded Corners 1458">
            <a:extLst>
              <a:ext uri="{FF2B5EF4-FFF2-40B4-BE49-F238E27FC236}">
                <a16:creationId xmlns:a16="http://schemas.microsoft.com/office/drawing/2014/main" id="{D010DE48-A13C-52CA-6AD0-549A4E6F9D98}"/>
              </a:ext>
            </a:extLst>
          </p:cNvPr>
          <p:cNvSpPr/>
          <p:nvPr/>
        </p:nvSpPr>
        <p:spPr bwMode="auto">
          <a:xfrm>
            <a:off x="3908865" y="2657657"/>
            <a:ext cx="769446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Extracción</a:t>
            </a:r>
          </a:p>
        </p:txBody>
      </p:sp>
      <p:sp>
        <p:nvSpPr>
          <p:cNvPr id="4105" name="Rectangle: Rounded Corners 4104">
            <a:extLst>
              <a:ext uri="{FF2B5EF4-FFF2-40B4-BE49-F238E27FC236}">
                <a16:creationId xmlns:a16="http://schemas.microsoft.com/office/drawing/2014/main" id="{11D123EB-342A-4B21-70FC-0E8D0117D3C3}"/>
              </a:ext>
            </a:extLst>
          </p:cNvPr>
          <p:cNvSpPr/>
          <p:nvPr/>
        </p:nvSpPr>
        <p:spPr bwMode="auto">
          <a:xfrm>
            <a:off x="4690352" y="2657657"/>
            <a:ext cx="1015091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Homologación</a:t>
            </a:r>
          </a:p>
        </p:txBody>
      </p: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887BCDEC-499C-5FF9-C126-4D2E10FDBB11}"/>
              </a:ext>
            </a:extLst>
          </p:cNvPr>
          <p:cNvSpPr/>
          <p:nvPr/>
        </p:nvSpPr>
        <p:spPr bwMode="auto">
          <a:xfrm>
            <a:off x="7720426" y="2874731"/>
            <a:ext cx="1188000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700" b="1" dirty="0">
                <a:latin typeface="Arial" pitchFamily="34" charset="0"/>
                <a:cs typeface="Arial" pitchFamily="34" charset="0"/>
              </a:rPr>
              <a:t>DIM_CUENTA_CONT</a:t>
            </a:r>
          </a:p>
        </p:txBody>
      </p:sp>
      <p:pic>
        <p:nvPicPr>
          <p:cNvPr id="4125" name="Graphic 23" descr="Amazon Redshift service icon.">
            <a:extLst>
              <a:ext uri="{FF2B5EF4-FFF2-40B4-BE49-F238E27FC236}">
                <a16:creationId xmlns:a16="http://schemas.microsoft.com/office/drawing/2014/main" id="{C0947A1E-91BD-1122-9109-B570EF6761A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880189" y="2927965"/>
            <a:ext cx="217766" cy="21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67883EE9-B9A1-CC6D-0410-0C066433EEA4}"/>
              </a:ext>
            </a:extLst>
          </p:cNvPr>
          <p:cNvGrpSpPr/>
          <p:nvPr/>
        </p:nvGrpSpPr>
        <p:grpSpPr>
          <a:xfrm>
            <a:off x="4132579" y="3560408"/>
            <a:ext cx="962930" cy="283618"/>
            <a:chOff x="2127933" y="3933232"/>
            <a:chExt cx="962930" cy="283618"/>
          </a:xfrm>
        </p:grpSpPr>
        <p:pic>
          <p:nvPicPr>
            <p:cNvPr id="4152" name="Graphic 6" descr="AWS Glue service icon.">
              <a:extLst>
                <a:ext uri="{FF2B5EF4-FFF2-40B4-BE49-F238E27FC236}">
                  <a16:creationId xmlns:a16="http://schemas.microsoft.com/office/drawing/2014/main" id="{06B01411-8D42-B635-3048-CAEC413D16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53" name="TextBox 10">
              <a:extLst>
                <a:ext uri="{FF2B5EF4-FFF2-40B4-BE49-F238E27FC236}">
                  <a16:creationId xmlns:a16="http://schemas.microsoft.com/office/drawing/2014/main" id="{E086C5F5-875F-3733-3255-F6E986638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274367FA-4C47-DC5A-E0BA-6A0B7EB7B192}"/>
              </a:ext>
            </a:extLst>
          </p:cNvPr>
          <p:cNvGrpSpPr/>
          <p:nvPr/>
        </p:nvGrpSpPr>
        <p:grpSpPr>
          <a:xfrm>
            <a:off x="1004868" y="894221"/>
            <a:ext cx="830910" cy="4946167"/>
            <a:chOff x="1219056" y="1186829"/>
            <a:chExt cx="830910" cy="4946167"/>
          </a:xfrm>
        </p:grpSpPr>
        <p:sp>
          <p:nvSpPr>
            <p:cNvPr id="1442" name="Rectangle 1441">
              <a:extLst>
                <a:ext uri="{FF2B5EF4-FFF2-40B4-BE49-F238E27FC236}">
                  <a16:creationId xmlns:a16="http://schemas.microsoft.com/office/drawing/2014/main" id="{5C102C7C-1CEC-4294-8A60-FAF00F438FB2}"/>
                </a:ext>
              </a:extLst>
            </p:cNvPr>
            <p:cNvSpPr/>
            <p:nvPr/>
          </p:nvSpPr>
          <p:spPr bwMode="auto">
            <a:xfrm>
              <a:off x="1337243" y="1186829"/>
              <a:ext cx="588467" cy="4946167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n-US" altLang="en-US" sz="800" b="1">
                <a:latin typeface="Arial" pitchFamily="34" charset="0"/>
                <a:ea typeface="Amazon Ember" panose="020B0603020204020204" pitchFamily="34" charset="0"/>
                <a:cs typeface="Arial" pitchFamily="34" charset="0"/>
              </a:endParaRPr>
            </a:p>
          </p:txBody>
        </p:sp>
        <p:pic>
          <p:nvPicPr>
            <p:cNvPr id="1447" name="Graphic 1446" descr="AWS Glue Data Catalog resource icon for the AWS Glue service.">
              <a:extLst>
                <a:ext uri="{FF2B5EF4-FFF2-40B4-BE49-F238E27FC236}">
                  <a16:creationId xmlns:a16="http://schemas.microsoft.com/office/drawing/2014/main" id="{CEA9127C-2159-8206-CF37-1D3F16883A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2368" y="3629186"/>
              <a:ext cx="383843" cy="421601"/>
            </a:xfrm>
            <a:prstGeom prst="rect">
              <a:avLst/>
            </a:prstGeom>
          </p:spPr>
        </p:pic>
        <p:pic>
          <p:nvPicPr>
            <p:cNvPr id="1027" name="Graphic 14" descr="Amazon Athena service icon.">
              <a:extLst>
                <a:ext uri="{FF2B5EF4-FFF2-40B4-BE49-F238E27FC236}">
                  <a16:creationId xmlns:a16="http://schemas.microsoft.com/office/drawing/2014/main" id="{282AA5E6-E209-839C-6D79-994F349347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auto">
            <a:xfrm>
              <a:off x="1493647" y="2220260"/>
              <a:ext cx="294763" cy="29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" name="TextBox 17">
              <a:extLst>
                <a:ext uri="{FF2B5EF4-FFF2-40B4-BE49-F238E27FC236}">
                  <a16:creationId xmlns:a16="http://schemas.microsoft.com/office/drawing/2014/main" id="{53B9D260-3A07-858B-DFB4-985921D4E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056" y="2599091"/>
              <a:ext cx="83091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Amazon Athena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41C370BC-00D0-A1B7-FBE7-96BBB58A77EC}"/>
                </a:ext>
              </a:extLst>
            </p:cNvPr>
            <p:cNvSpPr txBox="1"/>
            <p:nvPr/>
          </p:nvSpPr>
          <p:spPr>
            <a:xfrm>
              <a:off x="1260233" y="4090807"/>
              <a:ext cx="7580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Glue</a:t>
              </a:r>
              <a:br>
                <a:rPr lang="en-US" altLang="en-US"/>
              </a:br>
              <a:r>
                <a:rPr lang="en-US" altLang="en-US"/>
                <a:t>Data Catalog</a:t>
              </a:r>
            </a:p>
          </p:txBody>
        </p:sp>
      </p:grpSp>
      <p:grpSp>
        <p:nvGrpSpPr>
          <p:cNvPr id="9242" name="Group 9241">
            <a:extLst>
              <a:ext uri="{FF2B5EF4-FFF2-40B4-BE49-F238E27FC236}">
                <a16:creationId xmlns:a16="http://schemas.microsoft.com/office/drawing/2014/main" id="{F6F4823E-65A1-9829-A7F7-88FC423B4506}"/>
              </a:ext>
            </a:extLst>
          </p:cNvPr>
          <p:cNvGrpSpPr/>
          <p:nvPr/>
        </p:nvGrpSpPr>
        <p:grpSpPr>
          <a:xfrm>
            <a:off x="1784281" y="5953750"/>
            <a:ext cx="10080000" cy="261610"/>
            <a:chOff x="1784281" y="5889742"/>
            <a:chExt cx="10080000" cy="261610"/>
          </a:xfrm>
        </p:grpSpPr>
        <p:sp>
          <p:nvSpPr>
            <p:cNvPr id="4144" name="Arrow: Pentagon 4143">
              <a:extLst>
                <a:ext uri="{FF2B5EF4-FFF2-40B4-BE49-F238E27FC236}">
                  <a16:creationId xmlns:a16="http://schemas.microsoft.com/office/drawing/2014/main" id="{C517463E-5D06-A8D0-FBC9-603AB32A5693}"/>
                </a:ext>
              </a:extLst>
            </p:cNvPr>
            <p:cNvSpPr/>
            <p:nvPr/>
          </p:nvSpPr>
          <p:spPr bwMode="auto">
            <a:xfrm>
              <a:off x="1784281" y="5925328"/>
              <a:ext cx="10080000" cy="211458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1CA2B291-DA56-D00A-FAA0-417FBDA2F086}"/>
                </a:ext>
              </a:extLst>
            </p:cNvPr>
            <p:cNvSpPr txBox="1"/>
            <p:nvPr/>
          </p:nvSpPr>
          <p:spPr>
            <a:xfrm>
              <a:off x="3159412" y="5889742"/>
              <a:ext cx="84496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1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Pipeline único, la particularidades de cada sistema se gestionan mediante ficheros de configuración.</a:t>
              </a:r>
            </a:p>
          </p:txBody>
        </p: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D1BC83B-B0C9-7FFF-7368-8E9FADC2C4A4}"/>
              </a:ext>
            </a:extLst>
          </p:cNvPr>
          <p:cNvSpPr txBox="1"/>
          <p:nvPr/>
        </p:nvSpPr>
        <p:spPr>
          <a:xfrm>
            <a:off x="3575813" y="4067769"/>
            <a:ext cx="2383028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 b="1" dirty="0">
                <a:latin typeface="Arial" pitchFamily="34" charset="0"/>
                <a:cs typeface="Arial" pitchFamily="34" charset="0"/>
              </a:rPr>
              <a:t>La configuración del Pipeline se realiza en un fichero de configuración </a:t>
            </a:r>
            <a:r>
              <a:rPr lang="es-ES_tradnl" sz="800" b="1" dirty="0" err="1">
                <a:latin typeface="Arial" pitchFamily="34" charset="0"/>
                <a:cs typeface="Arial" pitchFamily="34" charset="0"/>
              </a:rPr>
              <a:t>json</a:t>
            </a:r>
            <a:r>
              <a:rPr lang="es-ES_tradnl" sz="800" b="1" dirty="0">
                <a:latin typeface="Arial" pitchFamily="34" charset="0"/>
                <a:cs typeface="Arial" pitchFamily="34" charset="0"/>
              </a:rPr>
              <a:t> que tiene las especificidades.</a:t>
            </a:r>
          </a:p>
        </p:txBody>
      </p:sp>
      <p:sp>
        <p:nvSpPr>
          <p:cNvPr id="1076" name="Arrow: Up 1075">
            <a:extLst>
              <a:ext uri="{FF2B5EF4-FFF2-40B4-BE49-F238E27FC236}">
                <a16:creationId xmlns:a16="http://schemas.microsoft.com/office/drawing/2014/main" id="{0DFCBC5D-C456-E0D6-054F-707CE5C36D41}"/>
              </a:ext>
            </a:extLst>
          </p:cNvPr>
          <p:cNvSpPr/>
          <p:nvPr/>
        </p:nvSpPr>
        <p:spPr bwMode="auto">
          <a:xfrm rot="5400000">
            <a:off x="7477216" y="2937671"/>
            <a:ext cx="215788" cy="143489"/>
          </a:xfrm>
          <a:prstGeom prst="upArrow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ctr"/>
            <a:endParaRPr lang="es-ES_tradnl"/>
          </a:p>
        </p:txBody>
      </p:sp>
      <p:sp>
        <p:nvSpPr>
          <p:cNvPr id="5131" name="Rectangle: Rounded Corners 5130">
            <a:extLst>
              <a:ext uri="{FF2B5EF4-FFF2-40B4-BE49-F238E27FC236}">
                <a16:creationId xmlns:a16="http://schemas.microsoft.com/office/drawing/2014/main" id="{91DB746C-9C72-4864-51F9-3C5833EA5DC1}"/>
              </a:ext>
            </a:extLst>
          </p:cNvPr>
          <p:cNvSpPr/>
          <p:nvPr/>
        </p:nvSpPr>
        <p:spPr bwMode="auto">
          <a:xfrm>
            <a:off x="6865693" y="2633207"/>
            <a:ext cx="580846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Act.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BBDD</a:t>
            </a:r>
          </a:p>
        </p:txBody>
      </p:sp>
      <p:sp>
        <p:nvSpPr>
          <p:cNvPr id="5135" name="Rectangle: Rounded Corners 5134">
            <a:extLst>
              <a:ext uri="{FF2B5EF4-FFF2-40B4-BE49-F238E27FC236}">
                <a16:creationId xmlns:a16="http://schemas.microsoft.com/office/drawing/2014/main" id="{977BCD7C-15BA-6C54-B0CB-0A58634F40F9}"/>
              </a:ext>
            </a:extLst>
          </p:cNvPr>
          <p:cNvSpPr/>
          <p:nvPr/>
        </p:nvSpPr>
        <p:spPr bwMode="auto">
          <a:xfrm>
            <a:off x="9294679" y="3971624"/>
            <a:ext cx="849057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Limpieza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Temporales</a:t>
            </a:r>
          </a:p>
        </p:txBody>
      </p:sp>
      <p:cxnSp>
        <p:nvCxnSpPr>
          <p:cNvPr id="5136" name="Connector: Elbow 5135">
            <a:extLst>
              <a:ext uri="{FF2B5EF4-FFF2-40B4-BE49-F238E27FC236}">
                <a16:creationId xmlns:a16="http://schemas.microsoft.com/office/drawing/2014/main" id="{46E6EF10-489E-4B2F-84B6-9DAC6259F392}"/>
              </a:ext>
            </a:extLst>
          </p:cNvPr>
          <p:cNvCxnSpPr>
            <a:stCxn id="5131" idx="2"/>
            <a:endCxn id="9221" idx="1"/>
          </p:cNvCxnSpPr>
          <p:nvPr/>
        </p:nvCxnSpPr>
        <p:spPr bwMode="auto">
          <a:xfrm rot="16200000" flipH="1">
            <a:off x="7342566" y="3108675"/>
            <a:ext cx="995542" cy="136844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153" name="Group 5152">
            <a:extLst>
              <a:ext uri="{FF2B5EF4-FFF2-40B4-BE49-F238E27FC236}">
                <a16:creationId xmlns:a16="http://schemas.microsoft.com/office/drawing/2014/main" id="{965711C9-4FCD-2105-B787-CDAD807547EC}"/>
              </a:ext>
            </a:extLst>
          </p:cNvPr>
          <p:cNvGrpSpPr/>
          <p:nvPr/>
        </p:nvGrpSpPr>
        <p:grpSpPr>
          <a:xfrm>
            <a:off x="5133983" y="3531031"/>
            <a:ext cx="576960" cy="428487"/>
            <a:chOff x="3743069" y="3921688"/>
            <a:chExt cx="637630" cy="463623"/>
          </a:xfrm>
        </p:grpSpPr>
        <p:pic>
          <p:nvPicPr>
            <p:cNvPr id="5148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2FEE0396-6798-F770-D3ED-681DCE7CAA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52" name="TextBox 5151">
              <a:extLst>
                <a:ext uri="{FF2B5EF4-FFF2-40B4-BE49-F238E27FC236}">
                  <a16:creationId xmlns:a16="http://schemas.microsoft.com/office/drawing/2014/main" id="{A7DF50A5-FE42-32BB-625B-B42D4CA452B2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AWS S3</a:t>
              </a:r>
              <a:endParaRPr lang="es-ES_tradnl" dirty="0"/>
            </a:p>
          </p:txBody>
        </p:sp>
      </p:grpSp>
      <p:sp>
        <p:nvSpPr>
          <p:cNvPr id="9221" name="Rectangle: Rounded Corners 9220">
            <a:extLst>
              <a:ext uri="{FF2B5EF4-FFF2-40B4-BE49-F238E27FC236}">
                <a16:creationId xmlns:a16="http://schemas.microsoft.com/office/drawing/2014/main" id="{DC8095DB-68EE-4766-892B-A8AFE3A02CDC}"/>
              </a:ext>
            </a:extLst>
          </p:cNvPr>
          <p:cNvSpPr/>
          <p:nvPr/>
        </p:nvSpPr>
        <p:spPr bwMode="auto">
          <a:xfrm>
            <a:off x="8524559" y="3971624"/>
            <a:ext cx="730728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Control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Registros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DB6E7556-AB7B-5F10-1314-56C1BBC13527}"/>
              </a:ext>
            </a:extLst>
          </p:cNvPr>
          <p:cNvGrpSpPr/>
          <p:nvPr/>
        </p:nvGrpSpPr>
        <p:grpSpPr>
          <a:xfrm>
            <a:off x="8499922" y="4657199"/>
            <a:ext cx="844780" cy="413230"/>
            <a:chOff x="6400561" y="3384947"/>
            <a:chExt cx="844780" cy="413230"/>
          </a:xfrm>
        </p:grpSpPr>
        <p:pic>
          <p:nvPicPr>
            <p:cNvPr id="9225" name="lambda" descr="Lambda service icon.">
              <a:extLst>
                <a:ext uri="{FF2B5EF4-FFF2-40B4-BE49-F238E27FC236}">
                  <a16:creationId xmlns:a16="http://schemas.microsoft.com/office/drawing/2014/main" id="{3021C4B3-583A-C0C7-E10E-997CFAE14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 bwMode="auto">
            <a:xfrm>
              <a:off x="6686988" y="3384947"/>
              <a:ext cx="224346" cy="224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6" name="label5">
              <a:extLst>
                <a:ext uri="{FF2B5EF4-FFF2-40B4-BE49-F238E27FC236}">
                  <a16:creationId xmlns:a16="http://schemas.microsoft.com/office/drawing/2014/main" id="{4469C0AF-AE8A-6F9C-C7F2-6BB0A4AEB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561" y="3582733"/>
              <a:ext cx="8447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Lambda</a:t>
              </a:r>
            </a:p>
          </p:txBody>
        </p:sp>
      </p:grpSp>
      <p:grpSp>
        <p:nvGrpSpPr>
          <p:cNvPr id="9232" name="Group 9231">
            <a:extLst>
              <a:ext uri="{FF2B5EF4-FFF2-40B4-BE49-F238E27FC236}">
                <a16:creationId xmlns:a16="http://schemas.microsoft.com/office/drawing/2014/main" id="{20507CA1-2EF1-FDDF-5D84-00517FB0A05F}"/>
              </a:ext>
            </a:extLst>
          </p:cNvPr>
          <p:cNvGrpSpPr/>
          <p:nvPr/>
        </p:nvGrpSpPr>
        <p:grpSpPr>
          <a:xfrm>
            <a:off x="8501654" y="5098660"/>
            <a:ext cx="841315" cy="468855"/>
            <a:chOff x="7754896" y="3062065"/>
            <a:chExt cx="841315" cy="468855"/>
          </a:xfrm>
        </p:grpSpPr>
        <p:pic>
          <p:nvPicPr>
            <p:cNvPr id="9230" name="Graphic 23" descr="Amazon DynamoDB service icon.">
              <a:extLst>
                <a:ext uri="{FF2B5EF4-FFF2-40B4-BE49-F238E27FC236}">
                  <a16:creationId xmlns:a16="http://schemas.microsoft.com/office/drawing/2014/main" id="{1B97D6EB-59AE-1E24-CB84-8DF358951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 bwMode="auto">
            <a:xfrm>
              <a:off x="8030391" y="3062065"/>
              <a:ext cx="253411" cy="253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Box 12">
              <a:extLst>
                <a:ext uri="{FF2B5EF4-FFF2-40B4-BE49-F238E27FC236}">
                  <a16:creationId xmlns:a16="http://schemas.microsoft.com/office/drawing/2014/main" id="{C1C1D2F3-4E49-72B6-53AB-F153E499A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4896" y="3315476"/>
              <a:ext cx="84131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DynamoDB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CA9731-E168-A2A6-9062-77005A2DA159}"/>
              </a:ext>
            </a:extLst>
          </p:cNvPr>
          <p:cNvGrpSpPr/>
          <p:nvPr/>
        </p:nvGrpSpPr>
        <p:grpSpPr>
          <a:xfrm>
            <a:off x="4813220" y="6304019"/>
            <a:ext cx="1192822" cy="378105"/>
            <a:chOff x="835051" y="1350653"/>
            <a:chExt cx="1192822" cy="378105"/>
          </a:xfrm>
        </p:grpSpPr>
        <p:pic>
          <p:nvPicPr>
            <p:cNvPr id="4" name="Graphic 17" descr="AWS Step Functions service icon.">
              <a:extLst>
                <a:ext uri="{FF2B5EF4-FFF2-40B4-BE49-F238E27FC236}">
                  <a16:creationId xmlns:a16="http://schemas.microsoft.com/office/drawing/2014/main" id="{B9F9FA6B-E264-BE22-18A4-5FAD32935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 bwMode="auto">
            <a:xfrm>
              <a:off x="835051" y="1350653"/>
              <a:ext cx="378105" cy="378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5DF9E919-B638-EF81-35CA-476143D14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03" y="1390204"/>
              <a:ext cx="10037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Step Functions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8647C9A-7910-1566-26F3-E58C7A9B86CC}"/>
              </a:ext>
            </a:extLst>
          </p:cNvPr>
          <p:cNvGrpSpPr/>
          <p:nvPr/>
        </p:nvGrpSpPr>
        <p:grpSpPr>
          <a:xfrm>
            <a:off x="7591321" y="6276861"/>
            <a:ext cx="576960" cy="428487"/>
            <a:chOff x="3743069" y="3921688"/>
            <a:chExt cx="637630" cy="463623"/>
          </a:xfrm>
        </p:grpSpPr>
        <p:pic>
          <p:nvPicPr>
            <p:cNvPr id="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3BBE36E6-5A92-3823-96C9-3DE04F7E3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A2EB51-9CBC-A74D-0865-ED0D97AD2829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S3</a:t>
              </a:r>
              <a:endParaRPr lang="es-ES_tradnl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E7834D-5CCE-2CFD-60B8-2B497207022B}"/>
              </a:ext>
            </a:extLst>
          </p:cNvPr>
          <p:cNvGrpSpPr/>
          <p:nvPr/>
        </p:nvGrpSpPr>
        <p:grpSpPr>
          <a:xfrm>
            <a:off x="6251391" y="6314297"/>
            <a:ext cx="962930" cy="283618"/>
            <a:chOff x="2127933" y="3933232"/>
            <a:chExt cx="962930" cy="283618"/>
          </a:xfrm>
        </p:grpSpPr>
        <p:pic>
          <p:nvPicPr>
            <p:cNvPr id="19" name="Graphic 6" descr="AWS Glue service icon.">
              <a:extLst>
                <a:ext uri="{FF2B5EF4-FFF2-40B4-BE49-F238E27FC236}">
                  <a16:creationId xmlns:a16="http://schemas.microsoft.com/office/drawing/2014/main" id="{8B38B170-D120-E4FC-1F46-32BC656440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89308991-47FD-D698-1BB3-91B536B85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4004B97B-F150-9F95-C664-AE7CF05746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6730231" y="745584"/>
            <a:ext cx="299553" cy="101388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B0FD9A-871D-73AA-33D6-F96471CEF1A4}"/>
              </a:ext>
            </a:extLst>
          </p:cNvPr>
          <p:cNvSpPr txBox="1"/>
          <p:nvPr/>
        </p:nvSpPr>
        <p:spPr>
          <a:xfrm>
            <a:off x="8485963" y="6492920"/>
            <a:ext cx="2383028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>
                <a:latin typeface="Arial" pitchFamily="34" charset="0"/>
                <a:cs typeface="Arial" pitchFamily="34" charset="0"/>
              </a:rPr>
              <a:t>* Los aplicativos marcados en rojo son aplicativos que ya no utiliza el banco</a:t>
            </a:r>
          </a:p>
        </p:txBody>
      </p:sp>
      <p:sp>
        <p:nvSpPr>
          <p:cNvPr id="1401" name="Rectangle 6">
            <a:extLst>
              <a:ext uri="{FF2B5EF4-FFF2-40B4-BE49-F238E27FC236}">
                <a16:creationId xmlns:a16="http://schemas.microsoft.com/office/drawing/2014/main" id="{1AE177F9-A328-D424-D968-7F0A3DC54067}"/>
              </a:ext>
            </a:extLst>
          </p:cNvPr>
          <p:cNvSpPr/>
          <p:nvPr/>
        </p:nvSpPr>
        <p:spPr bwMode="auto">
          <a:xfrm>
            <a:off x="45035" y="3038239"/>
            <a:ext cx="1059394" cy="153888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PE" sz="1000" b="1" dirty="0" err="1"/>
              <a:t>t_rnt_glocuentas</a:t>
            </a:r>
            <a:endParaRPr lang="en-US" sz="1000" b="1" dirty="0"/>
          </a:p>
        </p:txBody>
      </p:sp>
      <p:sp>
        <p:nvSpPr>
          <p:cNvPr id="11" name="Rectangle: Rounded Corners 4122">
            <a:extLst>
              <a:ext uri="{FF2B5EF4-FFF2-40B4-BE49-F238E27FC236}">
                <a16:creationId xmlns:a16="http://schemas.microsoft.com/office/drawing/2014/main" id="{D270BC81-33C9-8BE5-9FF6-CA6457A8037C}"/>
              </a:ext>
            </a:extLst>
          </p:cNvPr>
          <p:cNvSpPr/>
          <p:nvPr/>
        </p:nvSpPr>
        <p:spPr bwMode="auto">
          <a:xfrm>
            <a:off x="5968018" y="2640627"/>
            <a:ext cx="706228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Data</a:t>
            </a:r>
          </a:p>
          <a:p>
            <a:pPr algn="ctr"/>
            <a:r>
              <a:rPr lang="es-ES_tradnl" sz="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Quality</a:t>
            </a:r>
            <a:endParaRPr lang="es-ES_tradnl" sz="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043">
            <a:extLst>
              <a:ext uri="{FF2B5EF4-FFF2-40B4-BE49-F238E27FC236}">
                <a16:creationId xmlns:a16="http://schemas.microsoft.com/office/drawing/2014/main" id="{F1C81A7F-2050-14FB-7AFE-2AA855C257DC}"/>
              </a:ext>
            </a:extLst>
          </p:cNvPr>
          <p:cNvSpPr txBox="1"/>
          <p:nvPr/>
        </p:nvSpPr>
        <p:spPr>
          <a:xfrm>
            <a:off x="5501307" y="1015266"/>
            <a:ext cx="1880786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600" b="1" dirty="0">
                <a:latin typeface="Arial" pitchFamily="34" charset="0"/>
                <a:cs typeface="Arial" pitchFamily="34" charset="0"/>
              </a:rPr>
              <a:t>Cruce de la tablas de origen con las tablas maestras para la validación de los campos correspondientes de cada dimensión.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EEEE6D6-1BBA-5BFF-FAF8-D059AD3539C0}"/>
              </a:ext>
            </a:extLst>
          </p:cNvPr>
          <p:cNvGrpSpPr/>
          <p:nvPr/>
        </p:nvGrpSpPr>
        <p:grpSpPr>
          <a:xfrm>
            <a:off x="5190838" y="1518450"/>
            <a:ext cx="1324725" cy="286959"/>
            <a:chOff x="5636499" y="1571172"/>
            <a:chExt cx="1071658" cy="205655"/>
          </a:xfrm>
        </p:grpSpPr>
        <p:sp>
          <p:nvSpPr>
            <p:cNvPr id="14" name="Rectangle 4123">
              <a:extLst>
                <a:ext uri="{FF2B5EF4-FFF2-40B4-BE49-F238E27FC236}">
                  <a16:creationId xmlns:a16="http://schemas.microsoft.com/office/drawing/2014/main" id="{ECCD7FEF-19E0-2E0C-65FB-2CBFD95D46E2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DIM_AGRP_CONTABLE</a:t>
              </a:r>
            </a:p>
          </p:txBody>
        </p:sp>
        <p:pic>
          <p:nvPicPr>
            <p:cNvPr id="16" name="Graphic 23" descr="Amazon Redshift service icon.">
              <a:extLst>
                <a:ext uri="{FF2B5EF4-FFF2-40B4-BE49-F238E27FC236}">
                  <a16:creationId xmlns:a16="http://schemas.microsoft.com/office/drawing/2014/main" id="{2F3E0F9B-5E0C-DB8D-C0A9-954384E310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Left Brace 28">
            <a:extLst>
              <a:ext uri="{FF2B5EF4-FFF2-40B4-BE49-F238E27FC236}">
                <a16:creationId xmlns:a16="http://schemas.microsoft.com/office/drawing/2014/main" id="{E62C13E8-16DA-A1D2-17C6-079815A2872B}"/>
              </a:ext>
            </a:extLst>
          </p:cNvPr>
          <p:cNvSpPr/>
          <p:nvPr/>
        </p:nvSpPr>
        <p:spPr>
          <a:xfrm rot="16200000">
            <a:off x="6291707" y="1740019"/>
            <a:ext cx="154195" cy="158204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21" name="Group 4146">
            <a:extLst>
              <a:ext uri="{FF2B5EF4-FFF2-40B4-BE49-F238E27FC236}">
                <a16:creationId xmlns:a16="http://schemas.microsoft.com/office/drawing/2014/main" id="{F12A2504-6900-5819-8CCA-169AFB5BBB50}"/>
              </a:ext>
            </a:extLst>
          </p:cNvPr>
          <p:cNvGrpSpPr/>
          <p:nvPr/>
        </p:nvGrpSpPr>
        <p:grpSpPr>
          <a:xfrm>
            <a:off x="5850156" y="3415864"/>
            <a:ext cx="969407" cy="344089"/>
            <a:chOff x="7927962" y="2476770"/>
            <a:chExt cx="969407" cy="344089"/>
          </a:xfrm>
        </p:grpSpPr>
        <p:pic>
          <p:nvPicPr>
            <p:cNvPr id="25" name="Graphic 4144" descr="AWS Glue Data Quality resource icon for the AWS Glue service.">
              <a:extLst>
                <a:ext uri="{FF2B5EF4-FFF2-40B4-BE49-F238E27FC236}">
                  <a16:creationId xmlns:a16="http://schemas.microsoft.com/office/drawing/2014/main" id="{0938B2A0-F563-984E-95DC-7BB2A298B2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927962" y="2488894"/>
              <a:ext cx="272358" cy="272358"/>
            </a:xfrm>
            <a:prstGeom prst="rect">
              <a:avLst/>
            </a:prstGeom>
          </p:spPr>
        </p:pic>
        <p:sp>
          <p:nvSpPr>
            <p:cNvPr id="26" name="TextBox 24">
              <a:extLst>
                <a:ext uri="{FF2B5EF4-FFF2-40B4-BE49-F238E27FC236}">
                  <a16:creationId xmlns:a16="http://schemas.microsoft.com/office/drawing/2014/main" id="{28423311-2BBD-CBD1-119D-01A2A786E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3752" y="2476770"/>
              <a:ext cx="823617" cy="344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 dirty="0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 Data Quality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A6628221-C378-5709-D0AF-64C0F822613E}"/>
              </a:ext>
            </a:extLst>
          </p:cNvPr>
          <p:cNvGrpSpPr/>
          <p:nvPr/>
        </p:nvGrpSpPr>
        <p:grpSpPr>
          <a:xfrm>
            <a:off x="6623997" y="1535600"/>
            <a:ext cx="1350437" cy="238014"/>
            <a:chOff x="5636499" y="1571172"/>
            <a:chExt cx="1071658" cy="205655"/>
          </a:xfrm>
        </p:grpSpPr>
        <p:sp>
          <p:nvSpPr>
            <p:cNvPr id="28" name="Rectangle 4123">
              <a:extLst>
                <a:ext uri="{FF2B5EF4-FFF2-40B4-BE49-F238E27FC236}">
                  <a16:creationId xmlns:a16="http://schemas.microsoft.com/office/drawing/2014/main" id="{DDA4F2D0-8711-B688-6E25-0F2C85C32C4B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DIM_SOCIEDAD</a:t>
              </a:r>
            </a:p>
          </p:txBody>
        </p:sp>
        <p:pic>
          <p:nvPicPr>
            <p:cNvPr id="30" name="Graphic 23" descr="Amazon Redshift service icon.">
              <a:extLst>
                <a:ext uri="{FF2B5EF4-FFF2-40B4-BE49-F238E27FC236}">
                  <a16:creationId xmlns:a16="http://schemas.microsoft.com/office/drawing/2014/main" id="{C3F53274-BF5C-68B2-1C26-2A340EA791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9A7B7DA4-1541-1D8D-BEF2-59D6C6EF801E}"/>
              </a:ext>
            </a:extLst>
          </p:cNvPr>
          <p:cNvGrpSpPr/>
          <p:nvPr/>
        </p:nvGrpSpPr>
        <p:grpSpPr>
          <a:xfrm>
            <a:off x="5190838" y="1837898"/>
            <a:ext cx="1330551" cy="242989"/>
            <a:chOff x="5636499" y="1571172"/>
            <a:chExt cx="1071658" cy="205655"/>
          </a:xfrm>
        </p:grpSpPr>
        <p:sp>
          <p:nvSpPr>
            <p:cNvPr id="33" name="Rectangle 4123">
              <a:extLst>
                <a:ext uri="{FF2B5EF4-FFF2-40B4-BE49-F238E27FC236}">
                  <a16:creationId xmlns:a16="http://schemas.microsoft.com/office/drawing/2014/main" id="{482D818C-436B-4267-BC9E-2C9F21223D03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DIM_TIPO_CUENTA_CTB</a:t>
              </a:r>
            </a:p>
          </p:txBody>
        </p:sp>
        <p:pic>
          <p:nvPicPr>
            <p:cNvPr id="34" name="Graphic 23" descr="Amazon Redshift service icon.">
              <a:extLst>
                <a:ext uri="{FF2B5EF4-FFF2-40B4-BE49-F238E27FC236}">
                  <a16:creationId xmlns:a16="http://schemas.microsoft.com/office/drawing/2014/main" id="{C74D6B6F-C7A2-D7DB-B603-9625D43232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008D687-93B9-7368-14A5-952DD783BDCB}"/>
              </a:ext>
            </a:extLst>
          </p:cNvPr>
          <p:cNvGrpSpPr/>
          <p:nvPr/>
        </p:nvGrpSpPr>
        <p:grpSpPr>
          <a:xfrm>
            <a:off x="6649710" y="1835115"/>
            <a:ext cx="1324725" cy="286959"/>
            <a:chOff x="5636499" y="1571172"/>
            <a:chExt cx="1071658" cy="205655"/>
          </a:xfrm>
        </p:grpSpPr>
        <p:sp>
          <p:nvSpPr>
            <p:cNvPr id="40" name="Rectangle 4123">
              <a:extLst>
                <a:ext uri="{FF2B5EF4-FFF2-40B4-BE49-F238E27FC236}">
                  <a16:creationId xmlns:a16="http://schemas.microsoft.com/office/drawing/2014/main" id="{A0ACD2A1-93AF-BD44-99B4-46237739A166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DIM_CUENTA_CONT_IFRS</a:t>
              </a:r>
            </a:p>
          </p:txBody>
        </p:sp>
        <p:pic>
          <p:nvPicPr>
            <p:cNvPr id="41" name="Graphic 23" descr="Amazon Redshift service icon.">
              <a:extLst>
                <a:ext uri="{FF2B5EF4-FFF2-40B4-BE49-F238E27FC236}">
                  <a16:creationId xmlns:a16="http://schemas.microsoft.com/office/drawing/2014/main" id="{FDF2DA11-DAC6-F167-272A-79E4728D99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FEC4B128-E7DC-8D39-18C2-57DEF63A8EBE}"/>
              </a:ext>
            </a:extLst>
          </p:cNvPr>
          <p:cNvGrpSpPr/>
          <p:nvPr/>
        </p:nvGrpSpPr>
        <p:grpSpPr>
          <a:xfrm>
            <a:off x="5801596" y="2190674"/>
            <a:ext cx="1350437" cy="238014"/>
            <a:chOff x="5636499" y="1571172"/>
            <a:chExt cx="1071658" cy="205655"/>
          </a:xfrm>
        </p:grpSpPr>
        <p:sp>
          <p:nvSpPr>
            <p:cNvPr id="43" name="Rectangle 4123">
              <a:extLst>
                <a:ext uri="{FF2B5EF4-FFF2-40B4-BE49-F238E27FC236}">
                  <a16:creationId xmlns:a16="http://schemas.microsoft.com/office/drawing/2014/main" id="{0611B994-CC29-CA93-6083-288E557ACD8D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DIM_MONEDA</a:t>
              </a:r>
            </a:p>
          </p:txBody>
        </p:sp>
        <p:pic>
          <p:nvPicPr>
            <p:cNvPr id="44" name="Graphic 23" descr="Amazon Redshift service icon.">
              <a:extLst>
                <a:ext uri="{FF2B5EF4-FFF2-40B4-BE49-F238E27FC236}">
                  <a16:creationId xmlns:a16="http://schemas.microsoft.com/office/drawing/2014/main" id="{A3DC9E55-4591-F514-6949-B8C81D554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6" name="Picture 1372">
            <a:extLst>
              <a:ext uri="{FF2B5EF4-FFF2-40B4-BE49-F238E27FC236}">
                <a16:creationId xmlns:a16="http://schemas.microsoft.com/office/drawing/2014/main" id="{AD2E323E-C766-3DD2-ACEF-8B94849DE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72377" y="381568"/>
            <a:ext cx="2167395" cy="779986"/>
          </a:xfrm>
          <a:prstGeom prst="rect">
            <a:avLst/>
          </a:prstGeom>
        </p:spPr>
      </p:pic>
      <p:sp>
        <p:nvSpPr>
          <p:cNvPr id="50" name="Rectangle 1373">
            <a:extLst>
              <a:ext uri="{FF2B5EF4-FFF2-40B4-BE49-F238E27FC236}">
                <a16:creationId xmlns:a16="http://schemas.microsoft.com/office/drawing/2014/main" id="{E4154C2E-4500-EF55-05AA-1B287D9ABF41}"/>
              </a:ext>
            </a:extLst>
          </p:cNvPr>
          <p:cNvSpPr/>
          <p:nvPr/>
        </p:nvSpPr>
        <p:spPr bwMode="auto">
          <a:xfrm>
            <a:off x="9946510" y="642640"/>
            <a:ext cx="349634" cy="321588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</p:spPr>
        <p:txBody>
          <a:bodyPr wrap="none" rtlCol="0" anchor="ctr">
            <a:noAutofit/>
          </a:bodyPr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8578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4="http://schemas.microsoft.com/office/powerpoint/2010/main" xmlns:p15="http://schemas.microsoft.com/office/powerpoint/2012/main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A131-8171-C03E-3BE0-3CFF2E3B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9E51E733-3FE7-B531-03BC-E215039CED1A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5A2714-902D-7661-B2AA-E5BF5A5365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 dirty="0">
                <a:solidFill>
                  <a:srgbClr val="002569"/>
                </a:solidFill>
                <a:latin typeface="Segoe UI Light"/>
              </a:rPr>
              <a:t>Diseño Técnico</a:t>
            </a:r>
            <a:endParaRPr kumimoji="0" lang="es-ES" sz="2133" b="1" i="0" u="none" strike="noStrike" kern="0" cap="none" spc="0" normalizeH="0" baseline="0" noProof="0" dirty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E0D399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Flujo Aprovisionamiento Agrupador Contable</a:t>
            </a: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59" name="Rectangle: Rounded Corners 1458">
            <a:extLst>
              <a:ext uri="{FF2B5EF4-FFF2-40B4-BE49-F238E27FC236}">
                <a16:creationId xmlns:a16="http://schemas.microsoft.com/office/drawing/2014/main" id="{FE89375D-20AF-B490-1625-1B58FC3BB920}"/>
              </a:ext>
            </a:extLst>
          </p:cNvPr>
          <p:cNvSpPr/>
          <p:nvPr/>
        </p:nvSpPr>
        <p:spPr bwMode="auto">
          <a:xfrm>
            <a:off x="3203141" y="2658992"/>
            <a:ext cx="769446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Extracción</a:t>
            </a:r>
          </a:p>
        </p:txBody>
      </p:sp>
      <p:sp>
        <p:nvSpPr>
          <p:cNvPr id="4105" name="Rectangle: Rounded Corners 4104">
            <a:extLst>
              <a:ext uri="{FF2B5EF4-FFF2-40B4-BE49-F238E27FC236}">
                <a16:creationId xmlns:a16="http://schemas.microsoft.com/office/drawing/2014/main" id="{DACF91B9-2385-6710-299A-F64D5B298C17}"/>
              </a:ext>
            </a:extLst>
          </p:cNvPr>
          <p:cNvSpPr/>
          <p:nvPr/>
        </p:nvSpPr>
        <p:spPr bwMode="auto">
          <a:xfrm>
            <a:off x="3984628" y="2658992"/>
            <a:ext cx="1015091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Homologación</a:t>
            </a:r>
          </a:p>
        </p:txBody>
      </p: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BBBF8A7A-E5BF-E946-3283-9952F414DC9E}"/>
              </a:ext>
            </a:extLst>
          </p:cNvPr>
          <p:cNvSpPr/>
          <p:nvPr/>
        </p:nvSpPr>
        <p:spPr bwMode="auto">
          <a:xfrm>
            <a:off x="8521664" y="2957379"/>
            <a:ext cx="1188000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700" b="1" dirty="0">
                <a:latin typeface="Arial" pitchFamily="34" charset="0"/>
                <a:cs typeface="Arial" pitchFamily="34" charset="0"/>
              </a:rPr>
              <a:t>DIM_AGRP_CONTABLE</a:t>
            </a:r>
          </a:p>
        </p:txBody>
      </p:sp>
      <p:pic>
        <p:nvPicPr>
          <p:cNvPr id="4125" name="Graphic 23" descr="Amazon Redshift service icon.">
            <a:extLst>
              <a:ext uri="{FF2B5EF4-FFF2-40B4-BE49-F238E27FC236}">
                <a16:creationId xmlns:a16="http://schemas.microsoft.com/office/drawing/2014/main" id="{FA2EB98A-7F12-172A-15F7-6C023A41FDA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9681427" y="3010613"/>
            <a:ext cx="217766" cy="21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758609E8-CB90-D528-0A94-49A37BA64AEC}"/>
              </a:ext>
            </a:extLst>
          </p:cNvPr>
          <p:cNvGrpSpPr/>
          <p:nvPr/>
        </p:nvGrpSpPr>
        <p:grpSpPr>
          <a:xfrm>
            <a:off x="3426855" y="3561743"/>
            <a:ext cx="962930" cy="283618"/>
            <a:chOff x="2127933" y="3933232"/>
            <a:chExt cx="962930" cy="283618"/>
          </a:xfrm>
        </p:grpSpPr>
        <p:pic>
          <p:nvPicPr>
            <p:cNvPr id="4152" name="Graphic 6" descr="AWS Glue service icon.">
              <a:extLst>
                <a:ext uri="{FF2B5EF4-FFF2-40B4-BE49-F238E27FC236}">
                  <a16:creationId xmlns:a16="http://schemas.microsoft.com/office/drawing/2014/main" id="{B937B9BA-9BBC-DB01-6641-E44D2E5766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53" name="TextBox 10">
              <a:extLst>
                <a:ext uri="{FF2B5EF4-FFF2-40B4-BE49-F238E27FC236}">
                  <a16:creationId xmlns:a16="http://schemas.microsoft.com/office/drawing/2014/main" id="{32B7F6E4-10D7-AE6A-AB57-CD07132C3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F81FD783-D5E0-A9B3-BB04-33D4A81E4E32}"/>
              </a:ext>
            </a:extLst>
          </p:cNvPr>
          <p:cNvGrpSpPr/>
          <p:nvPr/>
        </p:nvGrpSpPr>
        <p:grpSpPr>
          <a:xfrm>
            <a:off x="1004868" y="894221"/>
            <a:ext cx="830910" cy="4946167"/>
            <a:chOff x="1219056" y="1186829"/>
            <a:chExt cx="830910" cy="4946167"/>
          </a:xfrm>
        </p:grpSpPr>
        <p:sp>
          <p:nvSpPr>
            <p:cNvPr id="1442" name="Rectangle 1441">
              <a:extLst>
                <a:ext uri="{FF2B5EF4-FFF2-40B4-BE49-F238E27FC236}">
                  <a16:creationId xmlns:a16="http://schemas.microsoft.com/office/drawing/2014/main" id="{D10EBD7A-5E1D-4C72-8834-B6F56EC0A060}"/>
                </a:ext>
              </a:extLst>
            </p:cNvPr>
            <p:cNvSpPr/>
            <p:nvPr/>
          </p:nvSpPr>
          <p:spPr bwMode="auto">
            <a:xfrm>
              <a:off x="1337243" y="1186829"/>
              <a:ext cx="588467" cy="4946167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n-US" altLang="en-US" sz="800" b="1">
                <a:latin typeface="Arial" pitchFamily="34" charset="0"/>
                <a:ea typeface="Amazon Ember" panose="020B0603020204020204" pitchFamily="34" charset="0"/>
                <a:cs typeface="Arial" pitchFamily="34" charset="0"/>
              </a:endParaRPr>
            </a:p>
          </p:txBody>
        </p:sp>
        <p:pic>
          <p:nvPicPr>
            <p:cNvPr id="1447" name="Graphic 1446" descr="AWS Glue Data Catalog resource icon for the AWS Glue service.">
              <a:extLst>
                <a:ext uri="{FF2B5EF4-FFF2-40B4-BE49-F238E27FC236}">
                  <a16:creationId xmlns:a16="http://schemas.microsoft.com/office/drawing/2014/main" id="{EC3B7034-6E4C-63E8-4C54-3B697FF15E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2368" y="3629186"/>
              <a:ext cx="383843" cy="421601"/>
            </a:xfrm>
            <a:prstGeom prst="rect">
              <a:avLst/>
            </a:prstGeom>
          </p:spPr>
        </p:pic>
        <p:pic>
          <p:nvPicPr>
            <p:cNvPr id="1027" name="Graphic 14" descr="Amazon Athena service icon.">
              <a:extLst>
                <a:ext uri="{FF2B5EF4-FFF2-40B4-BE49-F238E27FC236}">
                  <a16:creationId xmlns:a16="http://schemas.microsoft.com/office/drawing/2014/main" id="{EFE5A9FB-55E7-C991-5CAC-23AA7D7276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auto">
            <a:xfrm>
              <a:off x="1493647" y="2220260"/>
              <a:ext cx="294763" cy="29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" name="TextBox 17">
              <a:extLst>
                <a:ext uri="{FF2B5EF4-FFF2-40B4-BE49-F238E27FC236}">
                  <a16:creationId xmlns:a16="http://schemas.microsoft.com/office/drawing/2014/main" id="{4980314C-2D4E-09A2-77FA-E91FBBAD0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056" y="2599091"/>
              <a:ext cx="83091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Amazon Athena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3115730D-250C-74FC-B441-3C8BB5CCB898}"/>
                </a:ext>
              </a:extLst>
            </p:cNvPr>
            <p:cNvSpPr txBox="1"/>
            <p:nvPr/>
          </p:nvSpPr>
          <p:spPr>
            <a:xfrm>
              <a:off x="1260233" y="4090807"/>
              <a:ext cx="7580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Glue</a:t>
              </a:r>
              <a:br>
                <a:rPr lang="en-US" altLang="en-US"/>
              </a:br>
              <a:r>
                <a:rPr lang="en-US" altLang="en-US"/>
                <a:t>Data Catalog</a:t>
              </a:r>
            </a:p>
          </p:txBody>
        </p:sp>
      </p:grpSp>
      <p:grpSp>
        <p:nvGrpSpPr>
          <p:cNvPr id="9242" name="Group 9241">
            <a:extLst>
              <a:ext uri="{FF2B5EF4-FFF2-40B4-BE49-F238E27FC236}">
                <a16:creationId xmlns:a16="http://schemas.microsoft.com/office/drawing/2014/main" id="{774983D8-9232-6C31-FCA9-AC46A1A0D9D8}"/>
              </a:ext>
            </a:extLst>
          </p:cNvPr>
          <p:cNvGrpSpPr/>
          <p:nvPr/>
        </p:nvGrpSpPr>
        <p:grpSpPr>
          <a:xfrm>
            <a:off x="1784281" y="5953750"/>
            <a:ext cx="10080000" cy="261610"/>
            <a:chOff x="1784281" y="5889742"/>
            <a:chExt cx="10080000" cy="261610"/>
          </a:xfrm>
        </p:grpSpPr>
        <p:sp>
          <p:nvSpPr>
            <p:cNvPr id="4144" name="Arrow: Pentagon 4143">
              <a:extLst>
                <a:ext uri="{FF2B5EF4-FFF2-40B4-BE49-F238E27FC236}">
                  <a16:creationId xmlns:a16="http://schemas.microsoft.com/office/drawing/2014/main" id="{F58924BC-FD8B-3558-72EF-2C8BA1F88489}"/>
                </a:ext>
              </a:extLst>
            </p:cNvPr>
            <p:cNvSpPr/>
            <p:nvPr/>
          </p:nvSpPr>
          <p:spPr bwMode="auto">
            <a:xfrm>
              <a:off x="1784281" y="5925328"/>
              <a:ext cx="10080000" cy="211458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9DE26BF6-2ABE-6138-36A6-20055BC6C7F6}"/>
                </a:ext>
              </a:extLst>
            </p:cNvPr>
            <p:cNvSpPr txBox="1"/>
            <p:nvPr/>
          </p:nvSpPr>
          <p:spPr>
            <a:xfrm>
              <a:off x="3159412" y="5889742"/>
              <a:ext cx="84496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1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Pipeline único, la particularidades de cada sistema se gestionan mediante ficheros de configuración.</a:t>
              </a:r>
            </a:p>
          </p:txBody>
        </p: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8258C74B-1E0A-A656-EB1E-28103159EC2B}"/>
              </a:ext>
            </a:extLst>
          </p:cNvPr>
          <p:cNvSpPr txBox="1"/>
          <p:nvPr/>
        </p:nvSpPr>
        <p:spPr>
          <a:xfrm>
            <a:off x="2870089" y="4069104"/>
            <a:ext cx="2383028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 b="1" dirty="0">
                <a:latin typeface="Arial" pitchFamily="34" charset="0"/>
                <a:cs typeface="Arial" pitchFamily="34" charset="0"/>
              </a:rPr>
              <a:t>La configuración del Pipeline se realiza en un fichero de configuración </a:t>
            </a:r>
            <a:r>
              <a:rPr lang="es-ES_tradnl" sz="800" b="1" dirty="0" err="1">
                <a:latin typeface="Arial" pitchFamily="34" charset="0"/>
                <a:cs typeface="Arial" pitchFamily="34" charset="0"/>
              </a:rPr>
              <a:t>json</a:t>
            </a:r>
            <a:r>
              <a:rPr lang="es-ES_tradnl" sz="800" b="1" dirty="0">
                <a:latin typeface="Arial" pitchFamily="34" charset="0"/>
                <a:cs typeface="Arial" pitchFamily="34" charset="0"/>
              </a:rPr>
              <a:t> que tiene las especificidades.</a:t>
            </a:r>
          </a:p>
        </p:txBody>
      </p:sp>
      <p:sp>
        <p:nvSpPr>
          <p:cNvPr id="1076" name="Arrow: Up 1075">
            <a:extLst>
              <a:ext uri="{FF2B5EF4-FFF2-40B4-BE49-F238E27FC236}">
                <a16:creationId xmlns:a16="http://schemas.microsoft.com/office/drawing/2014/main" id="{311878BE-DA7E-1250-DB02-579EAB3C699A}"/>
              </a:ext>
            </a:extLst>
          </p:cNvPr>
          <p:cNvSpPr/>
          <p:nvPr/>
        </p:nvSpPr>
        <p:spPr bwMode="auto">
          <a:xfrm rot="5400000">
            <a:off x="8278454" y="3020319"/>
            <a:ext cx="215788" cy="143489"/>
          </a:xfrm>
          <a:prstGeom prst="upArrow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ctr"/>
            <a:endParaRPr lang="es-ES_tradnl"/>
          </a:p>
        </p:txBody>
      </p:sp>
      <p:sp>
        <p:nvSpPr>
          <p:cNvPr id="5131" name="Rectangle: Rounded Corners 5130">
            <a:extLst>
              <a:ext uri="{FF2B5EF4-FFF2-40B4-BE49-F238E27FC236}">
                <a16:creationId xmlns:a16="http://schemas.microsoft.com/office/drawing/2014/main" id="{DC533551-21A0-D597-AAC0-826F33B9855D}"/>
              </a:ext>
            </a:extLst>
          </p:cNvPr>
          <p:cNvSpPr/>
          <p:nvPr/>
        </p:nvSpPr>
        <p:spPr bwMode="auto">
          <a:xfrm>
            <a:off x="7666931" y="2715855"/>
            <a:ext cx="580846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Act.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BBDD</a:t>
            </a:r>
          </a:p>
        </p:txBody>
      </p:sp>
      <p:sp>
        <p:nvSpPr>
          <p:cNvPr id="5135" name="Rectangle: Rounded Corners 5134">
            <a:extLst>
              <a:ext uri="{FF2B5EF4-FFF2-40B4-BE49-F238E27FC236}">
                <a16:creationId xmlns:a16="http://schemas.microsoft.com/office/drawing/2014/main" id="{8AEF1B90-3A25-2AA5-83A2-D2DC52D65439}"/>
              </a:ext>
            </a:extLst>
          </p:cNvPr>
          <p:cNvSpPr/>
          <p:nvPr/>
        </p:nvSpPr>
        <p:spPr bwMode="auto">
          <a:xfrm>
            <a:off x="10095917" y="4054272"/>
            <a:ext cx="849057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Limpieza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Temporales</a:t>
            </a:r>
          </a:p>
        </p:txBody>
      </p:sp>
      <p:cxnSp>
        <p:nvCxnSpPr>
          <p:cNvPr id="5136" name="Connector: Elbow 5135">
            <a:extLst>
              <a:ext uri="{FF2B5EF4-FFF2-40B4-BE49-F238E27FC236}">
                <a16:creationId xmlns:a16="http://schemas.microsoft.com/office/drawing/2014/main" id="{E6F45B89-6887-1E54-372F-655845FB89D9}"/>
              </a:ext>
            </a:extLst>
          </p:cNvPr>
          <p:cNvCxnSpPr>
            <a:stCxn id="5131" idx="2"/>
            <a:endCxn id="9221" idx="1"/>
          </p:cNvCxnSpPr>
          <p:nvPr/>
        </p:nvCxnSpPr>
        <p:spPr bwMode="auto">
          <a:xfrm rot="16200000" flipH="1">
            <a:off x="8143804" y="3191323"/>
            <a:ext cx="995542" cy="136844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153" name="Group 5152">
            <a:extLst>
              <a:ext uri="{FF2B5EF4-FFF2-40B4-BE49-F238E27FC236}">
                <a16:creationId xmlns:a16="http://schemas.microsoft.com/office/drawing/2014/main" id="{B2E97812-67B8-64E6-A3B2-A8F709DF168D}"/>
              </a:ext>
            </a:extLst>
          </p:cNvPr>
          <p:cNvGrpSpPr/>
          <p:nvPr/>
        </p:nvGrpSpPr>
        <p:grpSpPr>
          <a:xfrm>
            <a:off x="4428259" y="3532366"/>
            <a:ext cx="576960" cy="428487"/>
            <a:chOff x="3743069" y="3921688"/>
            <a:chExt cx="637630" cy="463623"/>
          </a:xfrm>
        </p:grpSpPr>
        <p:pic>
          <p:nvPicPr>
            <p:cNvPr id="5148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AA1E3883-FC00-EC4A-5406-EEF9E4AF33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52" name="TextBox 5151">
              <a:extLst>
                <a:ext uri="{FF2B5EF4-FFF2-40B4-BE49-F238E27FC236}">
                  <a16:creationId xmlns:a16="http://schemas.microsoft.com/office/drawing/2014/main" id="{9655A4D8-4A07-C88F-1856-AAD2FE3EBB6D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AWS S3</a:t>
              </a:r>
              <a:endParaRPr lang="es-ES_tradnl" dirty="0"/>
            </a:p>
          </p:txBody>
        </p:sp>
      </p:grpSp>
      <p:sp>
        <p:nvSpPr>
          <p:cNvPr id="9221" name="Rectangle: Rounded Corners 9220">
            <a:extLst>
              <a:ext uri="{FF2B5EF4-FFF2-40B4-BE49-F238E27FC236}">
                <a16:creationId xmlns:a16="http://schemas.microsoft.com/office/drawing/2014/main" id="{66D975CE-A9B5-E9EC-407D-7950FC0D10CF}"/>
              </a:ext>
            </a:extLst>
          </p:cNvPr>
          <p:cNvSpPr/>
          <p:nvPr/>
        </p:nvSpPr>
        <p:spPr bwMode="auto">
          <a:xfrm>
            <a:off x="9325797" y="4054272"/>
            <a:ext cx="730728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Control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Registros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7C31DE49-D8FC-575A-6B7A-61BFE7F9B9EF}"/>
              </a:ext>
            </a:extLst>
          </p:cNvPr>
          <p:cNvGrpSpPr/>
          <p:nvPr/>
        </p:nvGrpSpPr>
        <p:grpSpPr>
          <a:xfrm>
            <a:off x="9301160" y="4739847"/>
            <a:ext cx="844780" cy="413230"/>
            <a:chOff x="6400561" y="3384947"/>
            <a:chExt cx="844780" cy="413230"/>
          </a:xfrm>
        </p:grpSpPr>
        <p:pic>
          <p:nvPicPr>
            <p:cNvPr id="9225" name="lambda" descr="Lambda service icon.">
              <a:extLst>
                <a:ext uri="{FF2B5EF4-FFF2-40B4-BE49-F238E27FC236}">
                  <a16:creationId xmlns:a16="http://schemas.microsoft.com/office/drawing/2014/main" id="{17FC17EF-2385-B093-FF9C-F852D278D2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 bwMode="auto">
            <a:xfrm>
              <a:off x="6686988" y="3384947"/>
              <a:ext cx="224346" cy="224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6" name="label5">
              <a:extLst>
                <a:ext uri="{FF2B5EF4-FFF2-40B4-BE49-F238E27FC236}">
                  <a16:creationId xmlns:a16="http://schemas.microsoft.com/office/drawing/2014/main" id="{FB7CCC71-3D32-6DE6-6D27-A65228AB4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561" y="3582733"/>
              <a:ext cx="8447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Lambda</a:t>
              </a:r>
            </a:p>
          </p:txBody>
        </p:sp>
      </p:grpSp>
      <p:grpSp>
        <p:nvGrpSpPr>
          <p:cNvPr id="9232" name="Group 9231">
            <a:extLst>
              <a:ext uri="{FF2B5EF4-FFF2-40B4-BE49-F238E27FC236}">
                <a16:creationId xmlns:a16="http://schemas.microsoft.com/office/drawing/2014/main" id="{D5C1F0B0-8255-348C-5229-A142DDD733C8}"/>
              </a:ext>
            </a:extLst>
          </p:cNvPr>
          <p:cNvGrpSpPr/>
          <p:nvPr/>
        </p:nvGrpSpPr>
        <p:grpSpPr>
          <a:xfrm>
            <a:off x="9302892" y="5181308"/>
            <a:ext cx="841315" cy="468855"/>
            <a:chOff x="7754896" y="3062065"/>
            <a:chExt cx="841315" cy="468855"/>
          </a:xfrm>
        </p:grpSpPr>
        <p:pic>
          <p:nvPicPr>
            <p:cNvPr id="9230" name="Graphic 23" descr="Amazon DynamoDB service icon.">
              <a:extLst>
                <a:ext uri="{FF2B5EF4-FFF2-40B4-BE49-F238E27FC236}">
                  <a16:creationId xmlns:a16="http://schemas.microsoft.com/office/drawing/2014/main" id="{001F2223-AF89-25C8-0A83-C91A12C660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 bwMode="auto">
            <a:xfrm>
              <a:off x="8030391" y="3062065"/>
              <a:ext cx="253411" cy="253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Box 12">
              <a:extLst>
                <a:ext uri="{FF2B5EF4-FFF2-40B4-BE49-F238E27FC236}">
                  <a16:creationId xmlns:a16="http://schemas.microsoft.com/office/drawing/2014/main" id="{7979FDF7-7B97-8865-0E61-67FA2DC0C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4896" y="3315476"/>
              <a:ext cx="84131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DynamoDB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F5E244C-132A-9E4E-D0B6-B15E7CB55A2D}"/>
              </a:ext>
            </a:extLst>
          </p:cNvPr>
          <p:cNvGrpSpPr/>
          <p:nvPr/>
        </p:nvGrpSpPr>
        <p:grpSpPr>
          <a:xfrm>
            <a:off x="4813220" y="6304019"/>
            <a:ext cx="1192822" cy="378105"/>
            <a:chOff x="835051" y="1350653"/>
            <a:chExt cx="1192822" cy="378105"/>
          </a:xfrm>
        </p:grpSpPr>
        <p:pic>
          <p:nvPicPr>
            <p:cNvPr id="4" name="Graphic 17" descr="AWS Step Functions service icon.">
              <a:extLst>
                <a:ext uri="{FF2B5EF4-FFF2-40B4-BE49-F238E27FC236}">
                  <a16:creationId xmlns:a16="http://schemas.microsoft.com/office/drawing/2014/main" id="{07BE147C-0D02-A9A3-7982-10199EF359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 bwMode="auto">
            <a:xfrm>
              <a:off x="835051" y="1350653"/>
              <a:ext cx="378105" cy="378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504E0986-8B4A-21A4-C381-463F2BB52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03" y="1390204"/>
              <a:ext cx="10037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Step Functions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81A7C69-75DE-2021-F99B-A66DD07F0587}"/>
              </a:ext>
            </a:extLst>
          </p:cNvPr>
          <p:cNvGrpSpPr/>
          <p:nvPr/>
        </p:nvGrpSpPr>
        <p:grpSpPr>
          <a:xfrm>
            <a:off x="7591321" y="6276861"/>
            <a:ext cx="576960" cy="428487"/>
            <a:chOff x="3743069" y="3921688"/>
            <a:chExt cx="637630" cy="463623"/>
          </a:xfrm>
        </p:grpSpPr>
        <p:pic>
          <p:nvPicPr>
            <p:cNvPr id="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9692ECC7-84CA-ADCC-7126-07AEF651C7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FF05B9-C5DB-86D4-66B0-9C8DB76CD1DA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S3</a:t>
              </a:r>
              <a:endParaRPr lang="es-ES_tradnl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42BAA0-4F15-6927-480D-E3A30941DE97}"/>
              </a:ext>
            </a:extLst>
          </p:cNvPr>
          <p:cNvGrpSpPr/>
          <p:nvPr/>
        </p:nvGrpSpPr>
        <p:grpSpPr>
          <a:xfrm>
            <a:off x="6251391" y="6314297"/>
            <a:ext cx="962930" cy="283618"/>
            <a:chOff x="2127933" y="3933232"/>
            <a:chExt cx="962930" cy="283618"/>
          </a:xfrm>
        </p:grpSpPr>
        <p:pic>
          <p:nvPicPr>
            <p:cNvPr id="19" name="Graphic 6" descr="AWS Glue service icon.">
              <a:extLst>
                <a:ext uri="{FF2B5EF4-FFF2-40B4-BE49-F238E27FC236}">
                  <a16:creationId xmlns:a16="http://schemas.microsoft.com/office/drawing/2014/main" id="{D2F311C1-5E9A-74F3-C2FD-49C5D59C93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F78198F5-514D-9BC1-C0A4-A1163C9D2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76C2AFE9-7619-93E5-FE22-B9FF070CD2D8}"/>
              </a:ext>
            </a:extLst>
          </p:cNvPr>
          <p:cNvSpPr/>
          <p:nvPr/>
        </p:nvSpPr>
        <p:spPr>
          <a:xfrm rot="16200000">
            <a:off x="6730231" y="745584"/>
            <a:ext cx="299553" cy="101388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B53756-45E9-A9F3-7EAB-997C0F1E1AA9}"/>
              </a:ext>
            </a:extLst>
          </p:cNvPr>
          <p:cNvSpPr txBox="1"/>
          <p:nvPr/>
        </p:nvSpPr>
        <p:spPr>
          <a:xfrm>
            <a:off x="8485963" y="6492920"/>
            <a:ext cx="2383028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>
                <a:latin typeface="Arial" pitchFamily="34" charset="0"/>
                <a:cs typeface="Arial" pitchFamily="34" charset="0"/>
              </a:rPr>
              <a:t>* Los aplicativos marcados en rojo son aplicativos que ya no utiliza el banco</a:t>
            </a:r>
          </a:p>
        </p:txBody>
      </p:sp>
      <p:sp>
        <p:nvSpPr>
          <p:cNvPr id="8" name="Rectangle: Rounded Corners 4122">
            <a:extLst>
              <a:ext uri="{FF2B5EF4-FFF2-40B4-BE49-F238E27FC236}">
                <a16:creationId xmlns:a16="http://schemas.microsoft.com/office/drawing/2014/main" id="{747765CD-8BCD-0BA7-D250-BB71A03E759F}"/>
              </a:ext>
            </a:extLst>
          </p:cNvPr>
          <p:cNvSpPr/>
          <p:nvPr/>
        </p:nvSpPr>
        <p:spPr bwMode="auto">
          <a:xfrm>
            <a:off x="6797026" y="2712411"/>
            <a:ext cx="706228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Data</a:t>
            </a:r>
          </a:p>
          <a:p>
            <a:pPr algn="ctr"/>
            <a:r>
              <a:rPr lang="es-ES_tradnl" sz="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Quality</a:t>
            </a:r>
            <a:endParaRPr lang="es-ES_tradnl" sz="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43">
            <a:extLst>
              <a:ext uri="{FF2B5EF4-FFF2-40B4-BE49-F238E27FC236}">
                <a16:creationId xmlns:a16="http://schemas.microsoft.com/office/drawing/2014/main" id="{3D7FC54A-C429-D0E4-9789-10050F90988F}"/>
              </a:ext>
            </a:extLst>
          </p:cNvPr>
          <p:cNvSpPr txBox="1"/>
          <p:nvPr/>
        </p:nvSpPr>
        <p:spPr>
          <a:xfrm>
            <a:off x="6257419" y="1321249"/>
            <a:ext cx="1880786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600" b="1" dirty="0">
                <a:latin typeface="Arial" pitchFamily="34" charset="0"/>
                <a:cs typeface="Arial" pitchFamily="34" charset="0"/>
              </a:rPr>
              <a:t>Cruce de la tablas de origen con las tablas maestras para la validación de los campos correspondientes de cada dimensión.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9B2A2129-4D4A-A7F6-529A-302A3056B076}"/>
              </a:ext>
            </a:extLst>
          </p:cNvPr>
          <p:cNvGrpSpPr/>
          <p:nvPr/>
        </p:nvGrpSpPr>
        <p:grpSpPr>
          <a:xfrm>
            <a:off x="6498748" y="1791194"/>
            <a:ext cx="1344032" cy="269348"/>
            <a:chOff x="5636499" y="1571172"/>
            <a:chExt cx="1071658" cy="205655"/>
          </a:xfrm>
        </p:grpSpPr>
        <p:sp>
          <p:nvSpPr>
            <p:cNvPr id="13" name="Rectangle 4123">
              <a:extLst>
                <a:ext uri="{FF2B5EF4-FFF2-40B4-BE49-F238E27FC236}">
                  <a16:creationId xmlns:a16="http://schemas.microsoft.com/office/drawing/2014/main" id="{B0981E1A-E643-F3B3-1C08-FF8C28D48D16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DIM_CUENTA_CONT_IFRS</a:t>
              </a:r>
            </a:p>
          </p:txBody>
        </p:sp>
        <p:pic>
          <p:nvPicPr>
            <p:cNvPr id="14" name="Graphic 23" descr="Amazon Redshift service icon.">
              <a:extLst>
                <a:ext uri="{FF2B5EF4-FFF2-40B4-BE49-F238E27FC236}">
                  <a16:creationId xmlns:a16="http://schemas.microsoft.com/office/drawing/2014/main" id="{82459945-BB2D-3295-CC52-9E05DFDA7B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Left Brace 28">
            <a:extLst>
              <a:ext uri="{FF2B5EF4-FFF2-40B4-BE49-F238E27FC236}">
                <a16:creationId xmlns:a16="http://schemas.microsoft.com/office/drawing/2014/main" id="{3B72C568-46DE-E4F9-1CAF-A1780AC862BA}"/>
              </a:ext>
            </a:extLst>
          </p:cNvPr>
          <p:cNvSpPr/>
          <p:nvPr/>
        </p:nvSpPr>
        <p:spPr>
          <a:xfrm rot="16200000">
            <a:off x="7111048" y="2093845"/>
            <a:ext cx="130521" cy="994285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7" name="Group 4146">
            <a:extLst>
              <a:ext uri="{FF2B5EF4-FFF2-40B4-BE49-F238E27FC236}">
                <a16:creationId xmlns:a16="http://schemas.microsoft.com/office/drawing/2014/main" id="{1EE91C2C-9780-B6D9-F7F0-338443ADB46B}"/>
              </a:ext>
            </a:extLst>
          </p:cNvPr>
          <p:cNvGrpSpPr/>
          <p:nvPr/>
        </p:nvGrpSpPr>
        <p:grpSpPr>
          <a:xfrm>
            <a:off x="6679164" y="3487648"/>
            <a:ext cx="969407" cy="344089"/>
            <a:chOff x="7927962" y="2476770"/>
            <a:chExt cx="969407" cy="344089"/>
          </a:xfrm>
        </p:grpSpPr>
        <p:pic>
          <p:nvPicPr>
            <p:cNvPr id="21" name="Graphic 4144" descr="AWS Glue Data Quality resource icon for the AWS Glue service.">
              <a:extLst>
                <a:ext uri="{FF2B5EF4-FFF2-40B4-BE49-F238E27FC236}">
                  <a16:creationId xmlns:a16="http://schemas.microsoft.com/office/drawing/2014/main" id="{587FBA15-135F-35BD-10F2-DC5D3D341C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927962" y="2488894"/>
              <a:ext cx="272358" cy="27235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71F810-8990-8984-F43A-BE0128D0D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3752" y="2476770"/>
              <a:ext cx="823617" cy="344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 dirty="0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 Data Quality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5683CDC-F390-A1AB-7755-BABEC2A1D930}"/>
              </a:ext>
            </a:extLst>
          </p:cNvPr>
          <p:cNvGrpSpPr/>
          <p:nvPr/>
        </p:nvGrpSpPr>
        <p:grpSpPr>
          <a:xfrm>
            <a:off x="6498748" y="2162907"/>
            <a:ext cx="1344032" cy="269348"/>
            <a:chOff x="5636499" y="1571172"/>
            <a:chExt cx="1071658" cy="205655"/>
          </a:xfrm>
        </p:grpSpPr>
        <p:sp>
          <p:nvSpPr>
            <p:cNvPr id="27" name="Rectangle 4123">
              <a:extLst>
                <a:ext uri="{FF2B5EF4-FFF2-40B4-BE49-F238E27FC236}">
                  <a16:creationId xmlns:a16="http://schemas.microsoft.com/office/drawing/2014/main" id="{7988F23F-C47F-6564-F3B0-49593CF38795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DIM_TIPO_CUENTA_CTB</a:t>
              </a:r>
            </a:p>
          </p:txBody>
        </p:sp>
        <p:pic>
          <p:nvPicPr>
            <p:cNvPr id="28" name="Graphic 23" descr="Amazon Redshift service icon.">
              <a:extLst>
                <a:ext uri="{FF2B5EF4-FFF2-40B4-BE49-F238E27FC236}">
                  <a16:creationId xmlns:a16="http://schemas.microsoft.com/office/drawing/2014/main" id="{5B76E7A1-B44D-1F07-9E55-69113C5C20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4" name="Rectangle 6">
            <a:extLst>
              <a:ext uri="{FF2B5EF4-FFF2-40B4-BE49-F238E27FC236}">
                <a16:creationId xmlns:a16="http://schemas.microsoft.com/office/drawing/2014/main" id="{CDD67FB6-0E25-5011-1E82-ABBE57753329}"/>
              </a:ext>
            </a:extLst>
          </p:cNvPr>
          <p:cNvSpPr/>
          <p:nvPr/>
        </p:nvSpPr>
        <p:spPr bwMode="auto">
          <a:xfrm>
            <a:off x="71556" y="3407078"/>
            <a:ext cx="972000" cy="153888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000" b="1" dirty="0"/>
              <a:t>Fuentes IFRS</a:t>
            </a:r>
          </a:p>
        </p:txBody>
      </p:sp>
      <p:sp>
        <p:nvSpPr>
          <p:cNvPr id="40" name="Rectangle: Rounded Corners 4104">
            <a:extLst>
              <a:ext uri="{FF2B5EF4-FFF2-40B4-BE49-F238E27FC236}">
                <a16:creationId xmlns:a16="http://schemas.microsoft.com/office/drawing/2014/main" id="{77853216-BBB2-8C18-0926-E45405CFF189}"/>
              </a:ext>
            </a:extLst>
          </p:cNvPr>
          <p:cNvSpPr/>
          <p:nvPr/>
        </p:nvSpPr>
        <p:spPr bwMode="auto">
          <a:xfrm>
            <a:off x="5132350" y="2649305"/>
            <a:ext cx="1015091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Asignación por Malla</a:t>
            </a:r>
          </a:p>
        </p:txBody>
      </p:sp>
      <p:pic>
        <p:nvPicPr>
          <p:cNvPr id="44" name="Picture 1372">
            <a:extLst>
              <a:ext uri="{FF2B5EF4-FFF2-40B4-BE49-F238E27FC236}">
                <a16:creationId xmlns:a16="http://schemas.microsoft.com/office/drawing/2014/main" id="{11AA521C-5013-EF6E-224F-CB0B55902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72377" y="381568"/>
            <a:ext cx="2167395" cy="779986"/>
          </a:xfrm>
          <a:prstGeom prst="rect">
            <a:avLst/>
          </a:prstGeom>
        </p:spPr>
      </p:pic>
      <p:sp>
        <p:nvSpPr>
          <p:cNvPr id="46" name="Rectangle 1373">
            <a:extLst>
              <a:ext uri="{FF2B5EF4-FFF2-40B4-BE49-F238E27FC236}">
                <a16:creationId xmlns:a16="http://schemas.microsoft.com/office/drawing/2014/main" id="{587C08B5-F837-7F85-6DCC-629B42096DEC}"/>
              </a:ext>
            </a:extLst>
          </p:cNvPr>
          <p:cNvSpPr/>
          <p:nvPr/>
        </p:nvSpPr>
        <p:spPr bwMode="auto">
          <a:xfrm>
            <a:off x="9946510" y="642640"/>
            <a:ext cx="349634" cy="321588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</p:spPr>
        <p:txBody>
          <a:bodyPr wrap="none" rtlCol="0" anchor="ctr">
            <a:noAutofit/>
          </a:bodyPr>
          <a:lstStyle/>
          <a:p>
            <a:pPr algn="ctr"/>
            <a:endParaRPr lang="es-ES_tradnl"/>
          </a:p>
        </p:txBody>
      </p:sp>
      <p:sp>
        <p:nvSpPr>
          <p:cNvPr id="50" name="Rectangle 6">
            <a:extLst>
              <a:ext uri="{FF2B5EF4-FFF2-40B4-BE49-F238E27FC236}">
                <a16:creationId xmlns:a16="http://schemas.microsoft.com/office/drawing/2014/main" id="{86E28FAC-9E7D-C9F3-C2F4-ED3A857749E9}"/>
              </a:ext>
            </a:extLst>
          </p:cNvPr>
          <p:cNvSpPr/>
          <p:nvPr/>
        </p:nvSpPr>
        <p:spPr bwMode="auto">
          <a:xfrm>
            <a:off x="63661" y="2785352"/>
            <a:ext cx="1059394" cy="153888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PE" sz="1000" b="1" dirty="0" err="1"/>
              <a:t>t_rnt_glocuentas</a:t>
            </a:r>
            <a:endParaRPr lang="en-US" sz="1000" b="1" dirty="0"/>
          </a:p>
        </p:txBody>
      </p:sp>
      <p:sp>
        <p:nvSpPr>
          <p:cNvPr id="52" name="Left Brace 28">
            <a:extLst>
              <a:ext uri="{FF2B5EF4-FFF2-40B4-BE49-F238E27FC236}">
                <a16:creationId xmlns:a16="http://schemas.microsoft.com/office/drawing/2014/main" id="{9FE2B929-9ED6-5F33-45E9-5B3B3C85D2B9}"/>
              </a:ext>
            </a:extLst>
          </p:cNvPr>
          <p:cNvSpPr/>
          <p:nvPr/>
        </p:nvSpPr>
        <p:spPr>
          <a:xfrm rot="16200000">
            <a:off x="5562385" y="2059062"/>
            <a:ext cx="130521" cy="994285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2F3B784A-A6A5-BB47-2AF9-F5DD1CCC2205}"/>
              </a:ext>
            </a:extLst>
          </p:cNvPr>
          <p:cNvGrpSpPr/>
          <p:nvPr/>
        </p:nvGrpSpPr>
        <p:grpSpPr>
          <a:xfrm>
            <a:off x="4999719" y="2154988"/>
            <a:ext cx="1344032" cy="269348"/>
            <a:chOff x="5636499" y="1571172"/>
            <a:chExt cx="1071658" cy="205655"/>
          </a:xfrm>
        </p:grpSpPr>
        <p:sp>
          <p:nvSpPr>
            <p:cNvPr id="54" name="Rectangle 4123">
              <a:extLst>
                <a:ext uri="{FF2B5EF4-FFF2-40B4-BE49-F238E27FC236}">
                  <a16:creationId xmlns:a16="http://schemas.microsoft.com/office/drawing/2014/main" id="{25E08E74-0995-97C2-6E94-5BB20D703FA7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PARAM_ASIF_AGRP_CTB</a:t>
              </a:r>
            </a:p>
          </p:txBody>
        </p:sp>
        <p:pic>
          <p:nvPicPr>
            <p:cNvPr id="55" name="Graphic 23" descr="Amazon Redshift service icon.">
              <a:extLst>
                <a:ext uri="{FF2B5EF4-FFF2-40B4-BE49-F238E27FC236}">
                  <a16:creationId xmlns:a16="http://schemas.microsoft.com/office/drawing/2014/main" id="{8FF29AF7-3002-BB29-531F-4B2C08A4E9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1002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4="http://schemas.microsoft.com/office/powerpoint/2010/main" xmlns:p15="http://schemas.microsoft.com/office/powerpoint/2012/main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C09D-0998-CE43-52C8-861130FC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26F133E1-1F94-E8F5-195B-EB57C1CEF13D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4B4CD7-255F-2F50-B0EA-9391A49D5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 dirty="0">
                <a:solidFill>
                  <a:srgbClr val="002569"/>
                </a:solidFill>
                <a:latin typeface="Segoe UI Light"/>
              </a:rPr>
              <a:t>Diseño Técnico</a:t>
            </a:r>
            <a:endParaRPr kumimoji="0" lang="es-ES" sz="2133" b="1" i="0" u="none" strike="noStrike" kern="0" cap="none" spc="0" normalizeH="0" baseline="0" noProof="0" dirty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E0D399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Flujo Aprovisionamiento </a:t>
            </a:r>
            <a:r>
              <a:rPr lang="es-ES" sz="1600" b="1" kern="0" dirty="0">
                <a:solidFill>
                  <a:srgbClr val="E0D399">
                    <a:lumMod val="75000"/>
                  </a:srgbClr>
                </a:solidFill>
                <a:latin typeface="Segoe UI Light"/>
              </a:rPr>
              <a:t>Tienda</a:t>
            </a: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59" name="Rectangle: Rounded Corners 1458">
            <a:extLst>
              <a:ext uri="{FF2B5EF4-FFF2-40B4-BE49-F238E27FC236}">
                <a16:creationId xmlns:a16="http://schemas.microsoft.com/office/drawing/2014/main" id="{3E07BF54-2B4B-0FB1-D1D9-CABAA8DAE176}"/>
              </a:ext>
            </a:extLst>
          </p:cNvPr>
          <p:cNvSpPr/>
          <p:nvPr/>
        </p:nvSpPr>
        <p:spPr bwMode="auto">
          <a:xfrm>
            <a:off x="4096890" y="2497056"/>
            <a:ext cx="769446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Extracción</a:t>
            </a:r>
          </a:p>
        </p:txBody>
      </p:sp>
      <p:sp>
        <p:nvSpPr>
          <p:cNvPr id="4105" name="Rectangle: Rounded Corners 4104">
            <a:extLst>
              <a:ext uri="{FF2B5EF4-FFF2-40B4-BE49-F238E27FC236}">
                <a16:creationId xmlns:a16="http://schemas.microsoft.com/office/drawing/2014/main" id="{39FDEE98-EC1F-782E-A0B3-5F7F441676CD}"/>
              </a:ext>
            </a:extLst>
          </p:cNvPr>
          <p:cNvSpPr/>
          <p:nvPr/>
        </p:nvSpPr>
        <p:spPr bwMode="auto">
          <a:xfrm>
            <a:off x="4878377" y="2497056"/>
            <a:ext cx="1015091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Homologación</a:t>
            </a:r>
          </a:p>
        </p:txBody>
      </p: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F5364A11-C9BE-F03B-7D6E-6746D57860FC}"/>
              </a:ext>
            </a:extLst>
          </p:cNvPr>
          <p:cNvSpPr/>
          <p:nvPr/>
        </p:nvSpPr>
        <p:spPr bwMode="auto">
          <a:xfrm>
            <a:off x="7872834" y="2738580"/>
            <a:ext cx="1188000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700" b="1" dirty="0">
                <a:latin typeface="Arial" pitchFamily="34" charset="0"/>
                <a:cs typeface="Arial" pitchFamily="34" charset="0"/>
              </a:rPr>
              <a:t>DIM_TIENDA</a:t>
            </a:r>
          </a:p>
        </p:txBody>
      </p:sp>
      <p:pic>
        <p:nvPicPr>
          <p:cNvPr id="4125" name="Graphic 23" descr="Amazon Redshift service icon.">
            <a:extLst>
              <a:ext uri="{FF2B5EF4-FFF2-40B4-BE49-F238E27FC236}">
                <a16:creationId xmlns:a16="http://schemas.microsoft.com/office/drawing/2014/main" id="{CE0CBEE2-2C5A-6B61-ED60-0B91ECF3FDBC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9032597" y="2791814"/>
            <a:ext cx="217766" cy="21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739D228D-4992-D5A9-609B-6C6964382BE7}"/>
              </a:ext>
            </a:extLst>
          </p:cNvPr>
          <p:cNvGrpSpPr/>
          <p:nvPr/>
        </p:nvGrpSpPr>
        <p:grpSpPr>
          <a:xfrm>
            <a:off x="4320604" y="3399807"/>
            <a:ext cx="962930" cy="283618"/>
            <a:chOff x="2127933" y="3933232"/>
            <a:chExt cx="962930" cy="283618"/>
          </a:xfrm>
        </p:grpSpPr>
        <p:pic>
          <p:nvPicPr>
            <p:cNvPr id="4152" name="Graphic 6" descr="AWS Glue service icon.">
              <a:extLst>
                <a:ext uri="{FF2B5EF4-FFF2-40B4-BE49-F238E27FC236}">
                  <a16:creationId xmlns:a16="http://schemas.microsoft.com/office/drawing/2014/main" id="{6F558891-2A53-E362-EA0A-94DEAA39EF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53" name="TextBox 10">
              <a:extLst>
                <a:ext uri="{FF2B5EF4-FFF2-40B4-BE49-F238E27FC236}">
                  <a16:creationId xmlns:a16="http://schemas.microsoft.com/office/drawing/2014/main" id="{22781FAC-2385-70F7-6589-2316D6F56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6342660-0DE2-7D19-8E16-AE806E0382D1}"/>
              </a:ext>
            </a:extLst>
          </p:cNvPr>
          <p:cNvGrpSpPr/>
          <p:nvPr/>
        </p:nvGrpSpPr>
        <p:grpSpPr>
          <a:xfrm>
            <a:off x="1004868" y="894221"/>
            <a:ext cx="830910" cy="4946167"/>
            <a:chOff x="1219056" y="1186829"/>
            <a:chExt cx="830910" cy="4946167"/>
          </a:xfrm>
        </p:grpSpPr>
        <p:sp>
          <p:nvSpPr>
            <p:cNvPr id="1442" name="Rectangle 1441">
              <a:extLst>
                <a:ext uri="{FF2B5EF4-FFF2-40B4-BE49-F238E27FC236}">
                  <a16:creationId xmlns:a16="http://schemas.microsoft.com/office/drawing/2014/main" id="{8C3BE9A9-34E0-A3D4-1BA0-6B18DB2CC52C}"/>
                </a:ext>
              </a:extLst>
            </p:cNvPr>
            <p:cNvSpPr/>
            <p:nvPr/>
          </p:nvSpPr>
          <p:spPr bwMode="auto">
            <a:xfrm>
              <a:off x="1337243" y="1186829"/>
              <a:ext cx="588467" cy="4946167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n-US" altLang="en-US" sz="800" b="1">
                <a:latin typeface="Arial" pitchFamily="34" charset="0"/>
                <a:ea typeface="Amazon Ember" panose="020B0603020204020204" pitchFamily="34" charset="0"/>
                <a:cs typeface="Arial" pitchFamily="34" charset="0"/>
              </a:endParaRPr>
            </a:p>
          </p:txBody>
        </p:sp>
        <p:pic>
          <p:nvPicPr>
            <p:cNvPr id="1447" name="Graphic 1446" descr="AWS Glue Data Catalog resource icon for the AWS Glue service.">
              <a:extLst>
                <a:ext uri="{FF2B5EF4-FFF2-40B4-BE49-F238E27FC236}">
                  <a16:creationId xmlns:a16="http://schemas.microsoft.com/office/drawing/2014/main" id="{E6F813B2-2C28-D117-058F-200669B3AC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2368" y="3629186"/>
              <a:ext cx="383843" cy="421601"/>
            </a:xfrm>
            <a:prstGeom prst="rect">
              <a:avLst/>
            </a:prstGeom>
          </p:spPr>
        </p:pic>
        <p:pic>
          <p:nvPicPr>
            <p:cNvPr id="1027" name="Graphic 14" descr="Amazon Athena service icon.">
              <a:extLst>
                <a:ext uri="{FF2B5EF4-FFF2-40B4-BE49-F238E27FC236}">
                  <a16:creationId xmlns:a16="http://schemas.microsoft.com/office/drawing/2014/main" id="{B3E4C6AA-54AB-E8D3-0D74-3FF10D1B77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auto">
            <a:xfrm>
              <a:off x="1493647" y="2220260"/>
              <a:ext cx="294763" cy="29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" name="TextBox 17">
              <a:extLst>
                <a:ext uri="{FF2B5EF4-FFF2-40B4-BE49-F238E27FC236}">
                  <a16:creationId xmlns:a16="http://schemas.microsoft.com/office/drawing/2014/main" id="{1BD2CD55-6291-3484-7269-938995209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056" y="2599091"/>
              <a:ext cx="83091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Amazon Athena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FBA7A2AD-A671-D262-118A-20DDF985D166}"/>
                </a:ext>
              </a:extLst>
            </p:cNvPr>
            <p:cNvSpPr txBox="1"/>
            <p:nvPr/>
          </p:nvSpPr>
          <p:spPr>
            <a:xfrm>
              <a:off x="1260233" y="4090807"/>
              <a:ext cx="7580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Glue</a:t>
              </a:r>
              <a:br>
                <a:rPr lang="en-US" altLang="en-US"/>
              </a:br>
              <a:r>
                <a:rPr lang="en-US" altLang="en-US"/>
                <a:t>Data Catalog</a:t>
              </a:r>
            </a:p>
          </p:txBody>
        </p:sp>
      </p:grpSp>
      <p:grpSp>
        <p:nvGrpSpPr>
          <p:cNvPr id="9242" name="Group 9241">
            <a:extLst>
              <a:ext uri="{FF2B5EF4-FFF2-40B4-BE49-F238E27FC236}">
                <a16:creationId xmlns:a16="http://schemas.microsoft.com/office/drawing/2014/main" id="{BE086D1D-5352-FB5C-81A5-7A96E20A430C}"/>
              </a:ext>
            </a:extLst>
          </p:cNvPr>
          <p:cNvGrpSpPr/>
          <p:nvPr/>
        </p:nvGrpSpPr>
        <p:grpSpPr>
          <a:xfrm>
            <a:off x="1784281" y="5953750"/>
            <a:ext cx="10080000" cy="261610"/>
            <a:chOff x="1784281" y="5889742"/>
            <a:chExt cx="10080000" cy="261610"/>
          </a:xfrm>
        </p:grpSpPr>
        <p:sp>
          <p:nvSpPr>
            <p:cNvPr id="4144" name="Arrow: Pentagon 4143">
              <a:extLst>
                <a:ext uri="{FF2B5EF4-FFF2-40B4-BE49-F238E27FC236}">
                  <a16:creationId xmlns:a16="http://schemas.microsoft.com/office/drawing/2014/main" id="{F7681F10-8A18-8EA3-11F1-8E5A541C9ADF}"/>
                </a:ext>
              </a:extLst>
            </p:cNvPr>
            <p:cNvSpPr/>
            <p:nvPr/>
          </p:nvSpPr>
          <p:spPr bwMode="auto">
            <a:xfrm>
              <a:off x="1784281" y="5925328"/>
              <a:ext cx="10080000" cy="211458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DED26DA8-0BDA-4473-2E10-F52689A86A73}"/>
                </a:ext>
              </a:extLst>
            </p:cNvPr>
            <p:cNvSpPr txBox="1"/>
            <p:nvPr/>
          </p:nvSpPr>
          <p:spPr>
            <a:xfrm>
              <a:off x="3159412" y="5889742"/>
              <a:ext cx="84496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1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Pipeline único, la particularidades de cada sistema se gestionan mediante ficheros de configuración.</a:t>
              </a:r>
            </a:p>
          </p:txBody>
        </p: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3A920E77-A9D3-8CA0-23DB-2570966A80B7}"/>
              </a:ext>
            </a:extLst>
          </p:cNvPr>
          <p:cNvSpPr txBox="1"/>
          <p:nvPr/>
        </p:nvSpPr>
        <p:spPr>
          <a:xfrm>
            <a:off x="3763838" y="3907168"/>
            <a:ext cx="2383028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 b="1" dirty="0">
                <a:latin typeface="Arial" pitchFamily="34" charset="0"/>
                <a:cs typeface="Arial" pitchFamily="34" charset="0"/>
              </a:rPr>
              <a:t>La configuración del Pipeline se realiza en un fichero de configuración </a:t>
            </a:r>
            <a:r>
              <a:rPr lang="es-ES_tradnl" sz="800" b="1" dirty="0" err="1">
                <a:latin typeface="Arial" pitchFamily="34" charset="0"/>
                <a:cs typeface="Arial" pitchFamily="34" charset="0"/>
              </a:rPr>
              <a:t>json</a:t>
            </a:r>
            <a:r>
              <a:rPr lang="es-ES_tradnl" sz="800" b="1" dirty="0">
                <a:latin typeface="Arial" pitchFamily="34" charset="0"/>
                <a:cs typeface="Arial" pitchFamily="34" charset="0"/>
              </a:rPr>
              <a:t> que tiene las especificidades.</a:t>
            </a:r>
          </a:p>
        </p:txBody>
      </p:sp>
      <p:sp>
        <p:nvSpPr>
          <p:cNvPr id="1076" name="Arrow: Up 1075">
            <a:extLst>
              <a:ext uri="{FF2B5EF4-FFF2-40B4-BE49-F238E27FC236}">
                <a16:creationId xmlns:a16="http://schemas.microsoft.com/office/drawing/2014/main" id="{B45FF824-F494-21ED-F13D-2049BFA9E766}"/>
              </a:ext>
            </a:extLst>
          </p:cNvPr>
          <p:cNvSpPr/>
          <p:nvPr/>
        </p:nvSpPr>
        <p:spPr bwMode="auto">
          <a:xfrm rot="5400000">
            <a:off x="7629624" y="2801520"/>
            <a:ext cx="215788" cy="143489"/>
          </a:xfrm>
          <a:prstGeom prst="upArrow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ctr"/>
            <a:endParaRPr lang="es-ES_tradnl"/>
          </a:p>
        </p:txBody>
      </p:sp>
      <p:sp>
        <p:nvSpPr>
          <p:cNvPr id="5131" name="Rectangle: Rounded Corners 5130">
            <a:extLst>
              <a:ext uri="{FF2B5EF4-FFF2-40B4-BE49-F238E27FC236}">
                <a16:creationId xmlns:a16="http://schemas.microsoft.com/office/drawing/2014/main" id="{F7D368F7-71B9-8354-FE02-2C602493F858}"/>
              </a:ext>
            </a:extLst>
          </p:cNvPr>
          <p:cNvSpPr/>
          <p:nvPr/>
        </p:nvSpPr>
        <p:spPr bwMode="auto">
          <a:xfrm>
            <a:off x="7018101" y="2497056"/>
            <a:ext cx="580846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Act.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BBDD</a:t>
            </a:r>
          </a:p>
        </p:txBody>
      </p:sp>
      <p:sp>
        <p:nvSpPr>
          <p:cNvPr id="5135" name="Rectangle: Rounded Corners 5134">
            <a:extLst>
              <a:ext uri="{FF2B5EF4-FFF2-40B4-BE49-F238E27FC236}">
                <a16:creationId xmlns:a16="http://schemas.microsoft.com/office/drawing/2014/main" id="{07ED22A5-733A-2683-F3C9-360F0B6A7286}"/>
              </a:ext>
            </a:extLst>
          </p:cNvPr>
          <p:cNvSpPr/>
          <p:nvPr/>
        </p:nvSpPr>
        <p:spPr bwMode="auto">
          <a:xfrm>
            <a:off x="9447087" y="3835473"/>
            <a:ext cx="849057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Limpieza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Temporales</a:t>
            </a:r>
          </a:p>
        </p:txBody>
      </p:sp>
      <p:cxnSp>
        <p:nvCxnSpPr>
          <p:cNvPr id="5136" name="Connector: Elbow 5135">
            <a:extLst>
              <a:ext uri="{FF2B5EF4-FFF2-40B4-BE49-F238E27FC236}">
                <a16:creationId xmlns:a16="http://schemas.microsoft.com/office/drawing/2014/main" id="{BEBCB810-72F0-8164-B6B1-182A2F95671A}"/>
              </a:ext>
            </a:extLst>
          </p:cNvPr>
          <p:cNvCxnSpPr>
            <a:stCxn id="5131" idx="2"/>
            <a:endCxn id="9221" idx="1"/>
          </p:cNvCxnSpPr>
          <p:nvPr/>
        </p:nvCxnSpPr>
        <p:spPr bwMode="auto">
          <a:xfrm rot="16200000" flipH="1">
            <a:off x="7494974" y="2972524"/>
            <a:ext cx="995542" cy="136844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153" name="Group 5152">
            <a:extLst>
              <a:ext uri="{FF2B5EF4-FFF2-40B4-BE49-F238E27FC236}">
                <a16:creationId xmlns:a16="http://schemas.microsoft.com/office/drawing/2014/main" id="{D9EAAE80-D1CC-7BE7-46A3-F7E8B9F79C5F}"/>
              </a:ext>
            </a:extLst>
          </p:cNvPr>
          <p:cNvGrpSpPr/>
          <p:nvPr/>
        </p:nvGrpSpPr>
        <p:grpSpPr>
          <a:xfrm>
            <a:off x="5322008" y="3370430"/>
            <a:ext cx="576960" cy="428487"/>
            <a:chOff x="3743069" y="3921688"/>
            <a:chExt cx="637630" cy="463623"/>
          </a:xfrm>
        </p:grpSpPr>
        <p:pic>
          <p:nvPicPr>
            <p:cNvPr id="5148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625F32EB-16B2-2DB1-BA1A-5E81666D63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52" name="TextBox 5151">
              <a:extLst>
                <a:ext uri="{FF2B5EF4-FFF2-40B4-BE49-F238E27FC236}">
                  <a16:creationId xmlns:a16="http://schemas.microsoft.com/office/drawing/2014/main" id="{78AFDFC4-BCAF-DF66-6E57-1852E153AF32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AWS S3</a:t>
              </a:r>
              <a:endParaRPr lang="es-ES_tradnl" dirty="0"/>
            </a:p>
          </p:txBody>
        </p:sp>
      </p:grpSp>
      <p:sp>
        <p:nvSpPr>
          <p:cNvPr id="9221" name="Rectangle: Rounded Corners 9220">
            <a:extLst>
              <a:ext uri="{FF2B5EF4-FFF2-40B4-BE49-F238E27FC236}">
                <a16:creationId xmlns:a16="http://schemas.microsoft.com/office/drawing/2014/main" id="{8C984200-BE35-A89F-EA0A-4CE57A61BA72}"/>
              </a:ext>
            </a:extLst>
          </p:cNvPr>
          <p:cNvSpPr/>
          <p:nvPr/>
        </p:nvSpPr>
        <p:spPr bwMode="auto">
          <a:xfrm>
            <a:off x="8676967" y="3835473"/>
            <a:ext cx="730728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Control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Registros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50471F3E-0861-F974-7B58-3C75D7FBAE2C}"/>
              </a:ext>
            </a:extLst>
          </p:cNvPr>
          <p:cNvGrpSpPr/>
          <p:nvPr/>
        </p:nvGrpSpPr>
        <p:grpSpPr>
          <a:xfrm>
            <a:off x="8652330" y="4521048"/>
            <a:ext cx="844780" cy="413230"/>
            <a:chOff x="6400561" y="3384947"/>
            <a:chExt cx="844780" cy="413230"/>
          </a:xfrm>
        </p:grpSpPr>
        <p:pic>
          <p:nvPicPr>
            <p:cNvPr id="9225" name="lambda" descr="Lambda service icon.">
              <a:extLst>
                <a:ext uri="{FF2B5EF4-FFF2-40B4-BE49-F238E27FC236}">
                  <a16:creationId xmlns:a16="http://schemas.microsoft.com/office/drawing/2014/main" id="{FE66BA5C-42EE-6EA4-52A2-734DD4302E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 bwMode="auto">
            <a:xfrm>
              <a:off x="6686988" y="3384947"/>
              <a:ext cx="224346" cy="224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6" name="label5">
              <a:extLst>
                <a:ext uri="{FF2B5EF4-FFF2-40B4-BE49-F238E27FC236}">
                  <a16:creationId xmlns:a16="http://schemas.microsoft.com/office/drawing/2014/main" id="{A9C1375E-4607-5647-8D4D-2A0391924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561" y="3582733"/>
              <a:ext cx="8447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Lambda</a:t>
              </a:r>
            </a:p>
          </p:txBody>
        </p:sp>
      </p:grpSp>
      <p:grpSp>
        <p:nvGrpSpPr>
          <p:cNvPr id="9232" name="Group 9231">
            <a:extLst>
              <a:ext uri="{FF2B5EF4-FFF2-40B4-BE49-F238E27FC236}">
                <a16:creationId xmlns:a16="http://schemas.microsoft.com/office/drawing/2014/main" id="{2B2BC2F9-E6CB-92EC-03BD-EC1E64EB1B8F}"/>
              </a:ext>
            </a:extLst>
          </p:cNvPr>
          <p:cNvGrpSpPr/>
          <p:nvPr/>
        </p:nvGrpSpPr>
        <p:grpSpPr>
          <a:xfrm>
            <a:off x="8654062" y="4962509"/>
            <a:ext cx="841315" cy="468855"/>
            <a:chOff x="7754896" y="3062065"/>
            <a:chExt cx="841315" cy="468855"/>
          </a:xfrm>
        </p:grpSpPr>
        <p:pic>
          <p:nvPicPr>
            <p:cNvPr id="9230" name="Graphic 23" descr="Amazon DynamoDB service icon.">
              <a:extLst>
                <a:ext uri="{FF2B5EF4-FFF2-40B4-BE49-F238E27FC236}">
                  <a16:creationId xmlns:a16="http://schemas.microsoft.com/office/drawing/2014/main" id="{2F97ED87-CFF8-2430-70BA-7A0DFEC8A0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 bwMode="auto">
            <a:xfrm>
              <a:off x="8030391" y="3062065"/>
              <a:ext cx="253411" cy="253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Box 12">
              <a:extLst>
                <a:ext uri="{FF2B5EF4-FFF2-40B4-BE49-F238E27FC236}">
                  <a16:creationId xmlns:a16="http://schemas.microsoft.com/office/drawing/2014/main" id="{4482D6B9-C8D2-7D3E-941A-F124F83EF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4896" y="3315476"/>
              <a:ext cx="84131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DynamoDB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7444A30-5132-F3E5-7871-9A0490CCDFF1}"/>
              </a:ext>
            </a:extLst>
          </p:cNvPr>
          <p:cNvGrpSpPr/>
          <p:nvPr/>
        </p:nvGrpSpPr>
        <p:grpSpPr>
          <a:xfrm>
            <a:off x="4813220" y="6304019"/>
            <a:ext cx="1192822" cy="378105"/>
            <a:chOff x="835051" y="1350653"/>
            <a:chExt cx="1192822" cy="378105"/>
          </a:xfrm>
        </p:grpSpPr>
        <p:pic>
          <p:nvPicPr>
            <p:cNvPr id="4" name="Graphic 17" descr="AWS Step Functions service icon.">
              <a:extLst>
                <a:ext uri="{FF2B5EF4-FFF2-40B4-BE49-F238E27FC236}">
                  <a16:creationId xmlns:a16="http://schemas.microsoft.com/office/drawing/2014/main" id="{7F780E19-77BD-909C-3FC2-6A47B872E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 bwMode="auto">
            <a:xfrm>
              <a:off x="835051" y="1350653"/>
              <a:ext cx="378105" cy="378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B736F6B7-CF10-80A0-C2A9-7624B5FDD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03" y="1390204"/>
              <a:ext cx="10037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Step Functions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DB05BA8-EE9F-3D75-0E53-0EE41355C2C4}"/>
              </a:ext>
            </a:extLst>
          </p:cNvPr>
          <p:cNvGrpSpPr/>
          <p:nvPr/>
        </p:nvGrpSpPr>
        <p:grpSpPr>
          <a:xfrm>
            <a:off x="7591321" y="6276861"/>
            <a:ext cx="576960" cy="428487"/>
            <a:chOff x="3743069" y="3921688"/>
            <a:chExt cx="637630" cy="463623"/>
          </a:xfrm>
        </p:grpSpPr>
        <p:pic>
          <p:nvPicPr>
            <p:cNvPr id="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97EA67A8-6667-553B-E4BB-03A287A72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0C3B63-42C8-7A6E-78A8-B748D8A1F8DC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S3</a:t>
              </a:r>
              <a:endParaRPr lang="es-ES_tradnl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ED7456-6321-1678-DB38-F0965AE1D00E}"/>
              </a:ext>
            </a:extLst>
          </p:cNvPr>
          <p:cNvGrpSpPr/>
          <p:nvPr/>
        </p:nvGrpSpPr>
        <p:grpSpPr>
          <a:xfrm>
            <a:off x="6251391" y="6314297"/>
            <a:ext cx="962930" cy="283618"/>
            <a:chOff x="2127933" y="3933232"/>
            <a:chExt cx="962930" cy="283618"/>
          </a:xfrm>
        </p:grpSpPr>
        <p:pic>
          <p:nvPicPr>
            <p:cNvPr id="19" name="Graphic 6" descr="AWS Glue service icon.">
              <a:extLst>
                <a:ext uri="{FF2B5EF4-FFF2-40B4-BE49-F238E27FC236}">
                  <a16:creationId xmlns:a16="http://schemas.microsoft.com/office/drawing/2014/main" id="{D139002B-34C7-9292-44F7-7C0083A249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A42ABA79-24BF-D651-5D77-E4A248AAC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4C776827-B1DE-7331-1236-745A33D396B7}"/>
              </a:ext>
            </a:extLst>
          </p:cNvPr>
          <p:cNvSpPr/>
          <p:nvPr/>
        </p:nvSpPr>
        <p:spPr>
          <a:xfrm rot="16200000">
            <a:off x="6730231" y="745584"/>
            <a:ext cx="299553" cy="101388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B6DF49-9985-B914-EE25-67699411A007}"/>
              </a:ext>
            </a:extLst>
          </p:cNvPr>
          <p:cNvSpPr txBox="1"/>
          <p:nvPr/>
        </p:nvSpPr>
        <p:spPr>
          <a:xfrm>
            <a:off x="8485963" y="6492920"/>
            <a:ext cx="2383028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>
                <a:latin typeface="Arial" pitchFamily="34" charset="0"/>
                <a:cs typeface="Arial" pitchFamily="34" charset="0"/>
              </a:rPr>
              <a:t>* Los aplicativos marcados en rojo son aplicativos que ya no utiliza el banco</a:t>
            </a:r>
          </a:p>
        </p:txBody>
      </p:sp>
      <p:sp>
        <p:nvSpPr>
          <p:cNvPr id="1401" name="Rectangle 6">
            <a:extLst>
              <a:ext uri="{FF2B5EF4-FFF2-40B4-BE49-F238E27FC236}">
                <a16:creationId xmlns:a16="http://schemas.microsoft.com/office/drawing/2014/main" id="{D486CC2F-08D8-A33E-9D44-DFB797FEC084}"/>
              </a:ext>
            </a:extLst>
          </p:cNvPr>
          <p:cNvSpPr/>
          <p:nvPr/>
        </p:nvSpPr>
        <p:spPr bwMode="auto">
          <a:xfrm>
            <a:off x="87394" y="2959682"/>
            <a:ext cx="972000" cy="307777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PE" sz="1000" b="1" dirty="0" err="1"/>
              <a:t>crm_src_maestro_tiendas</a:t>
            </a:r>
            <a:endParaRPr lang="en-US" sz="1000" b="1" dirty="0"/>
          </a:p>
        </p:txBody>
      </p:sp>
      <p:sp>
        <p:nvSpPr>
          <p:cNvPr id="7" name="Rectangle: Rounded Corners 4122">
            <a:extLst>
              <a:ext uri="{FF2B5EF4-FFF2-40B4-BE49-F238E27FC236}">
                <a16:creationId xmlns:a16="http://schemas.microsoft.com/office/drawing/2014/main" id="{1D4CFFB1-C3BD-396C-9505-5911D0FAA8AA}"/>
              </a:ext>
            </a:extLst>
          </p:cNvPr>
          <p:cNvSpPr/>
          <p:nvPr/>
        </p:nvSpPr>
        <p:spPr bwMode="auto">
          <a:xfrm>
            <a:off x="5971137" y="2497056"/>
            <a:ext cx="706228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Data</a:t>
            </a:r>
          </a:p>
          <a:p>
            <a:pPr algn="ctr"/>
            <a:r>
              <a:rPr lang="es-ES_tradnl" sz="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Quality</a:t>
            </a:r>
            <a:endParaRPr lang="es-ES_tradnl" sz="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043">
            <a:extLst>
              <a:ext uri="{FF2B5EF4-FFF2-40B4-BE49-F238E27FC236}">
                <a16:creationId xmlns:a16="http://schemas.microsoft.com/office/drawing/2014/main" id="{7A3B4CC3-1DB2-C079-BE79-F56C6920A605}"/>
              </a:ext>
            </a:extLst>
          </p:cNvPr>
          <p:cNvSpPr txBox="1"/>
          <p:nvPr/>
        </p:nvSpPr>
        <p:spPr>
          <a:xfrm>
            <a:off x="5427737" y="1558320"/>
            <a:ext cx="1880786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600" b="1" dirty="0">
                <a:latin typeface="Arial" pitchFamily="34" charset="0"/>
                <a:cs typeface="Arial" pitchFamily="34" charset="0"/>
              </a:rPr>
              <a:t>Cruce de la tablas de origen con las tablas maestras para la validación de los campos correspondientes de cada dimensión.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078BD3F-907B-4140-DD1B-D7494613CEE7}"/>
              </a:ext>
            </a:extLst>
          </p:cNvPr>
          <p:cNvGrpSpPr/>
          <p:nvPr/>
        </p:nvGrpSpPr>
        <p:grpSpPr>
          <a:xfrm>
            <a:off x="5853275" y="2026458"/>
            <a:ext cx="1071658" cy="205655"/>
            <a:chOff x="5636499" y="1571172"/>
            <a:chExt cx="1071658" cy="205655"/>
          </a:xfrm>
        </p:grpSpPr>
        <p:sp>
          <p:nvSpPr>
            <p:cNvPr id="23" name="Rectangle 4123">
              <a:extLst>
                <a:ext uri="{FF2B5EF4-FFF2-40B4-BE49-F238E27FC236}">
                  <a16:creationId xmlns:a16="http://schemas.microsoft.com/office/drawing/2014/main" id="{2EBDD4FA-CADA-2F5F-7BD3-8795B140ECE3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DIM_UBIGEO</a:t>
              </a:r>
            </a:p>
          </p:txBody>
        </p:sp>
        <p:pic>
          <p:nvPicPr>
            <p:cNvPr id="24" name="Graphic 23" descr="Amazon Redshift service icon.">
              <a:extLst>
                <a:ext uri="{FF2B5EF4-FFF2-40B4-BE49-F238E27FC236}">
                  <a16:creationId xmlns:a16="http://schemas.microsoft.com/office/drawing/2014/main" id="{42E4B787-746C-42B6-65A5-A3B310BE78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" name="Left Brace 28">
            <a:extLst>
              <a:ext uri="{FF2B5EF4-FFF2-40B4-BE49-F238E27FC236}">
                <a16:creationId xmlns:a16="http://schemas.microsoft.com/office/drawing/2014/main" id="{1BE92B80-FA2A-B16F-C351-AD305447848F}"/>
              </a:ext>
            </a:extLst>
          </p:cNvPr>
          <p:cNvSpPr/>
          <p:nvPr/>
        </p:nvSpPr>
        <p:spPr>
          <a:xfrm rot="16200000">
            <a:off x="6294826" y="1596448"/>
            <a:ext cx="154195" cy="158204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37" name="Group 4146">
            <a:extLst>
              <a:ext uri="{FF2B5EF4-FFF2-40B4-BE49-F238E27FC236}">
                <a16:creationId xmlns:a16="http://schemas.microsoft.com/office/drawing/2014/main" id="{C3D92480-7B6B-C9B9-9A5A-47AF6FA69417}"/>
              </a:ext>
            </a:extLst>
          </p:cNvPr>
          <p:cNvGrpSpPr/>
          <p:nvPr/>
        </p:nvGrpSpPr>
        <p:grpSpPr>
          <a:xfrm>
            <a:off x="5853275" y="3272293"/>
            <a:ext cx="969407" cy="344089"/>
            <a:chOff x="7927962" y="2476770"/>
            <a:chExt cx="969407" cy="344089"/>
          </a:xfrm>
        </p:grpSpPr>
        <p:pic>
          <p:nvPicPr>
            <p:cNvPr id="38" name="Graphic 4144" descr="AWS Glue Data Quality resource icon for the AWS Glue service.">
              <a:extLst>
                <a:ext uri="{FF2B5EF4-FFF2-40B4-BE49-F238E27FC236}">
                  <a16:creationId xmlns:a16="http://schemas.microsoft.com/office/drawing/2014/main" id="{9EDD53BD-0A1C-10ED-33B1-88F4AE67E1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927962" y="2488894"/>
              <a:ext cx="272358" cy="272358"/>
            </a:xfrm>
            <a:prstGeom prst="rect">
              <a:avLst/>
            </a:prstGeom>
          </p:spPr>
        </p:pic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D83DD1CC-50E6-6AA0-4075-4E04FFE3C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3752" y="2476770"/>
              <a:ext cx="823617" cy="344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 dirty="0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 Data Quality</a:t>
              </a:r>
            </a:p>
          </p:txBody>
        </p:sp>
      </p:grpSp>
      <p:pic>
        <p:nvPicPr>
          <p:cNvPr id="8" name="Picture 1372">
            <a:extLst>
              <a:ext uri="{FF2B5EF4-FFF2-40B4-BE49-F238E27FC236}">
                <a16:creationId xmlns:a16="http://schemas.microsoft.com/office/drawing/2014/main" id="{AA282F4D-A9A0-3719-1B56-E2BEFD6F0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72377" y="381568"/>
            <a:ext cx="2167395" cy="779986"/>
          </a:xfrm>
          <a:prstGeom prst="rect">
            <a:avLst/>
          </a:prstGeom>
        </p:spPr>
      </p:pic>
      <p:sp>
        <p:nvSpPr>
          <p:cNvPr id="12" name="Rectangle 1373">
            <a:extLst>
              <a:ext uri="{FF2B5EF4-FFF2-40B4-BE49-F238E27FC236}">
                <a16:creationId xmlns:a16="http://schemas.microsoft.com/office/drawing/2014/main" id="{A722510A-A525-C85C-5C81-90A6FCC23581}"/>
              </a:ext>
            </a:extLst>
          </p:cNvPr>
          <p:cNvSpPr/>
          <p:nvPr/>
        </p:nvSpPr>
        <p:spPr bwMode="auto">
          <a:xfrm>
            <a:off x="9946510" y="642640"/>
            <a:ext cx="349634" cy="321588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</p:spPr>
        <p:txBody>
          <a:bodyPr wrap="none" rtlCol="0" anchor="ctr">
            <a:noAutofit/>
          </a:bodyPr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21920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4="http://schemas.microsoft.com/office/powerpoint/2010/main" xmlns:p15="http://schemas.microsoft.com/office/powerpoint/2012/main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26445-E89B-A176-3342-97B12150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5D51DD57-B2A4-A878-E8D6-C3F0BC0A1D26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89038F-4F88-9EE2-5134-70EDAC1C56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 dirty="0">
                <a:solidFill>
                  <a:srgbClr val="002569"/>
                </a:solidFill>
                <a:latin typeface="Segoe UI Light"/>
              </a:rPr>
              <a:t>Diseño Técnico</a:t>
            </a:r>
            <a:endParaRPr kumimoji="0" lang="es-ES" sz="2133" b="1" i="0" u="none" strike="noStrike" kern="0" cap="none" spc="0" normalizeH="0" baseline="0" noProof="0" dirty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E0D399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Flujo Aprovisionamiento </a:t>
            </a:r>
            <a:r>
              <a:rPr lang="es-ES" sz="1600" b="1" kern="0" dirty="0">
                <a:solidFill>
                  <a:srgbClr val="E0D399">
                    <a:lumMod val="75000"/>
                  </a:srgbClr>
                </a:solidFill>
                <a:latin typeface="Segoe UI Light"/>
              </a:rPr>
              <a:t>Tipo de Cambio </a:t>
            </a: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59" name="Rectangle: Rounded Corners 1458">
            <a:extLst>
              <a:ext uri="{FF2B5EF4-FFF2-40B4-BE49-F238E27FC236}">
                <a16:creationId xmlns:a16="http://schemas.microsoft.com/office/drawing/2014/main" id="{95C7E6F5-0B4C-7EC1-D329-C3327B3A9424}"/>
              </a:ext>
            </a:extLst>
          </p:cNvPr>
          <p:cNvSpPr/>
          <p:nvPr/>
        </p:nvSpPr>
        <p:spPr bwMode="auto">
          <a:xfrm>
            <a:off x="4585926" y="2030587"/>
            <a:ext cx="769446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Extracción</a:t>
            </a:r>
          </a:p>
        </p:txBody>
      </p:sp>
      <p:sp>
        <p:nvSpPr>
          <p:cNvPr id="4105" name="Rectangle: Rounded Corners 4104">
            <a:extLst>
              <a:ext uri="{FF2B5EF4-FFF2-40B4-BE49-F238E27FC236}">
                <a16:creationId xmlns:a16="http://schemas.microsoft.com/office/drawing/2014/main" id="{A9405467-BEF1-4797-7C24-28E3C211904E}"/>
              </a:ext>
            </a:extLst>
          </p:cNvPr>
          <p:cNvSpPr/>
          <p:nvPr/>
        </p:nvSpPr>
        <p:spPr bwMode="auto">
          <a:xfrm>
            <a:off x="5367413" y="2030587"/>
            <a:ext cx="1015091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Homologación</a:t>
            </a:r>
          </a:p>
        </p:txBody>
      </p: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F42CC3DC-4F0D-A881-8CFA-659673A53265}"/>
              </a:ext>
            </a:extLst>
          </p:cNvPr>
          <p:cNvSpPr/>
          <p:nvPr/>
        </p:nvSpPr>
        <p:spPr bwMode="auto">
          <a:xfrm>
            <a:off x="7384910" y="2107052"/>
            <a:ext cx="1188000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700" b="1" dirty="0">
                <a:latin typeface="Arial" pitchFamily="34" charset="0"/>
                <a:cs typeface="Arial" pitchFamily="34" charset="0"/>
              </a:rPr>
              <a:t>DT_TIPO_CAMBIO_DIA</a:t>
            </a:r>
          </a:p>
        </p:txBody>
      </p:sp>
      <p:pic>
        <p:nvPicPr>
          <p:cNvPr id="4125" name="Graphic 23" descr="Amazon Redshift service icon.">
            <a:extLst>
              <a:ext uri="{FF2B5EF4-FFF2-40B4-BE49-F238E27FC236}">
                <a16:creationId xmlns:a16="http://schemas.microsoft.com/office/drawing/2014/main" id="{1BE83AB8-E182-A62E-B167-BC5F3589119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544673" y="2160286"/>
            <a:ext cx="217766" cy="21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2A32BDF4-3EFD-5CBE-F695-A303AC2F1A5C}"/>
              </a:ext>
            </a:extLst>
          </p:cNvPr>
          <p:cNvGrpSpPr/>
          <p:nvPr/>
        </p:nvGrpSpPr>
        <p:grpSpPr>
          <a:xfrm>
            <a:off x="4809640" y="2933338"/>
            <a:ext cx="962930" cy="283618"/>
            <a:chOff x="2127933" y="3933232"/>
            <a:chExt cx="962930" cy="283618"/>
          </a:xfrm>
        </p:grpSpPr>
        <p:pic>
          <p:nvPicPr>
            <p:cNvPr id="4152" name="Graphic 6" descr="AWS Glue service icon.">
              <a:extLst>
                <a:ext uri="{FF2B5EF4-FFF2-40B4-BE49-F238E27FC236}">
                  <a16:creationId xmlns:a16="http://schemas.microsoft.com/office/drawing/2014/main" id="{91414AD7-A502-7C5D-113E-3497AC5C31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53" name="TextBox 10">
              <a:extLst>
                <a:ext uri="{FF2B5EF4-FFF2-40B4-BE49-F238E27FC236}">
                  <a16:creationId xmlns:a16="http://schemas.microsoft.com/office/drawing/2014/main" id="{ADFF7CDC-0A05-A69E-141D-DBED12966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0637A09-C286-ABAA-BBDF-EFDAF5164A08}"/>
              </a:ext>
            </a:extLst>
          </p:cNvPr>
          <p:cNvGrpSpPr/>
          <p:nvPr/>
        </p:nvGrpSpPr>
        <p:grpSpPr>
          <a:xfrm>
            <a:off x="1004868" y="894221"/>
            <a:ext cx="830910" cy="4946167"/>
            <a:chOff x="1219056" y="1186829"/>
            <a:chExt cx="830910" cy="4946167"/>
          </a:xfrm>
        </p:grpSpPr>
        <p:sp>
          <p:nvSpPr>
            <p:cNvPr id="1442" name="Rectangle 1441">
              <a:extLst>
                <a:ext uri="{FF2B5EF4-FFF2-40B4-BE49-F238E27FC236}">
                  <a16:creationId xmlns:a16="http://schemas.microsoft.com/office/drawing/2014/main" id="{87584A8C-CD64-5888-19DF-C953119B0410}"/>
                </a:ext>
              </a:extLst>
            </p:cNvPr>
            <p:cNvSpPr/>
            <p:nvPr/>
          </p:nvSpPr>
          <p:spPr bwMode="auto">
            <a:xfrm>
              <a:off x="1337243" y="1186829"/>
              <a:ext cx="588467" cy="4946167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n-US" altLang="en-US" sz="800" b="1">
                <a:latin typeface="Arial" pitchFamily="34" charset="0"/>
                <a:ea typeface="Amazon Ember" panose="020B0603020204020204" pitchFamily="34" charset="0"/>
                <a:cs typeface="Arial" pitchFamily="34" charset="0"/>
              </a:endParaRPr>
            </a:p>
          </p:txBody>
        </p:sp>
        <p:pic>
          <p:nvPicPr>
            <p:cNvPr id="1447" name="Graphic 1446" descr="AWS Glue Data Catalog resource icon for the AWS Glue service.">
              <a:extLst>
                <a:ext uri="{FF2B5EF4-FFF2-40B4-BE49-F238E27FC236}">
                  <a16:creationId xmlns:a16="http://schemas.microsoft.com/office/drawing/2014/main" id="{7DCE0CBC-7DDC-86EB-6B15-0F16B7ECE2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2368" y="3629186"/>
              <a:ext cx="383843" cy="421601"/>
            </a:xfrm>
            <a:prstGeom prst="rect">
              <a:avLst/>
            </a:prstGeom>
          </p:spPr>
        </p:pic>
        <p:pic>
          <p:nvPicPr>
            <p:cNvPr id="1027" name="Graphic 14" descr="Amazon Athena service icon.">
              <a:extLst>
                <a:ext uri="{FF2B5EF4-FFF2-40B4-BE49-F238E27FC236}">
                  <a16:creationId xmlns:a16="http://schemas.microsoft.com/office/drawing/2014/main" id="{5E705708-681E-6768-BB89-832BE60C48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auto">
            <a:xfrm>
              <a:off x="1493647" y="2220260"/>
              <a:ext cx="294763" cy="29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" name="TextBox 17">
              <a:extLst>
                <a:ext uri="{FF2B5EF4-FFF2-40B4-BE49-F238E27FC236}">
                  <a16:creationId xmlns:a16="http://schemas.microsoft.com/office/drawing/2014/main" id="{7EDAA956-E522-0EB7-A394-3BD880C43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056" y="2599091"/>
              <a:ext cx="83091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Amazon Athena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B9F1DF11-8FF9-4F54-919B-C0CF2C45FA66}"/>
                </a:ext>
              </a:extLst>
            </p:cNvPr>
            <p:cNvSpPr txBox="1"/>
            <p:nvPr/>
          </p:nvSpPr>
          <p:spPr>
            <a:xfrm>
              <a:off x="1260233" y="4090807"/>
              <a:ext cx="7580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Glue</a:t>
              </a:r>
              <a:br>
                <a:rPr lang="en-US" altLang="en-US"/>
              </a:br>
              <a:r>
                <a:rPr lang="en-US" altLang="en-US"/>
                <a:t>Data Catalog</a:t>
              </a:r>
            </a:p>
          </p:txBody>
        </p:sp>
      </p:grpSp>
      <p:grpSp>
        <p:nvGrpSpPr>
          <p:cNvPr id="9242" name="Group 9241">
            <a:extLst>
              <a:ext uri="{FF2B5EF4-FFF2-40B4-BE49-F238E27FC236}">
                <a16:creationId xmlns:a16="http://schemas.microsoft.com/office/drawing/2014/main" id="{F4480478-54E0-C030-9479-5384B5AA1CCB}"/>
              </a:ext>
            </a:extLst>
          </p:cNvPr>
          <p:cNvGrpSpPr/>
          <p:nvPr/>
        </p:nvGrpSpPr>
        <p:grpSpPr>
          <a:xfrm>
            <a:off x="1784281" y="5953750"/>
            <a:ext cx="10080000" cy="261610"/>
            <a:chOff x="1784281" y="5889742"/>
            <a:chExt cx="10080000" cy="261610"/>
          </a:xfrm>
        </p:grpSpPr>
        <p:sp>
          <p:nvSpPr>
            <p:cNvPr id="4144" name="Arrow: Pentagon 4143">
              <a:extLst>
                <a:ext uri="{FF2B5EF4-FFF2-40B4-BE49-F238E27FC236}">
                  <a16:creationId xmlns:a16="http://schemas.microsoft.com/office/drawing/2014/main" id="{DE393A7C-5D2C-7CB6-DE95-52776FFCB298}"/>
                </a:ext>
              </a:extLst>
            </p:cNvPr>
            <p:cNvSpPr/>
            <p:nvPr/>
          </p:nvSpPr>
          <p:spPr bwMode="auto">
            <a:xfrm>
              <a:off x="1784281" y="5925328"/>
              <a:ext cx="10080000" cy="211458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75CDE199-A0EE-54DF-5B7A-6CDB4D46FCD2}"/>
                </a:ext>
              </a:extLst>
            </p:cNvPr>
            <p:cNvSpPr txBox="1"/>
            <p:nvPr/>
          </p:nvSpPr>
          <p:spPr>
            <a:xfrm>
              <a:off x="3159412" y="5889742"/>
              <a:ext cx="84496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1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Pipeline único, la particularidades de cada sistema se gestionan mediante ficheros de configuración.</a:t>
              </a:r>
            </a:p>
          </p:txBody>
        </p: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B9E58043-3086-D465-4736-BD8C40F66F42}"/>
              </a:ext>
            </a:extLst>
          </p:cNvPr>
          <p:cNvSpPr txBox="1"/>
          <p:nvPr/>
        </p:nvSpPr>
        <p:spPr>
          <a:xfrm>
            <a:off x="4252874" y="3440699"/>
            <a:ext cx="2383028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 b="1" dirty="0">
                <a:latin typeface="Arial" pitchFamily="34" charset="0"/>
                <a:cs typeface="Arial" pitchFamily="34" charset="0"/>
              </a:rPr>
              <a:t>La configuración del Pipeline se realiza en un fichero de configuración </a:t>
            </a:r>
            <a:r>
              <a:rPr lang="es-ES_tradnl" sz="800" b="1" dirty="0" err="1">
                <a:latin typeface="Arial" pitchFamily="34" charset="0"/>
                <a:cs typeface="Arial" pitchFamily="34" charset="0"/>
              </a:rPr>
              <a:t>json</a:t>
            </a:r>
            <a:r>
              <a:rPr lang="es-ES_tradnl" sz="800" b="1" dirty="0">
                <a:latin typeface="Arial" pitchFamily="34" charset="0"/>
                <a:cs typeface="Arial" pitchFamily="34" charset="0"/>
              </a:rPr>
              <a:t> que tiene las especificidades</a:t>
            </a:r>
          </a:p>
        </p:txBody>
      </p:sp>
      <p:sp>
        <p:nvSpPr>
          <p:cNvPr id="1076" name="Arrow: Up 1075">
            <a:extLst>
              <a:ext uri="{FF2B5EF4-FFF2-40B4-BE49-F238E27FC236}">
                <a16:creationId xmlns:a16="http://schemas.microsoft.com/office/drawing/2014/main" id="{33D1D8D5-497F-383B-FF3A-D09D2C0CA608}"/>
              </a:ext>
            </a:extLst>
          </p:cNvPr>
          <p:cNvSpPr/>
          <p:nvPr/>
        </p:nvSpPr>
        <p:spPr bwMode="auto">
          <a:xfrm rot="5400000">
            <a:off x="7141700" y="2169992"/>
            <a:ext cx="215788" cy="143489"/>
          </a:xfrm>
          <a:prstGeom prst="upArrow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ctr"/>
            <a:endParaRPr lang="es-ES_tradnl"/>
          </a:p>
        </p:txBody>
      </p:sp>
      <p:sp>
        <p:nvSpPr>
          <p:cNvPr id="5131" name="Rectangle: Rounded Corners 5130">
            <a:extLst>
              <a:ext uri="{FF2B5EF4-FFF2-40B4-BE49-F238E27FC236}">
                <a16:creationId xmlns:a16="http://schemas.microsoft.com/office/drawing/2014/main" id="{DB2B8692-3342-6DCB-9A1C-BB46F6C165A4}"/>
              </a:ext>
            </a:extLst>
          </p:cNvPr>
          <p:cNvSpPr/>
          <p:nvPr/>
        </p:nvSpPr>
        <p:spPr bwMode="auto">
          <a:xfrm>
            <a:off x="6535009" y="2026058"/>
            <a:ext cx="580846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Act.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BBDD</a:t>
            </a:r>
          </a:p>
        </p:txBody>
      </p:sp>
      <p:sp>
        <p:nvSpPr>
          <p:cNvPr id="5135" name="Rectangle: Rounded Corners 5134">
            <a:extLst>
              <a:ext uri="{FF2B5EF4-FFF2-40B4-BE49-F238E27FC236}">
                <a16:creationId xmlns:a16="http://schemas.microsoft.com/office/drawing/2014/main" id="{49F984EE-3A67-BA4F-4933-961C8A510A5D}"/>
              </a:ext>
            </a:extLst>
          </p:cNvPr>
          <p:cNvSpPr/>
          <p:nvPr/>
        </p:nvSpPr>
        <p:spPr bwMode="auto">
          <a:xfrm>
            <a:off x="8963995" y="3364475"/>
            <a:ext cx="849057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Limpieza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Temporales</a:t>
            </a:r>
          </a:p>
        </p:txBody>
      </p:sp>
      <p:cxnSp>
        <p:nvCxnSpPr>
          <p:cNvPr id="5136" name="Connector: Elbow 5135">
            <a:extLst>
              <a:ext uri="{FF2B5EF4-FFF2-40B4-BE49-F238E27FC236}">
                <a16:creationId xmlns:a16="http://schemas.microsoft.com/office/drawing/2014/main" id="{46017582-E0F2-9D5F-1CD6-987F5B3ED9A1}"/>
              </a:ext>
            </a:extLst>
          </p:cNvPr>
          <p:cNvCxnSpPr>
            <a:stCxn id="5131" idx="2"/>
            <a:endCxn id="9221" idx="1"/>
          </p:cNvCxnSpPr>
          <p:nvPr/>
        </p:nvCxnSpPr>
        <p:spPr bwMode="auto">
          <a:xfrm rot="16200000" flipH="1">
            <a:off x="7011882" y="2501526"/>
            <a:ext cx="995542" cy="136844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153" name="Group 5152">
            <a:extLst>
              <a:ext uri="{FF2B5EF4-FFF2-40B4-BE49-F238E27FC236}">
                <a16:creationId xmlns:a16="http://schemas.microsoft.com/office/drawing/2014/main" id="{CBDC4916-A354-8482-B64C-A4C52FF1B507}"/>
              </a:ext>
            </a:extLst>
          </p:cNvPr>
          <p:cNvGrpSpPr/>
          <p:nvPr/>
        </p:nvGrpSpPr>
        <p:grpSpPr>
          <a:xfrm>
            <a:off x="5811044" y="2903961"/>
            <a:ext cx="576960" cy="428487"/>
            <a:chOff x="3743069" y="3921688"/>
            <a:chExt cx="637630" cy="463623"/>
          </a:xfrm>
        </p:grpSpPr>
        <p:pic>
          <p:nvPicPr>
            <p:cNvPr id="5148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45622908-04A2-B15F-E6D9-CB30632F3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52" name="TextBox 5151">
              <a:extLst>
                <a:ext uri="{FF2B5EF4-FFF2-40B4-BE49-F238E27FC236}">
                  <a16:creationId xmlns:a16="http://schemas.microsoft.com/office/drawing/2014/main" id="{314AC21F-ABB3-CA00-879C-FFDA1A00F4A3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AWS S3</a:t>
              </a:r>
              <a:endParaRPr lang="es-ES_tradnl" dirty="0"/>
            </a:p>
          </p:txBody>
        </p:sp>
      </p:grpSp>
      <p:sp>
        <p:nvSpPr>
          <p:cNvPr id="9221" name="Rectangle: Rounded Corners 9220">
            <a:extLst>
              <a:ext uri="{FF2B5EF4-FFF2-40B4-BE49-F238E27FC236}">
                <a16:creationId xmlns:a16="http://schemas.microsoft.com/office/drawing/2014/main" id="{E41C3767-F5DA-3DB9-627F-BF0FA30134B3}"/>
              </a:ext>
            </a:extLst>
          </p:cNvPr>
          <p:cNvSpPr/>
          <p:nvPr/>
        </p:nvSpPr>
        <p:spPr bwMode="auto">
          <a:xfrm>
            <a:off x="8193875" y="3364475"/>
            <a:ext cx="730728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Control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Registros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B5A6F2FC-EA32-6471-DBB8-076D560A99B6}"/>
              </a:ext>
            </a:extLst>
          </p:cNvPr>
          <p:cNvGrpSpPr/>
          <p:nvPr/>
        </p:nvGrpSpPr>
        <p:grpSpPr>
          <a:xfrm>
            <a:off x="8169238" y="4050050"/>
            <a:ext cx="844780" cy="413230"/>
            <a:chOff x="6400561" y="3384947"/>
            <a:chExt cx="844780" cy="413230"/>
          </a:xfrm>
        </p:grpSpPr>
        <p:pic>
          <p:nvPicPr>
            <p:cNvPr id="9225" name="lambda" descr="Lambda service icon.">
              <a:extLst>
                <a:ext uri="{FF2B5EF4-FFF2-40B4-BE49-F238E27FC236}">
                  <a16:creationId xmlns:a16="http://schemas.microsoft.com/office/drawing/2014/main" id="{FE96A178-69C2-6A61-F91D-E2BCC48D2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 bwMode="auto">
            <a:xfrm>
              <a:off x="6686988" y="3384947"/>
              <a:ext cx="224346" cy="224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6" name="label5">
              <a:extLst>
                <a:ext uri="{FF2B5EF4-FFF2-40B4-BE49-F238E27FC236}">
                  <a16:creationId xmlns:a16="http://schemas.microsoft.com/office/drawing/2014/main" id="{83581B17-AD90-C58D-F8FC-25695DF07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561" y="3582733"/>
              <a:ext cx="8447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Lambda</a:t>
              </a:r>
            </a:p>
          </p:txBody>
        </p:sp>
      </p:grpSp>
      <p:grpSp>
        <p:nvGrpSpPr>
          <p:cNvPr id="9232" name="Group 9231">
            <a:extLst>
              <a:ext uri="{FF2B5EF4-FFF2-40B4-BE49-F238E27FC236}">
                <a16:creationId xmlns:a16="http://schemas.microsoft.com/office/drawing/2014/main" id="{A704C6A0-99BA-EF7D-2BB4-33B551EC17B1}"/>
              </a:ext>
            </a:extLst>
          </p:cNvPr>
          <p:cNvGrpSpPr/>
          <p:nvPr/>
        </p:nvGrpSpPr>
        <p:grpSpPr>
          <a:xfrm>
            <a:off x="8170970" y="4491511"/>
            <a:ext cx="841315" cy="468855"/>
            <a:chOff x="7754896" y="3062065"/>
            <a:chExt cx="841315" cy="468855"/>
          </a:xfrm>
        </p:grpSpPr>
        <p:pic>
          <p:nvPicPr>
            <p:cNvPr id="9230" name="Graphic 23" descr="Amazon DynamoDB service icon.">
              <a:extLst>
                <a:ext uri="{FF2B5EF4-FFF2-40B4-BE49-F238E27FC236}">
                  <a16:creationId xmlns:a16="http://schemas.microsoft.com/office/drawing/2014/main" id="{7E3EE2FF-FE82-18FF-7439-D2DBD56D09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 bwMode="auto">
            <a:xfrm>
              <a:off x="8030391" y="3062065"/>
              <a:ext cx="253411" cy="253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Box 12">
              <a:extLst>
                <a:ext uri="{FF2B5EF4-FFF2-40B4-BE49-F238E27FC236}">
                  <a16:creationId xmlns:a16="http://schemas.microsoft.com/office/drawing/2014/main" id="{FA29D0C0-F9B0-CBFC-19C5-6FD881A45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4896" y="3315476"/>
              <a:ext cx="84131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DynamoDB</a:t>
              </a:r>
            </a:p>
          </p:txBody>
        </p:sp>
      </p:grpSp>
      <p:pic>
        <p:nvPicPr>
          <p:cNvPr id="1373" name="Picture 1372">
            <a:extLst>
              <a:ext uri="{FF2B5EF4-FFF2-40B4-BE49-F238E27FC236}">
                <a16:creationId xmlns:a16="http://schemas.microsoft.com/office/drawing/2014/main" id="{04B4EE35-9151-EA5B-9AA0-0DF0CB42E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72377" y="381568"/>
            <a:ext cx="2167395" cy="779986"/>
          </a:xfrm>
          <a:prstGeom prst="rect">
            <a:avLst/>
          </a:prstGeom>
        </p:spPr>
      </p:pic>
      <p:sp>
        <p:nvSpPr>
          <p:cNvPr id="1374" name="Rectangle 1373">
            <a:extLst>
              <a:ext uri="{FF2B5EF4-FFF2-40B4-BE49-F238E27FC236}">
                <a16:creationId xmlns:a16="http://schemas.microsoft.com/office/drawing/2014/main" id="{1347D6A6-9BF4-D8EB-C8BC-E1799D4252C3}"/>
              </a:ext>
            </a:extLst>
          </p:cNvPr>
          <p:cNvSpPr/>
          <p:nvPr/>
        </p:nvSpPr>
        <p:spPr bwMode="auto">
          <a:xfrm>
            <a:off x="9946510" y="642640"/>
            <a:ext cx="349634" cy="321588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</p:spPr>
        <p:txBody>
          <a:bodyPr wrap="none" rtlCol="0" anchor="ctr">
            <a:noAutofit/>
          </a:bodyPr>
          <a:lstStyle/>
          <a:p>
            <a:pPr algn="ctr"/>
            <a:endParaRPr lang="es-ES_tradn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63407C-F219-816C-821D-B4E0D9A8C728}"/>
              </a:ext>
            </a:extLst>
          </p:cNvPr>
          <p:cNvGrpSpPr/>
          <p:nvPr/>
        </p:nvGrpSpPr>
        <p:grpSpPr>
          <a:xfrm>
            <a:off x="4813220" y="6304019"/>
            <a:ext cx="1192822" cy="378105"/>
            <a:chOff x="835051" y="1350653"/>
            <a:chExt cx="1192822" cy="378105"/>
          </a:xfrm>
        </p:grpSpPr>
        <p:pic>
          <p:nvPicPr>
            <p:cNvPr id="4" name="Graphic 17" descr="AWS Step Functions service icon.">
              <a:extLst>
                <a:ext uri="{FF2B5EF4-FFF2-40B4-BE49-F238E27FC236}">
                  <a16:creationId xmlns:a16="http://schemas.microsoft.com/office/drawing/2014/main" id="{E510E439-CF3C-E62E-9AFC-27581FE69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 bwMode="auto">
            <a:xfrm>
              <a:off x="835051" y="1350653"/>
              <a:ext cx="378105" cy="378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F6D04719-7607-85F2-A1DE-4778F12C3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03" y="1390204"/>
              <a:ext cx="10037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Step Functions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34A078E-5E20-17A6-228C-03545BEEBCCA}"/>
              </a:ext>
            </a:extLst>
          </p:cNvPr>
          <p:cNvGrpSpPr/>
          <p:nvPr/>
        </p:nvGrpSpPr>
        <p:grpSpPr>
          <a:xfrm>
            <a:off x="7591321" y="6276861"/>
            <a:ext cx="576960" cy="428487"/>
            <a:chOff x="3743069" y="3921688"/>
            <a:chExt cx="637630" cy="463623"/>
          </a:xfrm>
        </p:grpSpPr>
        <p:pic>
          <p:nvPicPr>
            <p:cNvPr id="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A6E9ABCC-FD82-328C-A08A-0A1497F60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44336F-596C-084A-B14D-372C5CC7CD1D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S3</a:t>
              </a:r>
              <a:endParaRPr lang="es-ES_tradnl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2737A4-CD84-0E75-71EE-04D556DAE028}"/>
              </a:ext>
            </a:extLst>
          </p:cNvPr>
          <p:cNvGrpSpPr/>
          <p:nvPr/>
        </p:nvGrpSpPr>
        <p:grpSpPr>
          <a:xfrm>
            <a:off x="6251391" y="6314297"/>
            <a:ext cx="962930" cy="283618"/>
            <a:chOff x="2127933" y="3933232"/>
            <a:chExt cx="962930" cy="283618"/>
          </a:xfrm>
        </p:grpSpPr>
        <p:pic>
          <p:nvPicPr>
            <p:cNvPr id="19" name="Graphic 6" descr="AWS Glue service icon.">
              <a:extLst>
                <a:ext uri="{FF2B5EF4-FFF2-40B4-BE49-F238E27FC236}">
                  <a16:creationId xmlns:a16="http://schemas.microsoft.com/office/drawing/2014/main" id="{4FEF00C8-6EFE-E36B-BFC2-9F31E6B9DF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735360D0-4102-3CCA-EC48-657DC42DB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A1C2C40B-C7B7-64A4-2EB5-B7E129EEFE84}"/>
              </a:ext>
            </a:extLst>
          </p:cNvPr>
          <p:cNvSpPr/>
          <p:nvPr/>
        </p:nvSpPr>
        <p:spPr>
          <a:xfrm rot="16200000">
            <a:off x="6730231" y="745584"/>
            <a:ext cx="299553" cy="101388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D3F562-3F04-1F5A-3B25-328FC2F4A2F0}"/>
              </a:ext>
            </a:extLst>
          </p:cNvPr>
          <p:cNvSpPr txBox="1"/>
          <p:nvPr/>
        </p:nvSpPr>
        <p:spPr>
          <a:xfrm>
            <a:off x="8485963" y="6492920"/>
            <a:ext cx="2383028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>
                <a:latin typeface="Arial" pitchFamily="34" charset="0"/>
                <a:cs typeface="Arial" pitchFamily="34" charset="0"/>
              </a:rPr>
              <a:t>* Los aplicativos marcados en rojo son aplicativos que ya no utiliza el banco</a:t>
            </a:r>
          </a:p>
        </p:txBody>
      </p:sp>
      <p:sp>
        <p:nvSpPr>
          <p:cNvPr id="1401" name="Rectangle 6">
            <a:extLst>
              <a:ext uri="{FF2B5EF4-FFF2-40B4-BE49-F238E27FC236}">
                <a16:creationId xmlns:a16="http://schemas.microsoft.com/office/drawing/2014/main" id="{1533F104-2C82-B1E9-F2A1-4F8B7758EA8B}"/>
              </a:ext>
            </a:extLst>
          </p:cNvPr>
          <p:cNvSpPr/>
          <p:nvPr/>
        </p:nvSpPr>
        <p:spPr bwMode="auto">
          <a:xfrm>
            <a:off x="87394" y="2959682"/>
            <a:ext cx="972000" cy="307777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PE" sz="1000" b="1" dirty="0" err="1"/>
              <a:t>t_dim_tipo_cambio_rsk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958020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4="http://schemas.microsoft.com/office/powerpoint/2010/main" xmlns:p15="http://schemas.microsoft.com/office/powerpoint/2012/main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A362-14C8-9B46-C7BA-C062D6CF3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C8683686-A292-6677-DF9F-56E4A1221A8E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E03121F-2EA3-EC15-DC93-09572A5266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 dirty="0">
                <a:solidFill>
                  <a:srgbClr val="002569"/>
                </a:solidFill>
                <a:latin typeface="Segoe UI Light"/>
              </a:rPr>
              <a:t>Diseño Técnico</a:t>
            </a:r>
            <a:endParaRPr kumimoji="0" lang="es-ES" sz="2133" b="1" i="0" u="none" strike="noStrike" kern="0" cap="none" spc="0" normalizeH="0" baseline="0" noProof="0" dirty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E0D399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Flujo Aprovisionamiento Segmento</a:t>
            </a: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59" name="Rectangle: Rounded Corners 1458">
            <a:extLst>
              <a:ext uri="{FF2B5EF4-FFF2-40B4-BE49-F238E27FC236}">
                <a16:creationId xmlns:a16="http://schemas.microsoft.com/office/drawing/2014/main" id="{925D5E7A-0F5D-F9C2-6BC7-D407F0135B60}"/>
              </a:ext>
            </a:extLst>
          </p:cNvPr>
          <p:cNvSpPr/>
          <p:nvPr/>
        </p:nvSpPr>
        <p:spPr bwMode="auto">
          <a:xfrm>
            <a:off x="3436858" y="2520888"/>
            <a:ext cx="769446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Extracción</a:t>
            </a:r>
          </a:p>
        </p:txBody>
      </p:sp>
      <p:sp>
        <p:nvSpPr>
          <p:cNvPr id="4105" name="Rectangle: Rounded Corners 4104">
            <a:extLst>
              <a:ext uri="{FF2B5EF4-FFF2-40B4-BE49-F238E27FC236}">
                <a16:creationId xmlns:a16="http://schemas.microsoft.com/office/drawing/2014/main" id="{DA3D0014-47DA-ACA8-CFD7-590F254180BC}"/>
              </a:ext>
            </a:extLst>
          </p:cNvPr>
          <p:cNvSpPr/>
          <p:nvPr/>
        </p:nvSpPr>
        <p:spPr bwMode="auto">
          <a:xfrm>
            <a:off x="4218345" y="2520888"/>
            <a:ext cx="1015091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Homologación</a:t>
            </a:r>
          </a:p>
        </p:txBody>
      </p: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AB939F55-A80A-7004-23E2-1E6419B34DE1}"/>
              </a:ext>
            </a:extLst>
          </p:cNvPr>
          <p:cNvSpPr/>
          <p:nvPr/>
        </p:nvSpPr>
        <p:spPr bwMode="auto">
          <a:xfrm>
            <a:off x="8118332" y="2755253"/>
            <a:ext cx="1188000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700" b="1" dirty="0">
                <a:latin typeface="Arial" pitchFamily="34" charset="0"/>
                <a:cs typeface="Arial" pitchFamily="34" charset="0"/>
              </a:rPr>
              <a:t>DIM_SEGMENTO</a:t>
            </a:r>
          </a:p>
        </p:txBody>
      </p:sp>
      <p:pic>
        <p:nvPicPr>
          <p:cNvPr id="4125" name="Graphic 23" descr="Amazon Redshift service icon.">
            <a:extLst>
              <a:ext uri="{FF2B5EF4-FFF2-40B4-BE49-F238E27FC236}">
                <a16:creationId xmlns:a16="http://schemas.microsoft.com/office/drawing/2014/main" id="{8A83BF25-C88A-04DB-1BA0-386B6A171BD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9278095" y="2808487"/>
            <a:ext cx="217766" cy="21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6E98DD70-2970-82C4-436C-2060CF26AE00}"/>
              </a:ext>
            </a:extLst>
          </p:cNvPr>
          <p:cNvGrpSpPr/>
          <p:nvPr/>
        </p:nvGrpSpPr>
        <p:grpSpPr>
          <a:xfrm>
            <a:off x="3660572" y="3423639"/>
            <a:ext cx="962930" cy="283618"/>
            <a:chOff x="2127933" y="3933232"/>
            <a:chExt cx="962930" cy="283618"/>
          </a:xfrm>
        </p:grpSpPr>
        <p:pic>
          <p:nvPicPr>
            <p:cNvPr id="4152" name="Graphic 6" descr="AWS Glue service icon.">
              <a:extLst>
                <a:ext uri="{FF2B5EF4-FFF2-40B4-BE49-F238E27FC236}">
                  <a16:creationId xmlns:a16="http://schemas.microsoft.com/office/drawing/2014/main" id="{00305F3D-B451-03B3-AE7B-B3603B175D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53" name="TextBox 10">
              <a:extLst>
                <a:ext uri="{FF2B5EF4-FFF2-40B4-BE49-F238E27FC236}">
                  <a16:creationId xmlns:a16="http://schemas.microsoft.com/office/drawing/2014/main" id="{A17FBAC2-612F-D30F-E322-D161DB89C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CC2024A0-2A57-B115-33D2-8FFC3EEBBA35}"/>
              </a:ext>
            </a:extLst>
          </p:cNvPr>
          <p:cNvGrpSpPr/>
          <p:nvPr/>
        </p:nvGrpSpPr>
        <p:grpSpPr>
          <a:xfrm>
            <a:off x="1004868" y="894221"/>
            <a:ext cx="830910" cy="4946167"/>
            <a:chOff x="1219056" y="1186829"/>
            <a:chExt cx="830910" cy="4946167"/>
          </a:xfrm>
        </p:grpSpPr>
        <p:sp>
          <p:nvSpPr>
            <p:cNvPr id="1442" name="Rectangle 1441">
              <a:extLst>
                <a:ext uri="{FF2B5EF4-FFF2-40B4-BE49-F238E27FC236}">
                  <a16:creationId xmlns:a16="http://schemas.microsoft.com/office/drawing/2014/main" id="{28A42A1B-DF07-57EC-11F0-55449C311FB1}"/>
                </a:ext>
              </a:extLst>
            </p:cNvPr>
            <p:cNvSpPr/>
            <p:nvPr/>
          </p:nvSpPr>
          <p:spPr bwMode="auto">
            <a:xfrm>
              <a:off x="1337243" y="1186829"/>
              <a:ext cx="588467" cy="4946167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n-US" altLang="en-US" sz="800" b="1">
                <a:latin typeface="Arial" pitchFamily="34" charset="0"/>
                <a:ea typeface="Amazon Ember" panose="020B0603020204020204" pitchFamily="34" charset="0"/>
                <a:cs typeface="Arial" pitchFamily="34" charset="0"/>
              </a:endParaRPr>
            </a:p>
          </p:txBody>
        </p:sp>
        <p:pic>
          <p:nvPicPr>
            <p:cNvPr id="1447" name="Graphic 1446" descr="AWS Glue Data Catalog resource icon for the AWS Glue service.">
              <a:extLst>
                <a:ext uri="{FF2B5EF4-FFF2-40B4-BE49-F238E27FC236}">
                  <a16:creationId xmlns:a16="http://schemas.microsoft.com/office/drawing/2014/main" id="{F3AC24BA-D3D5-0B00-0035-C9DD5EB5D2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2368" y="3629186"/>
              <a:ext cx="383843" cy="421601"/>
            </a:xfrm>
            <a:prstGeom prst="rect">
              <a:avLst/>
            </a:prstGeom>
          </p:spPr>
        </p:pic>
        <p:pic>
          <p:nvPicPr>
            <p:cNvPr id="1027" name="Graphic 14" descr="Amazon Athena service icon.">
              <a:extLst>
                <a:ext uri="{FF2B5EF4-FFF2-40B4-BE49-F238E27FC236}">
                  <a16:creationId xmlns:a16="http://schemas.microsoft.com/office/drawing/2014/main" id="{212AEAA2-E7E9-7C27-D630-2C2AB4F02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auto">
            <a:xfrm>
              <a:off x="1493647" y="2220260"/>
              <a:ext cx="294763" cy="29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" name="TextBox 17">
              <a:extLst>
                <a:ext uri="{FF2B5EF4-FFF2-40B4-BE49-F238E27FC236}">
                  <a16:creationId xmlns:a16="http://schemas.microsoft.com/office/drawing/2014/main" id="{0F151783-B9DE-C6DE-E7ED-8C43F8A51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056" y="2599091"/>
              <a:ext cx="83091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Amazon Athena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8A589BA9-FFE8-F344-235E-3D149C17E08A}"/>
                </a:ext>
              </a:extLst>
            </p:cNvPr>
            <p:cNvSpPr txBox="1"/>
            <p:nvPr/>
          </p:nvSpPr>
          <p:spPr>
            <a:xfrm>
              <a:off x="1260233" y="4090807"/>
              <a:ext cx="7580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Glue</a:t>
              </a:r>
              <a:br>
                <a:rPr lang="en-US" altLang="en-US"/>
              </a:br>
              <a:r>
                <a:rPr lang="en-US" altLang="en-US"/>
                <a:t>Data Catalog</a:t>
              </a:r>
            </a:p>
          </p:txBody>
        </p:sp>
      </p:grpSp>
      <p:grpSp>
        <p:nvGrpSpPr>
          <p:cNvPr id="9242" name="Group 9241">
            <a:extLst>
              <a:ext uri="{FF2B5EF4-FFF2-40B4-BE49-F238E27FC236}">
                <a16:creationId xmlns:a16="http://schemas.microsoft.com/office/drawing/2014/main" id="{500C6F75-0516-92EE-CECC-C6F3F8683B2B}"/>
              </a:ext>
            </a:extLst>
          </p:cNvPr>
          <p:cNvGrpSpPr/>
          <p:nvPr/>
        </p:nvGrpSpPr>
        <p:grpSpPr>
          <a:xfrm>
            <a:off x="1784281" y="5953750"/>
            <a:ext cx="10080000" cy="261610"/>
            <a:chOff x="1784281" y="5889742"/>
            <a:chExt cx="10080000" cy="261610"/>
          </a:xfrm>
        </p:grpSpPr>
        <p:sp>
          <p:nvSpPr>
            <p:cNvPr id="4144" name="Arrow: Pentagon 4143">
              <a:extLst>
                <a:ext uri="{FF2B5EF4-FFF2-40B4-BE49-F238E27FC236}">
                  <a16:creationId xmlns:a16="http://schemas.microsoft.com/office/drawing/2014/main" id="{69F646DC-23CE-903D-A3BD-51D40592D29D}"/>
                </a:ext>
              </a:extLst>
            </p:cNvPr>
            <p:cNvSpPr/>
            <p:nvPr/>
          </p:nvSpPr>
          <p:spPr bwMode="auto">
            <a:xfrm>
              <a:off x="1784281" y="5925328"/>
              <a:ext cx="10080000" cy="211458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A2D68AED-C55E-07B5-6C11-7346A57B915D}"/>
                </a:ext>
              </a:extLst>
            </p:cNvPr>
            <p:cNvSpPr txBox="1"/>
            <p:nvPr/>
          </p:nvSpPr>
          <p:spPr>
            <a:xfrm>
              <a:off x="3159412" y="5889742"/>
              <a:ext cx="84496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1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Pipeline único, la particularidades de cada sistema se gestionan mediante ficheros de configuración.</a:t>
              </a:r>
            </a:p>
          </p:txBody>
        </p: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4A93F776-58EF-56EF-0564-0159B385ED6E}"/>
              </a:ext>
            </a:extLst>
          </p:cNvPr>
          <p:cNvSpPr txBox="1"/>
          <p:nvPr/>
        </p:nvSpPr>
        <p:spPr>
          <a:xfrm>
            <a:off x="3103806" y="3931000"/>
            <a:ext cx="2383028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 b="1" dirty="0">
                <a:latin typeface="Arial" pitchFamily="34" charset="0"/>
                <a:cs typeface="Arial" pitchFamily="34" charset="0"/>
              </a:rPr>
              <a:t>La configuración del Pipeline se realiza en un fichero de configuración </a:t>
            </a:r>
            <a:r>
              <a:rPr lang="es-ES_tradnl" sz="800" b="1" dirty="0" err="1">
                <a:latin typeface="Arial" pitchFamily="34" charset="0"/>
                <a:cs typeface="Arial" pitchFamily="34" charset="0"/>
              </a:rPr>
              <a:t>json</a:t>
            </a:r>
            <a:r>
              <a:rPr lang="es-ES_tradnl" sz="800" b="1" dirty="0">
                <a:latin typeface="Arial" pitchFamily="34" charset="0"/>
                <a:cs typeface="Arial" pitchFamily="34" charset="0"/>
              </a:rPr>
              <a:t> que tiene las especificidades.</a:t>
            </a:r>
          </a:p>
        </p:txBody>
      </p:sp>
      <p:sp>
        <p:nvSpPr>
          <p:cNvPr id="1076" name="Arrow: Up 1075">
            <a:extLst>
              <a:ext uri="{FF2B5EF4-FFF2-40B4-BE49-F238E27FC236}">
                <a16:creationId xmlns:a16="http://schemas.microsoft.com/office/drawing/2014/main" id="{6F5C6A76-F552-2219-73AD-3A29A766EC7E}"/>
              </a:ext>
            </a:extLst>
          </p:cNvPr>
          <p:cNvSpPr/>
          <p:nvPr/>
        </p:nvSpPr>
        <p:spPr bwMode="auto">
          <a:xfrm rot="5400000">
            <a:off x="7875122" y="2818193"/>
            <a:ext cx="215788" cy="143489"/>
          </a:xfrm>
          <a:prstGeom prst="upArrow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ctr"/>
            <a:endParaRPr lang="es-ES_tradnl"/>
          </a:p>
        </p:txBody>
      </p:sp>
      <p:sp>
        <p:nvSpPr>
          <p:cNvPr id="5131" name="Rectangle: Rounded Corners 5130">
            <a:extLst>
              <a:ext uri="{FF2B5EF4-FFF2-40B4-BE49-F238E27FC236}">
                <a16:creationId xmlns:a16="http://schemas.microsoft.com/office/drawing/2014/main" id="{51C6EBB3-ED3D-19E1-45CB-9A430600FFE6}"/>
              </a:ext>
            </a:extLst>
          </p:cNvPr>
          <p:cNvSpPr/>
          <p:nvPr/>
        </p:nvSpPr>
        <p:spPr bwMode="auto">
          <a:xfrm>
            <a:off x="7263599" y="2513729"/>
            <a:ext cx="580846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Act.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BBDD</a:t>
            </a:r>
          </a:p>
        </p:txBody>
      </p:sp>
      <p:sp>
        <p:nvSpPr>
          <p:cNvPr id="5135" name="Rectangle: Rounded Corners 5134">
            <a:extLst>
              <a:ext uri="{FF2B5EF4-FFF2-40B4-BE49-F238E27FC236}">
                <a16:creationId xmlns:a16="http://schemas.microsoft.com/office/drawing/2014/main" id="{6333EB88-8B39-C244-73EE-AC20C06D9C0D}"/>
              </a:ext>
            </a:extLst>
          </p:cNvPr>
          <p:cNvSpPr/>
          <p:nvPr/>
        </p:nvSpPr>
        <p:spPr bwMode="auto">
          <a:xfrm>
            <a:off x="9692585" y="3852146"/>
            <a:ext cx="849057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Limpieza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Temporales</a:t>
            </a:r>
          </a:p>
        </p:txBody>
      </p:sp>
      <p:cxnSp>
        <p:nvCxnSpPr>
          <p:cNvPr id="5136" name="Connector: Elbow 5135">
            <a:extLst>
              <a:ext uri="{FF2B5EF4-FFF2-40B4-BE49-F238E27FC236}">
                <a16:creationId xmlns:a16="http://schemas.microsoft.com/office/drawing/2014/main" id="{C4616082-ACC8-3350-20AF-950682B6CD89}"/>
              </a:ext>
            </a:extLst>
          </p:cNvPr>
          <p:cNvCxnSpPr>
            <a:stCxn id="5131" idx="2"/>
            <a:endCxn id="9221" idx="1"/>
          </p:cNvCxnSpPr>
          <p:nvPr/>
        </p:nvCxnSpPr>
        <p:spPr bwMode="auto">
          <a:xfrm rot="16200000" flipH="1">
            <a:off x="7740472" y="2989197"/>
            <a:ext cx="995542" cy="136844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153" name="Group 5152">
            <a:extLst>
              <a:ext uri="{FF2B5EF4-FFF2-40B4-BE49-F238E27FC236}">
                <a16:creationId xmlns:a16="http://schemas.microsoft.com/office/drawing/2014/main" id="{7414591B-CA06-07C4-B0B1-CB9A15293BCB}"/>
              </a:ext>
            </a:extLst>
          </p:cNvPr>
          <p:cNvGrpSpPr/>
          <p:nvPr/>
        </p:nvGrpSpPr>
        <p:grpSpPr>
          <a:xfrm>
            <a:off x="4661976" y="3394262"/>
            <a:ext cx="576960" cy="428487"/>
            <a:chOff x="3743069" y="3921688"/>
            <a:chExt cx="637630" cy="463623"/>
          </a:xfrm>
        </p:grpSpPr>
        <p:pic>
          <p:nvPicPr>
            <p:cNvPr id="5148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99632ED6-D237-E807-7575-C9F499F9C6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52" name="TextBox 5151">
              <a:extLst>
                <a:ext uri="{FF2B5EF4-FFF2-40B4-BE49-F238E27FC236}">
                  <a16:creationId xmlns:a16="http://schemas.microsoft.com/office/drawing/2014/main" id="{19C0BDD2-21D6-6910-CC8D-9E6B2D795CFC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AWS S3</a:t>
              </a:r>
              <a:endParaRPr lang="es-ES_tradnl" dirty="0"/>
            </a:p>
          </p:txBody>
        </p:sp>
      </p:grpSp>
      <p:sp>
        <p:nvSpPr>
          <p:cNvPr id="9221" name="Rectangle: Rounded Corners 9220">
            <a:extLst>
              <a:ext uri="{FF2B5EF4-FFF2-40B4-BE49-F238E27FC236}">
                <a16:creationId xmlns:a16="http://schemas.microsoft.com/office/drawing/2014/main" id="{95D02F6A-FA6D-3347-829E-6EDAEB9C8E70}"/>
              </a:ext>
            </a:extLst>
          </p:cNvPr>
          <p:cNvSpPr/>
          <p:nvPr/>
        </p:nvSpPr>
        <p:spPr bwMode="auto">
          <a:xfrm>
            <a:off x="8922465" y="3852146"/>
            <a:ext cx="730728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Control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Registros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B42342E2-47E6-7ABD-4CCF-A1E679DEA040}"/>
              </a:ext>
            </a:extLst>
          </p:cNvPr>
          <p:cNvGrpSpPr/>
          <p:nvPr/>
        </p:nvGrpSpPr>
        <p:grpSpPr>
          <a:xfrm>
            <a:off x="8897828" y="4537721"/>
            <a:ext cx="844780" cy="413230"/>
            <a:chOff x="6400561" y="3384947"/>
            <a:chExt cx="844780" cy="413230"/>
          </a:xfrm>
        </p:grpSpPr>
        <p:pic>
          <p:nvPicPr>
            <p:cNvPr id="9225" name="lambda" descr="Lambda service icon.">
              <a:extLst>
                <a:ext uri="{FF2B5EF4-FFF2-40B4-BE49-F238E27FC236}">
                  <a16:creationId xmlns:a16="http://schemas.microsoft.com/office/drawing/2014/main" id="{20272A4D-296D-6640-EA28-5E2FA3AACE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 bwMode="auto">
            <a:xfrm>
              <a:off x="6686988" y="3384947"/>
              <a:ext cx="224346" cy="224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6" name="label5">
              <a:extLst>
                <a:ext uri="{FF2B5EF4-FFF2-40B4-BE49-F238E27FC236}">
                  <a16:creationId xmlns:a16="http://schemas.microsoft.com/office/drawing/2014/main" id="{A1081E5D-E5F0-B6B4-3E29-9A872241C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561" y="3582733"/>
              <a:ext cx="8447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Lambda</a:t>
              </a:r>
            </a:p>
          </p:txBody>
        </p:sp>
      </p:grpSp>
      <p:grpSp>
        <p:nvGrpSpPr>
          <p:cNvPr id="9232" name="Group 9231">
            <a:extLst>
              <a:ext uri="{FF2B5EF4-FFF2-40B4-BE49-F238E27FC236}">
                <a16:creationId xmlns:a16="http://schemas.microsoft.com/office/drawing/2014/main" id="{5D4FD0DD-D2D1-8545-A408-B1DB7775F259}"/>
              </a:ext>
            </a:extLst>
          </p:cNvPr>
          <p:cNvGrpSpPr/>
          <p:nvPr/>
        </p:nvGrpSpPr>
        <p:grpSpPr>
          <a:xfrm>
            <a:off x="8899560" y="4979182"/>
            <a:ext cx="841315" cy="468855"/>
            <a:chOff x="7754896" y="3062065"/>
            <a:chExt cx="841315" cy="468855"/>
          </a:xfrm>
        </p:grpSpPr>
        <p:pic>
          <p:nvPicPr>
            <p:cNvPr id="9230" name="Graphic 23" descr="Amazon DynamoDB service icon.">
              <a:extLst>
                <a:ext uri="{FF2B5EF4-FFF2-40B4-BE49-F238E27FC236}">
                  <a16:creationId xmlns:a16="http://schemas.microsoft.com/office/drawing/2014/main" id="{FAA1A1FD-869B-070D-A1C8-49AFF86B6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 bwMode="auto">
            <a:xfrm>
              <a:off x="8030391" y="3062065"/>
              <a:ext cx="253411" cy="253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Box 12">
              <a:extLst>
                <a:ext uri="{FF2B5EF4-FFF2-40B4-BE49-F238E27FC236}">
                  <a16:creationId xmlns:a16="http://schemas.microsoft.com/office/drawing/2014/main" id="{39CD83B8-0C0E-8F64-8F90-CA9190861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4896" y="3315476"/>
              <a:ext cx="84131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DynamoDB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FDE4EFC-1B06-A07D-6127-E1089D4D85BF}"/>
              </a:ext>
            </a:extLst>
          </p:cNvPr>
          <p:cNvGrpSpPr/>
          <p:nvPr/>
        </p:nvGrpSpPr>
        <p:grpSpPr>
          <a:xfrm>
            <a:off x="4813220" y="6304019"/>
            <a:ext cx="1192822" cy="378105"/>
            <a:chOff x="835051" y="1350653"/>
            <a:chExt cx="1192822" cy="378105"/>
          </a:xfrm>
        </p:grpSpPr>
        <p:pic>
          <p:nvPicPr>
            <p:cNvPr id="4" name="Graphic 17" descr="AWS Step Functions service icon.">
              <a:extLst>
                <a:ext uri="{FF2B5EF4-FFF2-40B4-BE49-F238E27FC236}">
                  <a16:creationId xmlns:a16="http://schemas.microsoft.com/office/drawing/2014/main" id="{B8921CF0-A208-4BD4-B07D-B896C4483C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 bwMode="auto">
            <a:xfrm>
              <a:off x="835051" y="1350653"/>
              <a:ext cx="378105" cy="378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FA73B134-56A5-0B71-2927-BB2F25125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03" y="1390204"/>
              <a:ext cx="10037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Step Functions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6FAAAEB-D61F-1310-2FCC-76A6AF1FA53B}"/>
              </a:ext>
            </a:extLst>
          </p:cNvPr>
          <p:cNvGrpSpPr/>
          <p:nvPr/>
        </p:nvGrpSpPr>
        <p:grpSpPr>
          <a:xfrm>
            <a:off x="7591321" y="6276861"/>
            <a:ext cx="576960" cy="428487"/>
            <a:chOff x="3743069" y="3921688"/>
            <a:chExt cx="637630" cy="463623"/>
          </a:xfrm>
        </p:grpSpPr>
        <p:pic>
          <p:nvPicPr>
            <p:cNvPr id="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CD05E6A1-3002-EFFD-B750-DD4C80E38F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A436B4-749E-2608-429F-BFF98634F422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S3</a:t>
              </a:r>
              <a:endParaRPr lang="es-ES_tradnl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4DCC94-3DF2-5E7F-F13D-590E15005BC9}"/>
              </a:ext>
            </a:extLst>
          </p:cNvPr>
          <p:cNvGrpSpPr/>
          <p:nvPr/>
        </p:nvGrpSpPr>
        <p:grpSpPr>
          <a:xfrm>
            <a:off x="6251391" y="6314297"/>
            <a:ext cx="962930" cy="283618"/>
            <a:chOff x="2127933" y="3933232"/>
            <a:chExt cx="962930" cy="283618"/>
          </a:xfrm>
        </p:grpSpPr>
        <p:pic>
          <p:nvPicPr>
            <p:cNvPr id="19" name="Graphic 6" descr="AWS Glue service icon.">
              <a:extLst>
                <a:ext uri="{FF2B5EF4-FFF2-40B4-BE49-F238E27FC236}">
                  <a16:creationId xmlns:a16="http://schemas.microsoft.com/office/drawing/2014/main" id="{5516D63E-E437-C54A-583D-425D53B28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B2ACA50B-D6CC-5604-1CB6-437C04C1C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C29C436-67E2-168C-ABA6-BDB5B7BFB37E}"/>
              </a:ext>
            </a:extLst>
          </p:cNvPr>
          <p:cNvSpPr/>
          <p:nvPr/>
        </p:nvSpPr>
        <p:spPr>
          <a:xfrm rot="16200000">
            <a:off x="6730231" y="745584"/>
            <a:ext cx="299553" cy="101388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7C154F-398E-B32D-CE9F-405F896EF5F2}"/>
              </a:ext>
            </a:extLst>
          </p:cNvPr>
          <p:cNvSpPr txBox="1"/>
          <p:nvPr/>
        </p:nvSpPr>
        <p:spPr>
          <a:xfrm>
            <a:off x="8485963" y="6492920"/>
            <a:ext cx="2383028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>
                <a:latin typeface="Arial" pitchFamily="34" charset="0"/>
                <a:cs typeface="Arial" pitchFamily="34" charset="0"/>
              </a:rPr>
              <a:t>* Los aplicativos marcados en rojo son aplicativos que ya no utiliza el banco</a:t>
            </a:r>
          </a:p>
        </p:txBody>
      </p:sp>
      <p:sp>
        <p:nvSpPr>
          <p:cNvPr id="1401" name="Rectangle 6">
            <a:extLst>
              <a:ext uri="{FF2B5EF4-FFF2-40B4-BE49-F238E27FC236}">
                <a16:creationId xmlns:a16="http://schemas.microsoft.com/office/drawing/2014/main" id="{BF1134D5-CA2E-7215-AC28-26FFC27D1060}"/>
              </a:ext>
            </a:extLst>
          </p:cNvPr>
          <p:cNvSpPr/>
          <p:nvPr/>
        </p:nvSpPr>
        <p:spPr bwMode="auto">
          <a:xfrm>
            <a:off x="87394" y="2959682"/>
            <a:ext cx="972000" cy="307777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ES_tradnl" sz="1000" b="1" dirty="0" err="1">
                <a:latin typeface="Arial" pitchFamily="34" charset="0"/>
                <a:cs typeface="Arial" pitchFamily="34" charset="0"/>
              </a:rPr>
              <a:t>t_vpc_cliente_banca_final_hst</a:t>
            </a:r>
            <a:endParaRPr lang="es-ES_tradnl" sz="1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: Rounded Corners 4122">
            <a:extLst>
              <a:ext uri="{FF2B5EF4-FFF2-40B4-BE49-F238E27FC236}">
                <a16:creationId xmlns:a16="http://schemas.microsoft.com/office/drawing/2014/main" id="{25E09269-BCB9-B34A-FB86-DCCA1D494917}"/>
              </a:ext>
            </a:extLst>
          </p:cNvPr>
          <p:cNvSpPr/>
          <p:nvPr/>
        </p:nvSpPr>
        <p:spPr bwMode="auto">
          <a:xfrm>
            <a:off x="6386908" y="2497056"/>
            <a:ext cx="706228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Data</a:t>
            </a:r>
          </a:p>
          <a:p>
            <a:pPr algn="ctr"/>
            <a:r>
              <a:rPr lang="es-ES_tradnl" sz="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Quality</a:t>
            </a:r>
            <a:endParaRPr lang="es-ES_tradnl" sz="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043">
            <a:extLst>
              <a:ext uri="{FF2B5EF4-FFF2-40B4-BE49-F238E27FC236}">
                <a16:creationId xmlns:a16="http://schemas.microsoft.com/office/drawing/2014/main" id="{5B2B7F68-AE84-B418-E4E2-2687BA938C21}"/>
              </a:ext>
            </a:extLst>
          </p:cNvPr>
          <p:cNvSpPr txBox="1"/>
          <p:nvPr/>
        </p:nvSpPr>
        <p:spPr>
          <a:xfrm>
            <a:off x="5843508" y="1558320"/>
            <a:ext cx="1880786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600" b="1" dirty="0">
                <a:latin typeface="Arial" pitchFamily="34" charset="0"/>
                <a:cs typeface="Arial" pitchFamily="34" charset="0"/>
              </a:rPr>
              <a:t>Cruce de la tablas de origen con las tablas maestras para la validación de los campos correspondientes de cada dimensión.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9C7E62D-B715-7D0B-766D-59BB1891E1C1}"/>
              </a:ext>
            </a:extLst>
          </p:cNvPr>
          <p:cNvGrpSpPr/>
          <p:nvPr/>
        </p:nvGrpSpPr>
        <p:grpSpPr>
          <a:xfrm>
            <a:off x="6269046" y="2026458"/>
            <a:ext cx="1071658" cy="205655"/>
            <a:chOff x="5636499" y="1571172"/>
            <a:chExt cx="1071658" cy="205655"/>
          </a:xfrm>
        </p:grpSpPr>
        <p:sp>
          <p:nvSpPr>
            <p:cNvPr id="23" name="Rectangle 4123">
              <a:extLst>
                <a:ext uri="{FF2B5EF4-FFF2-40B4-BE49-F238E27FC236}">
                  <a16:creationId xmlns:a16="http://schemas.microsoft.com/office/drawing/2014/main" id="{20DD86A9-9FB8-D640-8212-4E397923FAA7}"/>
                </a:ext>
              </a:extLst>
            </p:cNvPr>
            <p:cNvSpPr/>
            <p:nvPr/>
          </p:nvSpPr>
          <p:spPr bwMode="auto">
            <a:xfrm>
              <a:off x="5636499" y="1571172"/>
              <a:ext cx="936643" cy="1541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S_tradnl" sz="700" b="1" dirty="0">
                  <a:latin typeface="Arial" pitchFamily="34" charset="0"/>
                  <a:cs typeface="Arial" pitchFamily="34" charset="0"/>
                </a:rPr>
                <a:t>DIM_PERSONA</a:t>
              </a:r>
            </a:p>
          </p:txBody>
        </p:sp>
        <p:pic>
          <p:nvPicPr>
            <p:cNvPr id="24" name="Graphic 23" descr="Amazon Redshift service icon.">
              <a:extLst>
                <a:ext uri="{FF2B5EF4-FFF2-40B4-BE49-F238E27FC236}">
                  <a16:creationId xmlns:a16="http://schemas.microsoft.com/office/drawing/2014/main" id="{33328B34-7B2B-EEFD-6F59-4D441FF9F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6560031" y="1628701"/>
              <a:ext cx="148126" cy="14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" name="Left Brace 28">
            <a:extLst>
              <a:ext uri="{FF2B5EF4-FFF2-40B4-BE49-F238E27FC236}">
                <a16:creationId xmlns:a16="http://schemas.microsoft.com/office/drawing/2014/main" id="{F81A2888-B3C2-FEBB-CC0E-BD77EBC80554}"/>
              </a:ext>
            </a:extLst>
          </p:cNvPr>
          <p:cNvSpPr/>
          <p:nvPr/>
        </p:nvSpPr>
        <p:spPr>
          <a:xfrm rot="16200000">
            <a:off x="6710597" y="1596448"/>
            <a:ext cx="154195" cy="158204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37" name="Group 4146">
            <a:extLst>
              <a:ext uri="{FF2B5EF4-FFF2-40B4-BE49-F238E27FC236}">
                <a16:creationId xmlns:a16="http://schemas.microsoft.com/office/drawing/2014/main" id="{3E5CF385-CCE6-18F9-8231-5935810C79C7}"/>
              </a:ext>
            </a:extLst>
          </p:cNvPr>
          <p:cNvGrpSpPr/>
          <p:nvPr/>
        </p:nvGrpSpPr>
        <p:grpSpPr>
          <a:xfrm>
            <a:off x="6269046" y="3272293"/>
            <a:ext cx="969407" cy="344089"/>
            <a:chOff x="7927962" y="2476770"/>
            <a:chExt cx="969407" cy="344089"/>
          </a:xfrm>
        </p:grpSpPr>
        <p:pic>
          <p:nvPicPr>
            <p:cNvPr id="38" name="Graphic 4144" descr="AWS Glue Data Quality resource icon for the AWS Glue service.">
              <a:extLst>
                <a:ext uri="{FF2B5EF4-FFF2-40B4-BE49-F238E27FC236}">
                  <a16:creationId xmlns:a16="http://schemas.microsoft.com/office/drawing/2014/main" id="{AF284A78-03A7-4633-0264-EBD10968A2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927962" y="2488894"/>
              <a:ext cx="272358" cy="272358"/>
            </a:xfrm>
            <a:prstGeom prst="rect">
              <a:avLst/>
            </a:prstGeom>
          </p:spPr>
        </p:pic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3F8A8C77-3863-CDCA-FB89-1B8641E9D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3752" y="2476770"/>
              <a:ext cx="823617" cy="344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 dirty="0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 Data Quality</a:t>
              </a:r>
            </a:p>
          </p:txBody>
        </p:sp>
      </p:grpSp>
      <p:sp>
        <p:nvSpPr>
          <p:cNvPr id="41" name="Rectangle 6">
            <a:extLst>
              <a:ext uri="{FF2B5EF4-FFF2-40B4-BE49-F238E27FC236}">
                <a16:creationId xmlns:a16="http://schemas.microsoft.com/office/drawing/2014/main" id="{73966847-B460-C04D-5421-57E5D91A96DE}"/>
              </a:ext>
            </a:extLst>
          </p:cNvPr>
          <p:cNvSpPr/>
          <p:nvPr/>
        </p:nvSpPr>
        <p:spPr bwMode="auto">
          <a:xfrm>
            <a:off x="87394" y="3451607"/>
            <a:ext cx="972000" cy="307777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ES_tradnl" sz="1000" b="1" dirty="0" err="1">
                <a:latin typeface="Arial" pitchFamily="34" charset="0"/>
                <a:cs typeface="Arial" pitchFamily="34" charset="0"/>
              </a:rPr>
              <a:t>t_fct_segmento_cuc</a:t>
            </a:r>
            <a:endParaRPr lang="es-ES_tradnl" sz="1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1" name="Picture 1372">
            <a:extLst>
              <a:ext uri="{FF2B5EF4-FFF2-40B4-BE49-F238E27FC236}">
                <a16:creationId xmlns:a16="http://schemas.microsoft.com/office/drawing/2014/main" id="{D6C7405B-EC53-F029-8283-AFDE35D7BC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72377" y="381568"/>
            <a:ext cx="2167395" cy="779986"/>
          </a:xfrm>
          <a:prstGeom prst="rect">
            <a:avLst/>
          </a:prstGeom>
        </p:spPr>
      </p:pic>
      <p:sp>
        <p:nvSpPr>
          <p:cNvPr id="53" name="Rectangle 1373">
            <a:extLst>
              <a:ext uri="{FF2B5EF4-FFF2-40B4-BE49-F238E27FC236}">
                <a16:creationId xmlns:a16="http://schemas.microsoft.com/office/drawing/2014/main" id="{C415A7DF-560F-2F49-2FC6-4E85266D70D7}"/>
              </a:ext>
            </a:extLst>
          </p:cNvPr>
          <p:cNvSpPr/>
          <p:nvPr/>
        </p:nvSpPr>
        <p:spPr bwMode="auto">
          <a:xfrm>
            <a:off x="9946510" y="642640"/>
            <a:ext cx="349634" cy="321588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</p:spPr>
        <p:txBody>
          <a:bodyPr wrap="none" rtlCol="0" anchor="ctr">
            <a:noAutofit/>
          </a:bodyPr>
          <a:lstStyle/>
          <a:p>
            <a:pPr algn="ctr"/>
            <a:endParaRPr lang="es-ES_tradnl"/>
          </a:p>
        </p:txBody>
      </p:sp>
      <p:sp>
        <p:nvSpPr>
          <p:cNvPr id="55" name="Rectangle: Rounded Corners 4122">
            <a:extLst>
              <a:ext uri="{FF2B5EF4-FFF2-40B4-BE49-F238E27FC236}">
                <a16:creationId xmlns:a16="http://schemas.microsoft.com/office/drawing/2014/main" id="{BAF844AA-3060-9852-8606-5A5C4AD0D5CD}"/>
              </a:ext>
            </a:extLst>
          </p:cNvPr>
          <p:cNvSpPr/>
          <p:nvPr/>
        </p:nvSpPr>
        <p:spPr bwMode="auto">
          <a:xfrm>
            <a:off x="5388723" y="2502437"/>
            <a:ext cx="817739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Generación de Segmento Id</a:t>
            </a:r>
          </a:p>
        </p:txBody>
      </p:sp>
    </p:spTree>
    <p:extLst>
      <p:ext uri="{BB962C8B-B14F-4D97-AF65-F5344CB8AC3E}">
        <p14:creationId xmlns:p14="http://schemas.microsoft.com/office/powerpoint/2010/main" val="3174331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4="http://schemas.microsoft.com/office/powerpoint/2010/main" xmlns:p15="http://schemas.microsoft.com/office/powerpoint/2012/main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5816-FE2E-041D-8E44-483BAEC7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0566EB82-3A8C-AE49-6E6E-58C0E2DBF774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526B20-A488-DA4A-CEA6-BA8C22B148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 dirty="0">
                <a:solidFill>
                  <a:srgbClr val="002569"/>
                </a:solidFill>
                <a:latin typeface="Segoe UI Light"/>
              </a:rPr>
              <a:t>Diseño Técnico</a:t>
            </a:r>
            <a:endParaRPr kumimoji="0" lang="es-ES" sz="2133" b="1" i="0" u="none" strike="noStrike" kern="0" cap="none" spc="0" normalizeH="0" baseline="0" noProof="0" dirty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E0D399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Flujo Aprovisionamiento </a:t>
            </a:r>
            <a:r>
              <a:rPr lang="es-ES" sz="1600" b="1" kern="0" dirty="0">
                <a:solidFill>
                  <a:srgbClr val="E0D399">
                    <a:lumMod val="75000"/>
                  </a:srgbClr>
                </a:solidFill>
                <a:latin typeface="Segoe UI Light"/>
              </a:rPr>
              <a:t>Moneda</a:t>
            </a: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59" name="Rectangle: Rounded Corners 1458">
            <a:extLst>
              <a:ext uri="{FF2B5EF4-FFF2-40B4-BE49-F238E27FC236}">
                <a16:creationId xmlns:a16="http://schemas.microsoft.com/office/drawing/2014/main" id="{2450EE4A-4CE5-7B85-F133-E93B50DBAA24}"/>
              </a:ext>
            </a:extLst>
          </p:cNvPr>
          <p:cNvSpPr/>
          <p:nvPr/>
        </p:nvSpPr>
        <p:spPr bwMode="auto">
          <a:xfrm>
            <a:off x="4497211" y="2026058"/>
            <a:ext cx="769446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Extracción</a:t>
            </a:r>
          </a:p>
        </p:txBody>
      </p:sp>
      <p:sp>
        <p:nvSpPr>
          <p:cNvPr id="4105" name="Rectangle: Rounded Corners 4104">
            <a:extLst>
              <a:ext uri="{FF2B5EF4-FFF2-40B4-BE49-F238E27FC236}">
                <a16:creationId xmlns:a16="http://schemas.microsoft.com/office/drawing/2014/main" id="{2F532E14-94AB-F028-705B-398A47F19DFE}"/>
              </a:ext>
            </a:extLst>
          </p:cNvPr>
          <p:cNvSpPr/>
          <p:nvPr/>
        </p:nvSpPr>
        <p:spPr bwMode="auto">
          <a:xfrm>
            <a:off x="5278698" y="2026058"/>
            <a:ext cx="1015091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Homologación</a:t>
            </a:r>
          </a:p>
        </p:txBody>
      </p: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1D77AC57-0E15-6300-32AB-561025FD915B}"/>
              </a:ext>
            </a:extLst>
          </p:cNvPr>
          <p:cNvSpPr/>
          <p:nvPr/>
        </p:nvSpPr>
        <p:spPr bwMode="auto">
          <a:xfrm>
            <a:off x="7422409" y="2267582"/>
            <a:ext cx="1188000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700" b="1" dirty="0">
                <a:latin typeface="Arial" pitchFamily="34" charset="0"/>
                <a:cs typeface="Arial" pitchFamily="34" charset="0"/>
              </a:rPr>
              <a:t>DIM_MONEDA</a:t>
            </a:r>
          </a:p>
        </p:txBody>
      </p:sp>
      <p:pic>
        <p:nvPicPr>
          <p:cNvPr id="4125" name="Graphic 23" descr="Amazon Redshift service icon.">
            <a:extLst>
              <a:ext uri="{FF2B5EF4-FFF2-40B4-BE49-F238E27FC236}">
                <a16:creationId xmlns:a16="http://schemas.microsoft.com/office/drawing/2014/main" id="{E07F50CF-4DB4-25B0-2057-D2E15981F00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582172" y="2320816"/>
            <a:ext cx="217766" cy="21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B3EF7224-C374-BC18-EEF5-A47A2FC6FDAF}"/>
              </a:ext>
            </a:extLst>
          </p:cNvPr>
          <p:cNvGrpSpPr/>
          <p:nvPr/>
        </p:nvGrpSpPr>
        <p:grpSpPr>
          <a:xfrm>
            <a:off x="4720925" y="2928809"/>
            <a:ext cx="962930" cy="283618"/>
            <a:chOff x="2127933" y="3933232"/>
            <a:chExt cx="962930" cy="283618"/>
          </a:xfrm>
        </p:grpSpPr>
        <p:pic>
          <p:nvPicPr>
            <p:cNvPr id="4152" name="Graphic 6" descr="AWS Glue service icon.">
              <a:extLst>
                <a:ext uri="{FF2B5EF4-FFF2-40B4-BE49-F238E27FC236}">
                  <a16:creationId xmlns:a16="http://schemas.microsoft.com/office/drawing/2014/main" id="{1857EE10-C7D5-5498-6E3C-55DEA9AF0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53" name="TextBox 10">
              <a:extLst>
                <a:ext uri="{FF2B5EF4-FFF2-40B4-BE49-F238E27FC236}">
                  <a16:creationId xmlns:a16="http://schemas.microsoft.com/office/drawing/2014/main" id="{11B7C434-B9B5-6FB1-110C-42C82959B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9AAD2139-75EA-2BD4-365C-FBB533FFED76}"/>
              </a:ext>
            </a:extLst>
          </p:cNvPr>
          <p:cNvGrpSpPr/>
          <p:nvPr/>
        </p:nvGrpSpPr>
        <p:grpSpPr>
          <a:xfrm>
            <a:off x="1004868" y="894221"/>
            <a:ext cx="830910" cy="4946167"/>
            <a:chOff x="1219056" y="1186829"/>
            <a:chExt cx="830910" cy="4946167"/>
          </a:xfrm>
        </p:grpSpPr>
        <p:sp>
          <p:nvSpPr>
            <p:cNvPr id="1442" name="Rectangle 1441">
              <a:extLst>
                <a:ext uri="{FF2B5EF4-FFF2-40B4-BE49-F238E27FC236}">
                  <a16:creationId xmlns:a16="http://schemas.microsoft.com/office/drawing/2014/main" id="{4C6CF5F8-6CA0-D00E-9C9E-45A86DD5A39C}"/>
                </a:ext>
              </a:extLst>
            </p:cNvPr>
            <p:cNvSpPr/>
            <p:nvPr/>
          </p:nvSpPr>
          <p:spPr bwMode="auto">
            <a:xfrm>
              <a:off x="1337243" y="1186829"/>
              <a:ext cx="588467" cy="4946167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n-US" altLang="en-US" sz="800" b="1">
                <a:latin typeface="Arial" pitchFamily="34" charset="0"/>
                <a:ea typeface="Amazon Ember" panose="020B0603020204020204" pitchFamily="34" charset="0"/>
                <a:cs typeface="Arial" pitchFamily="34" charset="0"/>
              </a:endParaRPr>
            </a:p>
          </p:txBody>
        </p:sp>
        <p:pic>
          <p:nvPicPr>
            <p:cNvPr id="1447" name="Graphic 1446" descr="AWS Glue Data Catalog resource icon for the AWS Glue service.">
              <a:extLst>
                <a:ext uri="{FF2B5EF4-FFF2-40B4-BE49-F238E27FC236}">
                  <a16:creationId xmlns:a16="http://schemas.microsoft.com/office/drawing/2014/main" id="{F6C33A1A-13C1-5C05-3D9F-DDC07A2ACB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2368" y="3629186"/>
              <a:ext cx="383843" cy="421601"/>
            </a:xfrm>
            <a:prstGeom prst="rect">
              <a:avLst/>
            </a:prstGeom>
          </p:spPr>
        </p:pic>
        <p:pic>
          <p:nvPicPr>
            <p:cNvPr id="1027" name="Graphic 14" descr="Amazon Athena service icon.">
              <a:extLst>
                <a:ext uri="{FF2B5EF4-FFF2-40B4-BE49-F238E27FC236}">
                  <a16:creationId xmlns:a16="http://schemas.microsoft.com/office/drawing/2014/main" id="{3614FD3A-0EC9-EA03-F6F7-BCE293C4A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auto">
            <a:xfrm>
              <a:off x="1493647" y="2220260"/>
              <a:ext cx="294763" cy="29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" name="TextBox 17">
              <a:extLst>
                <a:ext uri="{FF2B5EF4-FFF2-40B4-BE49-F238E27FC236}">
                  <a16:creationId xmlns:a16="http://schemas.microsoft.com/office/drawing/2014/main" id="{072DA0D8-B47F-7616-FB8D-D62488AD7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056" y="2599091"/>
              <a:ext cx="83091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Amazon Athena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7AF2F2FC-6D37-8D54-898C-33112FFE5375}"/>
                </a:ext>
              </a:extLst>
            </p:cNvPr>
            <p:cNvSpPr txBox="1"/>
            <p:nvPr/>
          </p:nvSpPr>
          <p:spPr>
            <a:xfrm>
              <a:off x="1260233" y="4090807"/>
              <a:ext cx="7580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Glue</a:t>
              </a:r>
              <a:br>
                <a:rPr lang="en-US" altLang="en-US"/>
              </a:br>
              <a:r>
                <a:rPr lang="en-US" altLang="en-US"/>
                <a:t>Data Catalog</a:t>
              </a:r>
            </a:p>
          </p:txBody>
        </p:sp>
      </p:grpSp>
      <p:grpSp>
        <p:nvGrpSpPr>
          <p:cNvPr id="9242" name="Group 9241">
            <a:extLst>
              <a:ext uri="{FF2B5EF4-FFF2-40B4-BE49-F238E27FC236}">
                <a16:creationId xmlns:a16="http://schemas.microsoft.com/office/drawing/2014/main" id="{04382271-5DD7-2400-D416-CEEB4D1F37F6}"/>
              </a:ext>
            </a:extLst>
          </p:cNvPr>
          <p:cNvGrpSpPr/>
          <p:nvPr/>
        </p:nvGrpSpPr>
        <p:grpSpPr>
          <a:xfrm>
            <a:off x="1784281" y="5953750"/>
            <a:ext cx="10080000" cy="261610"/>
            <a:chOff x="1784281" y="5889742"/>
            <a:chExt cx="10080000" cy="261610"/>
          </a:xfrm>
        </p:grpSpPr>
        <p:sp>
          <p:nvSpPr>
            <p:cNvPr id="4144" name="Arrow: Pentagon 4143">
              <a:extLst>
                <a:ext uri="{FF2B5EF4-FFF2-40B4-BE49-F238E27FC236}">
                  <a16:creationId xmlns:a16="http://schemas.microsoft.com/office/drawing/2014/main" id="{00154246-7DE9-30AF-2091-B575349D65C6}"/>
                </a:ext>
              </a:extLst>
            </p:cNvPr>
            <p:cNvSpPr/>
            <p:nvPr/>
          </p:nvSpPr>
          <p:spPr bwMode="auto">
            <a:xfrm>
              <a:off x="1784281" y="5925328"/>
              <a:ext cx="10080000" cy="211458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rou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B6A49DCE-BFDB-CEF8-A626-ED9E30BBFEE2}"/>
                </a:ext>
              </a:extLst>
            </p:cNvPr>
            <p:cNvSpPr txBox="1"/>
            <p:nvPr/>
          </p:nvSpPr>
          <p:spPr>
            <a:xfrm>
              <a:off x="3159412" y="5889742"/>
              <a:ext cx="84496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1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Pipeline único, la particularidades de cada sistema se gestionan mediante ficheros de configuración.</a:t>
              </a:r>
            </a:p>
          </p:txBody>
        </p: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0008637B-416D-F7D1-5F95-D731BC022E75}"/>
              </a:ext>
            </a:extLst>
          </p:cNvPr>
          <p:cNvSpPr txBox="1"/>
          <p:nvPr/>
        </p:nvSpPr>
        <p:spPr>
          <a:xfrm>
            <a:off x="4164159" y="3436170"/>
            <a:ext cx="2383028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 b="1" dirty="0">
                <a:latin typeface="Arial" pitchFamily="34" charset="0"/>
                <a:cs typeface="Arial" pitchFamily="34" charset="0"/>
              </a:rPr>
              <a:t>La configuración del Pipeline se realiza en un fichero de configuración </a:t>
            </a:r>
            <a:r>
              <a:rPr lang="es-ES_tradnl" sz="800" b="1" dirty="0" err="1">
                <a:latin typeface="Arial" pitchFamily="34" charset="0"/>
                <a:cs typeface="Arial" pitchFamily="34" charset="0"/>
              </a:rPr>
              <a:t>json</a:t>
            </a:r>
            <a:r>
              <a:rPr lang="es-ES_tradnl" sz="800" b="1" dirty="0">
                <a:latin typeface="Arial" pitchFamily="34" charset="0"/>
                <a:cs typeface="Arial" pitchFamily="34" charset="0"/>
              </a:rPr>
              <a:t> que tiene las especificidades por sistema</a:t>
            </a:r>
          </a:p>
        </p:txBody>
      </p:sp>
      <p:sp>
        <p:nvSpPr>
          <p:cNvPr id="1076" name="Arrow: Up 1075">
            <a:extLst>
              <a:ext uri="{FF2B5EF4-FFF2-40B4-BE49-F238E27FC236}">
                <a16:creationId xmlns:a16="http://schemas.microsoft.com/office/drawing/2014/main" id="{BEB7ECC0-43DF-8ABA-7907-E45939A82EB8}"/>
              </a:ext>
            </a:extLst>
          </p:cNvPr>
          <p:cNvSpPr/>
          <p:nvPr/>
        </p:nvSpPr>
        <p:spPr bwMode="auto">
          <a:xfrm rot="5400000">
            <a:off x="7179199" y="2330522"/>
            <a:ext cx="215788" cy="143489"/>
          </a:xfrm>
          <a:prstGeom prst="upArrow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ctr"/>
            <a:endParaRPr lang="es-ES_tradnl"/>
          </a:p>
        </p:txBody>
      </p:sp>
      <p:sp>
        <p:nvSpPr>
          <p:cNvPr id="5131" name="Rectangle: Rounded Corners 5130">
            <a:extLst>
              <a:ext uri="{FF2B5EF4-FFF2-40B4-BE49-F238E27FC236}">
                <a16:creationId xmlns:a16="http://schemas.microsoft.com/office/drawing/2014/main" id="{A8150C51-C37F-EF6C-70B0-0CD68131B782}"/>
              </a:ext>
            </a:extLst>
          </p:cNvPr>
          <p:cNvSpPr/>
          <p:nvPr/>
        </p:nvSpPr>
        <p:spPr bwMode="auto">
          <a:xfrm>
            <a:off x="6567676" y="2026058"/>
            <a:ext cx="580846" cy="661919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Act.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BBDD</a:t>
            </a:r>
          </a:p>
        </p:txBody>
      </p:sp>
      <p:sp>
        <p:nvSpPr>
          <p:cNvPr id="5135" name="Rectangle: Rounded Corners 5134">
            <a:extLst>
              <a:ext uri="{FF2B5EF4-FFF2-40B4-BE49-F238E27FC236}">
                <a16:creationId xmlns:a16="http://schemas.microsoft.com/office/drawing/2014/main" id="{34DFD912-8B17-9846-B7AD-D541281B3696}"/>
              </a:ext>
            </a:extLst>
          </p:cNvPr>
          <p:cNvSpPr/>
          <p:nvPr/>
        </p:nvSpPr>
        <p:spPr bwMode="auto">
          <a:xfrm>
            <a:off x="8996662" y="3364475"/>
            <a:ext cx="849057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Limpieza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Temporales</a:t>
            </a:r>
          </a:p>
        </p:txBody>
      </p:sp>
      <p:cxnSp>
        <p:nvCxnSpPr>
          <p:cNvPr id="5136" name="Connector: Elbow 5135">
            <a:extLst>
              <a:ext uri="{FF2B5EF4-FFF2-40B4-BE49-F238E27FC236}">
                <a16:creationId xmlns:a16="http://schemas.microsoft.com/office/drawing/2014/main" id="{9E168F33-E5CF-6326-62ED-139962776AD5}"/>
              </a:ext>
            </a:extLst>
          </p:cNvPr>
          <p:cNvCxnSpPr>
            <a:stCxn id="5131" idx="2"/>
            <a:endCxn id="9221" idx="1"/>
          </p:cNvCxnSpPr>
          <p:nvPr/>
        </p:nvCxnSpPr>
        <p:spPr bwMode="auto">
          <a:xfrm rot="16200000" flipH="1">
            <a:off x="7044549" y="2501526"/>
            <a:ext cx="995542" cy="136844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153" name="Group 5152">
            <a:extLst>
              <a:ext uri="{FF2B5EF4-FFF2-40B4-BE49-F238E27FC236}">
                <a16:creationId xmlns:a16="http://schemas.microsoft.com/office/drawing/2014/main" id="{B94998B1-E672-C81E-2750-287E168DF7BD}"/>
              </a:ext>
            </a:extLst>
          </p:cNvPr>
          <p:cNvGrpSpPr/>
          <p:nvPr/>
        </p:nvGrpSpPr>
        <p:grpSpPr>
          <a:xfrm>
            <a:off x="5722329" y="2899432"/>
            <a:ext cx="576960" cy="428487"/>
            <a:chOff x="3743069" y="3921688"/>
            <a:chExt cx="637630" cy="463623"/>
          </a:xfrm>
        </p:grpSpPr>
        <p:pic>
          <p:nvPicPr>
            <p:cNvPr id="5148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CD59730A-A945-C587-2793-2C7F96FCB3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52" name="TextBox 5151">
              <a:extLst>
                <a:ext uri="{FF2B5EF4-FFF2-40B4-BE49-F238E27FC236}">
                  <a16:creationId xmlns:a16="http://schemas.microsoft.com/office/drawing/2014/main" id="{FAFCEC66-7FC2-BEFD-4571-91A9287D6ACF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AWS S3</a:t>
              </a:r>
              <a:endParaRPr lang="es-ES_tradnl" dirty="0"/>
            </a:p>
          </p:txBody>
        </p:sp>
      </p:grpSp>
      <p:sp>
        <p:nvSpPr>
          <p:cNvPr id="9221" name="Rectangle: Rounded Corners 9220">
            <a:extLst>
              <a:ext uri="{FF2B5EF4-FFF2-40B4-BE49-F238E27FC236}">
                <a16:creationId xmlns:a16="http://schemas.microsoft.com/office/drawing/2014/main" id="{235569D9-B0C8-525E-3D86-AA492E839A2F}"/>
              </a:ext>
            </a:extLst>
          </p:cNvPr>
          <p:cNvSpPr/>
          <p:nvPr/>
        </p:nvSpPr>
        <p:spPr bwMode="auto">
          <a:xfrm>
            <a:off x="8226542" y="3364475"/>
            <a:ext cx="730728" cy="638087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Control</a:t>
            </a:r>
          </a:p>
          <a:p>
            <a:pPr algn="ctr"/>
            <a:r>
              <a:rPr lang="es-ES_tradnl" sz="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Registros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784BDFF0-5330-B0D3-D32C-D0DE698AB063}"/>
              </a:ext>
            </a:extLst>
          </p:cNvPr>
          <p:cNvGrpSpPr/>
          <p:nvPr/>
        </p:nvGrpSpPr>
        <p:grpSpPr>
          <a:xfrm>
            <a:off x="8201905" y="4050050"/>
            <a:ext cx="844780" cy="413230"/>
            <a:chOff x="6400561" y="3384947"/>
            <a:chExt cx="844780" cy="413230"/>
          </a:xfrm>
        </p:grpSpPr>
        <p:pic>
          <p:nvPicPr>
            <p:cNvPr id="9225" name="lambda" descr="Lambda service icon.">
              <a:extLst>
                <a:ext uri="{FF2B5EF4-FFF2-40B4-BE49-F238E27FC236}">
                  <a16:creationId xmlns:a16="http://schemas.microsoft.com/office/drawing/2014/main" id="{E5E95A8D-301F-14BE-9AA8-C0C1804F53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 bwMode="auto">
            <a:xfrm>
              <a:off x="6686988" y="3384947"/>
              <a:ext cx="224346" cy="224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6" name="label5">
              <a:extLst>
                <a:ext uri="{FF2B5EF4-FFF2-40B4-BE49-F238E27FC236}">
                  <a16:creationId xmlns:a16="http://schemas.microsoft.com/office/drawing/2014/main" id="{C704CA31-E0EA-0231-658D-1F5E8B0FA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561" y="3582733"/>
              <a:ext cx="8447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Lambda</a:t>
              </a:r>
            </a:p>
          </p:txBody>
        </p:sp>
      </p:grpSp>
      <p:grpSp>
        <p:nvGrpSpPr>
          <p:cNvPr id="9232" name="Group 9231">
            <a:extLst>
              <a:ext uri="{FF2B5EF4-FFF2-40B4-BE49-F238E27FC236}">
                <a16:creationId xmlns:a16="http://schemas.microsoft.com/office/drawing/2014/main" id="{7A056EFB-84A2-23FE-C911-81780622AEB8}"/>
              </a:ext>
            </a:extLst>
          </p:cNvPr>
          <p:cNvGrpSpPr/>
          <p:nvPr/>
        </p:nvGrpSpPr>
        <p:grpSpPr>
          <a:xfrm>
            <a:off x="8203637" y="4491511"/>
            <a:ext cx="841315" cy="468855"/>
            <a:chOff x="7754896" y="3062065"/>
            <a:chExt cx="841315" cy="468855"/>
          </a:xfrm>
        </p:grpSpPr>
        <p:pic>
          <p:nvPicPr>
            <p:cNvPr id="9230" name="Graphic 23" descr="Amazon DynamoDB service icon.">
              <a:extLst>
                <a:ext uri="{FF2B5EF4-FFF2-40B4-BE49-F238E27FC236}">
                  <a16:creationId xmlns:a16="http://schemas.microsoft.com/office/drawing/2014/main" id="{C64F911B-8BFA-78DA-1227-706CFB047A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 bwMode="auto">
            <a:xfrm>
              <a:off x="8030391" y="3062065"/>
              <a:ext cx="253411" cy="253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Box 12">
              <a:extLst>
                <a:ext uri="{FF2B5EF4-FFF2-40B4-BE49-F238E27FC236}">
                  <a16:creationId xmlns:a16="http://schemas.microsoft.com/office/drawing/2014/main" id="{85CD6ED5-506A-8BA9-E030-D1D4468F0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4896" y="3315476"/>
              <a:ext cx="84131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DynamoDB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034125-11AF-D02A-B21E-45E69FA05DF0}"/>
              </a:ext>
            </a:extLst>
          </p:cNvPr>
          <p:cNvGrpSpPr/>
          <p:nvPr/>
        </p:nvGrpSpPr>
        <p:grpSpPr>
          <a:xfrm>
            <a:off x="4813220" y="6304019"/>
            <a:ext cx="1192822" cy="378105"/>
            <a:chOff x="835051" y="1350653"/>
            <a:chExt cx="1192822" cy="378105"/>
          </a:xfrm>
        </p:grpSpPr>
        <p:pic>
          <p:nvPicPr>
            <p:cNvPr id="4" name="Graphic 17" descr="AWS Step Functions service icon.">
              <a:extLst>
                <a:ext uri="{FF2B5EF4-FFF2-40B4-BE49-F238E27FC236}">
                  <a16:creationId xmlns:a16="http://schemas.microsoft.com/office/drawing/2014/main" id="{41C1EE5C-D687-8DFF-A257-D96D6C1E84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 bwMode="auto">
            <a:xfrm>
              <a:off x="835051" y="1350653"/>
              <a:ext cx="378105" cy="378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8D4AE46E-3317-F264-9B12-4F5366F07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03" y="1390204"/>
              <a:ext cx="10037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Step Functions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5D2F5E-5CC3-44FB-ED0C-7E0E5FFA52BF}"/>
              </a:ext>
            </a:extLst>
          </p:cNvPr>
          <p:cNvGrpSpPr/>
          <p:nvPr/>
        </p:nvGrpSpPr>
        <p:grpSpPr>
          <a:xfrm>
            <a:off x="7591321" y="6276861"/>
            <a:ext cx="576960" cy="428487"/>
            <a:chOff x="3743069" y="3921688"/>
            <a:chExt cx="637630" cy="463623"/>
          </a:xfrm>
        </p:grpSpPr>
        <p:pic>
          <p:nvPicPr>
            <p:cNvPr id="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76B19414-A485-F10B-0CD5-DE2B1F7889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auto">
            <a:xfrm>
              <a:off x="3890025" y="3921688"/>
              <a:ext cx="278322" cy="27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E3F314-7B8E-94A5-BC9E-10F7409918BE}"/>
                </a:ext>
              </a:extLst>
            </p:cNvPr>
            <p:cNvSpPr txBox="1"/>
            <p:nvPr/>
          </p:nvSpPr>
          <p:spPr>
            <a:xfrm>
              <a:off x="3743069" y="4169867"/>
              <a:ext cx="637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s-ES_tradnl"/>
              </a:defPPr>
              <a:lvl1pPr algn="ctr">
                <a:defRPr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/>
                <a:t>AWS S3</a:t>
              </a:r>
              <a:endParaRPr lang="es-ES_tradnl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6F66E6-0397-F9C7-CB9C-E2B56B46346F}"/>
              </a:ext>
            </a:extLst>
          </p:cNvPr>
          <p:cNvGrpSpPr/>
          <p:nvPr/>
        </p:nvGrpSpPr>
        <p:grpSpPr>
          <a:xfrm>
            <a:off x="6251391" y="6314297"/>
            <a:ext cx="962930" cy="283618"/>
            <a:chOff x="2127933" y="3933232"/>
            <a:chExt cx="962930" cy="283618"/>
          </a:xfrm>
        </p:grpSpPr>
        <p:pic>
          <p:nvPicPr>
            <p:cNvPr id="19" name="Graphic 6" descr="AWS Glue service icon.">
              <a:extLst>
                <a:ext uri="{FF2B5EF4-FFF2-40B4-BE49-F238E27FC236}">
                  <a16:creationId xmlns:a16="http://schemas.microsoft.com/office/drawing/2014/main" id="{14708BA6-0895-8401-641C-0F570B5765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2127933" y="3933232"/>
              <a:ext cx="283618" cy="28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EA397278-9A69-744A-DE78-9FF05CC06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242" y="3998433"/>
              <a:ext cx="7726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b="1">
                  <a:latin typeface="Arial" pitchFamily="34" charset="0"/>
                  <a:ea typeface="Amazon Ember" panose="020B0603020204020204" pitchFamily="34" charset="0"/>
                  <a:cs typeface="Arial" pitchFamily="34" charset="0"/>
                </a:rPr>
                <a:t>AWS Glue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20142064-EBC9-9ACD-BA3A-4247127C4DE2}"/>
              </a:ext>
            </a:extLst>
          </p:cNvPr>
          <p:cNvSpPr/>
          <p:nvPr/>
        </p:nvSpPr>
        <p:spPr>
          <a:xfrm rot="16200000">
            <a:off x="6730231" y="745584"/>
            <a:ext cx="299553" cy="101388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8C3A5-322E-BC39-985F-A14EEDE0A66D}"/>
              </a:ext>
            </a:extLst>
          </p:cNvPr>
          <p:cNvSpPr txBox="1"/>
          <p:nvPr/>
        </p:nvSpPr>
        <p:spPr>
          <a:xfrm>
            <a:off x="8485963" y="6492920"/>
            <a:ext cx="2383028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800">
                <a:latin typeface="Arial" pitchFamily="34" charset="0"/>
                <a:cs typeface="Arial" pitchFamily="34" charset="0"/>
              </a:rPr>
              <a:t>* Los aplicativos marcados en rojo son aplicativos que ya no utiliza el banco</a:t>
            </a:r>
          </a:p>
        </p:txBody>
      </p:sp>
      <p:sp>
        <p:nvSpPr>
          <p:cNvPr id="1401" name="Rectangle 6">
            <a:extLst>
              <a:ext uri="{FF2B5EF4-FFF2-40B4-BE49-F238E27FC236}">
                <a16:creationId xmlns:a16="http://schemas.microsoft.com/office/drawing/2014/main" id="{0692A06B-34C3-4BEC-3E83-3506C46D2E4A}"/>
              </a:ext>
            </a:extLst>
          </p:cNvPr>
          <p:cNvSpPr/>
          <p:nvPr/>
        </p:nvSpPr>
        <p:spPr bwMode="auto">
          <a:xfrm>
            <a:off x="87394" y="2959682"/>
            <a:ext cx="972000" cy="307777"/>
          </a:xfrm>
          <a:prstGeom prst="rect">
            <a:avLst/>
          </a:prstGeom>
          <a:solidFill>
            <a:srgbClr val="92D050"/>
          </a:solidFill>
          <a:ln w="9525">
            <a:noFill/>
            <a:rou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PE" sz="1000" b="1" dirty="0" err="1"/>
              <a:t>t_lpc_vpc_moneda</a:t>
            </a:r>
            <a:endParaRPr lang="en-US" sz="1000" b="1" dirty="0"/>
          </a:p>
        </p:txBody>
      </p:sp>
      <p:pic>
        <p:nvPicPr>
          <p:cNvPr id="8" name="Picture 1372">
            <a:extLst>
              <a:ext uri="{FF2B5EF4-FFF2-40B4-BE49-F238E27FC236}">
                <a16:creationId xmlns:a16="http://schemas.microsoft.com/office/drawing/2014/main" id="{6333B854-D2FD-C916-9A4B-F1793F3073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72377" y="381568"/>
            <a:ext cx="2167395" cy="779986"/>
          </a:xfrm>
          <a:prstGeom prst="rect">
            <a:avLst/>
          </a:prstGeom>
        </p:spPr>
      </p:pic>
      <p:sp>
        <p:nvSpPr>
          <p:cNvPr id="12" name="Rectangle 1373">
            <a:extLst>
              <a:ext uri="{FF2B5EF4-FFF2-40B4-BE49-F238E27FC236}">
                <a16:creationId xmlns:a16="http://schemas.microsoft.com/office/drawing/2014/main" id="{1DD933EB-941B-159C-B175-75DDB6E24393}"/>
              </a:ext>
            </a:extLst>
          </p:cNvPr>
          <p:cNvSpPr/>
          <p:nvPr/>
        </p:nvSpPr>
        <p:spPr bwMode="auto">
          <a:xfrm>
            <a:off x="9946510" y="642640"/>
            <a:ext cx="349634" cy="321588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</p:spPr>
        <p:txBody>
          <a:bodyPr wrap="none" rtlCol="0" anchor="ctr">
            <a:noAutofit/>
          </a:bodyPr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28407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4="http://schemas.microsoft.com/office/powerpoint/2010/main" xmlns:p15="http://schemas.microsoft.com/office/powerpoint/2012/main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648963a9e2_0_0"/>
          <p:cNvSpPr txBox="1">
            <a:spLocks noGrp="1"/>
          </p:cNvSpPr>
          <p:nvPr>
            <p:ph type="ctrTitle"/>
          </p:nvPr>
        </p:nvSpPr>
        <p:spPr>
          <a:xfrm>
            <a:off x="296105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endParaRPr/>
          </a:p>
        </p:txBody>
      </p:sp>
      <p:sp>
        <p:nvSpPr>
          <p:cNvPr id="999" name="Google Shape;999;g648963a9e2_0_0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609585" indent="-541853">
              <a:buFont typeface="Calibri"/>
              <a:buChar char="-"/>
            </a:pPr>
            <a:r>
              <a:rPr lang="es-ES"/>
              <a:t>Vestimenta</a:t>
            </a:r>
          </a:p>
          <a:p>
            <a:pPr marL="609585" indent="-304792"/>
            <a:endParaRPr/>
          </a:p>
        </p:txBody>
      </p:sp>
      <p:sp>
        <p:nvSpPr>
          <p:cNvPr id="1000" name="Google Shape;1000;g648963a9e2_0_0"/>
          <p:cNvSpPr/>
          <p:nvPr/>
        </p:nvSpPr>
        <p:spPr>
          <a:xfrm>
            <a:off x="232660" y="167500"/>
            <a:ext cx="2212400" cy="5532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Tx/>
              <a:buNone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index</a:t>
            </a:r>
            <a:endParaRPr kumimoji="0" sz="1867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1" name="Google Shape;1001;g648963a9e2_0_0"/>
          <p:cNvPicPr preferRelativeResize="0"/>
          <p:nvPr/>
        </p:nvPicPr>
        <p:blipFill>
          <a:blip r:embed="rId3">
            <a:alphaModFix/>
          </a:blip>
          <a:srcRect r="8709"/>
          <a:stretch>
            <a:fillRect/>
          </a:stretch>
        </p:blipFill>
        <p:spPr>
          <a:xfrm>
            <a:off x="-125333" y="0"/>
            <a:ext cx="12444665" cy="692466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Google Shape;1032;p4"/>
          <p:cNvSpPr/>
          <p:nvPr/>
        </p:nvSpPr>
        <p:spPr>
          <a:xfrm>
            <a:off x="-128722" y="0"/>
            <a:ext cx="12448055" cy="6924667"/>
          </a:xfrm>
          <a:prstGeom prst="rect">
            <a:avLst/>
          </a:prstGeom>
          <a:gradFill>
            <a:gsLst>
              <a:gs pos="0">
                <a:srgbClr val="5983B1">
                  <a:alpha val="38823"/>
                </a:srgbClr>
              </a:gs>
              <a:gs pos="44000">
                <a:srgbClr val="5983B1">
                  <a:alpha val="38823"/>
                </a:srgbClr>
              </a:gs>
              <a:gs pos="61000">
                <a:srgbClr val="021B32">
                  <a:alpha val="80000"/>
                </a:srgbClr>
              </a:gs>
              <a:gs pos="74000">
                <a:srgbClr val="01101D">
                  <a:alpha val="89803"/>
                </a:srgbClr>
              </a:gs>
              <a:gs pos="100000">
                <a:srgbClr val="022646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4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2" name="Google Shape;1002;g648963a9e2_0_0"/>
          <p:cNvSpPr/>
          <p:nvPr/>
        </p:nvSpPr>
        <p:spPr>
          <a:xfrm>
            <a:off x="-128723" y="745335"/>
            <a:ext cx="6585200" cy="2000197"/>
          </a:xfrm>
          <a:prstGeom prst="rect">
            <a:avLst/>
          </a:prstGeom>
          <a:solidFill>
            <a:srgbClr val="FFFFFF">
              <a:alpha val="23137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38383"/>
              </a:buClr>
              <a:buSzPts val="1400"/>
              <a:buFontTx/>
              <a:buNone/>
              <a:defRPr/>
            </a:pPr>
            <a:endParaRPr kumimoji="0" sz="18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648963a9e2_0_0"/>
          <p:cNvSpPr txBox="1"/>
          <p:nvPr/>
        </p:nvSpPr>
        <p:spPr>
          <a:xfrm>
            <a:off x="-164287" y="1246834"/>
            <a:ext cx="4530928" cy="99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_tradnl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GRACIAS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7728" y="745335"/>
            <a:ext cx="2324083" cy="200150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2667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136" y="1278904"/>
            <a:ext cx="1507576" cy="7362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643178" y="6396335"/>
            <a:ext cx="1548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_tradnl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Junio 2026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24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.0.957"/>
  <p:tag name="AS_RELEASE_DATE" val="2025.02.28"/>
  <p:tag name="AS_TITLE" val="Aspose.Slides for Java"/>
  <p:tag name="AS_VERSION" val="25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yfWj2EQY6yv3D5ckUWF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qkY0b.TkiOSxj8N3sqS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KtmtuQRg.G7UcVkQhK7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qkY0b.TkiOSxj8N3sqS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heme/theme1.xml><?xml version="1.0" encoding="utf-8"?>
<a:theme xmlns:a="http://schemas.openxmlformats.org/drawingml/2006/main" name="1_Bloque 2_Tasas de transferencia_IBK">
  <a:themeElements>
    <a:clrScheme name="">
      <a:dk1>
        <a:srgbClr val="000000"/>
      </a:dk1>
      <a:lt1>
        <a:srgbClr val="FFFFFF"/>
      </a:lt1>
      <a:dk2>
        <a:srgbClr val="002569"/>
      </a:dk2>
      <a:lt2>
        <a:srgbClr val="808080"/>
      </a:lt2>
      <a:accent1>
        <a:srgbClr val="CCD3E1"/>
      </a:accent1>
      <a:accent2>
        <a:srgbClr val="E0D399"/>
      </a:accent2>
      <a:accent3>
        <a:srgbClr val="FFFFFF"/>
      </a:accent3>
      <a:accent4>
        <a:srgbClr val="000000"/>
      </a:accent4>
      <a:accent5>
        <a:srgbClr val="E2E6EE"/>
      </a:accent5>
      <a:accent6>
        <a:srgbClr val="CBBF8A"/>
      </a:accent6>
      <a:hlink>
        <a:srgbClr val="BFA13E"/>
      </a:hlink>
      <a:folHlink>
        <a:srgbClr val="99A8C3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1">
              <a:lumMod val="65000"/>
            </a:schemeClr>
          </a:solidFill>
        </a:ln>
      </a:spPr>
      <a:bodyPr lIns="144000" tIns="108000" rIns="144000" bIns="108000" rtlCol="0" anchor="t"/>
      <a:lstStyle>
        <a:defPPr marL="171450" indent="-171450" algn="just">
          <a:spcBef>
            <a:spcPts val="600"/>
          </a:spcBef>
          <a:buFont typeface="Arial" panose="020B0604020202020204" pitchFamily="34" charset="0"/>
          <a:buChar char="•"/>
          <a:defRPr sz="11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oque 2_Tasas de transferencia_IBK">
  <a:themeElements>
    <a:clrScheme name="">
      <a:dk1>
        <a:srgbClr val="000000"/>
      </a:dk1>
      <a:lt1>
        <a:srgbClr val="FFFFFF"/>
      </a:lt1>
      <a:dk2>
        <a:srgbClr val="002569"/>
      </a:dk2>
      <a:lt2>
        <a:srgbClr val="808080"/>
      </a:lt2>
      <a:accent1>
        <a:srgbClr val="CCD3E1"/>
      </a:accent1>
      <a:accent2>
        <a:srgbClr val="E0D399"/>
      </a:accent2>
      <a:accent3>
        <a:srgbClr val="FFFFFF"/>
      </a:accent3>
      <a:accent4>
        <a:srgbClr val="000000"/>
      </a:accent4>
      <a:accent5>
        <a:srgbClr val="E2E6EE"/>
      </a:accent5>
      <a:accent6>
        <a:srgbClr val="CBBF8A"/>
      </a:accent6>
      <a:hlink>
        <a:srgbClr val="BFA13E"/>
      </a:hlink>
      <a:folHlink>
        <a:srgbClr val="99A8C3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1">
              <a:lumMod val="65000"/>
            </a:schemeClr>
          </a:solidFill>
        </a:ln>
      </a:spPr>
      <a:bodyPr lIns="144000" tIns="108000" rIns="144000" bIns="108000" rtlCol="0" anchor="t"/>
      <a:lstStyle>
        <a:defPPr marL="171450" indent="-171450" algn="just">
          <a:spcBef>
            <a:spcPts val="600"/>
          </a:spcBef>
          <a:buFont typeface="Arial" panose="020B0604020202020204" pitchFamily="34" charset="0"/>
          <a:buChar char="•"/>
          <a:defRPr sz="11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 Design">
  <a:themeElements>
    <a:clrScheme name="HRO">
      <a:dk1>
        <a:srgbClr val="838383"/>
      </a:dk1>
      <a:lt1>
        <a:srgbClr val="FFFFFF"/>
      </a:lt1>
      <a:dk2>
        <a:srgbClr val="002569"/>
      </a:dk2>
      <a:lt2>
        <a:srgbClr val="5F5F5F"/>
      </a:lt2>
      <a:accent1>
        <a:srgbClr val="63BA68"/>
      </a:accent1>
      <a:accent2>
        <a:srgbClr val="FFD85D"/>
      </a:accent2>
      <a:accent3>
        <a:srgbClr val="A7A7A7"/>
      </a:accent3>
      <a:accent4>
        <a:srgbClr val="7094BC"/>
      </a:accent4>
      <a:accent5>
        <a:srgbClr val="E59D27"/>
      </a:accent5>
      <a:accent6>
        <a:srgbClr val="CCD3E1"/>
      </a:accent6>
      <a:hlink>
        <a:srgbClr val="BFA13E"/>
      </a:hlink>
      <a:folHlink>
        <a:srgbClr val="99A8C3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pct30">
          <a:fgClr>
            <a:srgbClr val="92D050"/>
          </a:fgClr>
          <a:bgClr>
            <a:schemeClr val="bg1"/>
          </a:bgClr>
        </a:pattFill>
        <a:ln>
          <a:noFill/>
        </a:ln>
        <a:effectLst/>
      </a:spPr>
      <a:bodyPr rtlCol="0" anchor="ctr"/>
      <a:lstStyle>
        <a:defPPr algn="ctr">
          <a:defRPr dirty="0">
            <a:latin typeface="+mj-lt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10502</TotalTime>
  <Words>1008</Words>
  <Application>Microsoft Office PowerPoint</Application>
  <PresentationFormat>Panorámica</PresentationFormat>
  <Paragraphs>249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9</vt:i4>
      </vt:variant>
    </vt:vector>
  </HeadingPairs>
  <TitlesOfParts>
    <vt:vector size="20" baseType="lpstr">
      <vt:lpstr>Aptos</vt:lpstr>
      <vt:lpstr>Arial</vt:lpstr>
      <vt:lpstr>Calibri</vt:lpstr>
      <vt:lpstr>Lato</vt:lpstr>
      <vt:lpstr>Segoe Print</vt:lpstr>
      <vt:lpstr>Segoe UI Light</vt:lpstr>
      <vt:lpstr>Webdings</vt:lpstr>
      <vt:lpstr>Wingdings</vt:lpstr>
      <vt:lpstr>1_Bloque 2_Tasas de transferencia_IBK</vt:lpstr>
      <vt:lpstr>Bloque 2_Tasas de transferencia_IBK</vt:lpstr>
      <vt:lpstr>Default Design</vt:lpstr>
      <vt:lpstr>Nueva Solución RNT + ALM + FTP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Alonso García</dc:creator>
  <cp:lastModifiedBy>MANAGEMENT SOLUTIONS.Crespo Miranda, Fabricio Mariano</cp:lastModifiedBy>
  <cp:revision>44</cp:revision>
  <dcterms:created xsi:type="dcterms:W3CDTF">2026-06-10T05:35:33Z</dcterms:created>
  <dcterms:modified xsi:type="dcterms:W3CDTF">2026-07-22T01:11:12Z</dcterms:modified>
</cp:coreProperties>
</file>