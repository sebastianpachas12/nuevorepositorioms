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heme/theme4.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 id="2147483667" r:id="rId2"/>
    <p:sldMasterId id="2147483693" r:id="rId3"/>
  </p:sldMasterIdLst>
  <p:notesMasterIdLst>
    <p:notesMasterId r:id="rId16"/>
  </p:notesMasterIdLst>
  <p:sldIdLst>
    <p:sldId id="2147480609" r:id="rId4"/>
    <p:sldId id="2146849740" r:id="rId5"/>
    <p:sldId id="2146849748" r:id="rId6"/>
    <p:sldId id="2146849741" r:id="rId7"/>
    <p:sldId id="2146849742" r:id="rId8"/>
    <p:sldId id="2147480610" r:id="rId9"/>
    <p:sldId id="2146849744" r:id="rId10"/>
    <p:sldId id="2147480611" r:id="rId11"/>
    <p:sldId id="2147480612" r:id="rId12"/>
    <p:sldId id="2146849747" r:id="rId13"/>
    <p:sldId id="2147480613" r:id="rId14"/>
    <p:sldId id="819" r:id="rId15"/>
  </p:sldIdLst>
  <p:sldSz cx="12192000" cy="6858000"/>
  <p:notesSz cx="6858000" cy="9144000"/>
  <p:custDataLst>
    <p:tags r:id="rId17"/>
  </p:custDataLst>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960" userDrawn="1">
          <p15:clr>
            <a:srgbClr val="A4A3A4"/>
          </p15:clr>
        </p15:guide>
        <p15:guide id="2" pos="211" userDrawn="1">
          <p15:clr>
            <a:srgbClr val="A4A3A4"/>
          </p15:clr>
        </p15:guide>
        <p15:guide id="3" orient="horz" pos="95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56" y="72"/>
      </p:cViewPr>
      <p:guideLst>
        <p:guide pos="960"/>
        <p:guide pos="211"/>
        <p:guide orient="horz" pos="958"/>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AF44-DC66-44EC-8A16-8891E70807D3}" type="datetimeFigureOut">
              <a:rPr lang="es-ES_tradnl" smtClean="0"/>
              <a:t>07/07/2026</a:t>
            </a:fld>
            <a:endParaRPr lang="es-ES_trad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1F66E-E833-41C9-A9B9-34A4EE7F2224}" type="slidenum">
              <a:rPr lang="es-ES_tradnl" smtClean="0"/>
              <a:t>‹Nº›</a:t>
            </a:fld>
            <a:endParaRPr lang="es-ES_tradnl"/>
          </a:p>
        </p:txBody>
      </p:sp>
    </p:spTree>
    <p:extLst>
      <p:ext uri="{BB962C8B-B14F-4D97-AF65-F5344CB8AC3E}">
        <p14:creationId xmlns:p14="http://schemas.microsoft.com/office/powerpoint/2010/main" val="4197561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EEE7-B938-F2C9-9567-E663BBA46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3160D-7889-6CD4-1FC4-0841DAA30D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A9578-1328-9E72-7E99-4B66142548A4}"/>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6D1E4B75-5119-4697-B601-B88F73CD7A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2</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06205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4C878-F59A-A74A-5387-22549409C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D158C-119A-4DB3-BE3F-A3EEF856C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7F46C-3526-43AA-9FD4-C4F68C310354}"/>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6273EA18-37DC-3216-5CB8-3E82CFF783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3</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0889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999D1-B692-19D7-D452-B7297E7D8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7B50D-9630-A727-3A28-618942FA1F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12E293-BFE0-33BE-2148-1993ACD2AB83}"/>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B183433E-F7FE-9BCE-32C3-4FFF19B7C5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4</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1154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E562-25D8-FCE1-4662-627847E39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5520C-E160-120E-A592-E6B875137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B1C35-EEB8-FD96-CC56-B6C5FE84ECA5}"/>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2EBCF8F8-B0F1-E55C-C5DB-C7CA036F3E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5</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911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F59FF-8C04-E560-3313-27AC66C7E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9C33B-E0A1-E707-1AD0-F297C5905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BFFB0-721F-4EBF-87B2-7DE2228E95D8}"/>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DC229E15-837B-53D9-078D-EDAADE4FCC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6</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8597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352F8-07C3-6572-AA9F-2067C5B3A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A0A76-AD84-9473-787B-A6BAFC5E7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25ABD-2B6A-A859-D78F-1B0D9A92846C}"/>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66E0DEF6-051C-A561-171F-7B6607CF46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7</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25585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D4E3E-32F3-9660-CD97-30584DD39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B42F9-0519-D6ED-825C-5CC310D9A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200C6-F615-5B3E-ACA4-272E126B687A}"/>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90A03A3F-820F-80F9-DB71-2306244129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8</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92334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26D38-AD68-8E0A-40EE-354AE51B6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19FEC-A642-4EAB-D3C5-BB9C24EC78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458B7-C205-14D0-3D2E-23E213E534A8}"/>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E63219A4-13E8-FFBA-313E-06F07F1CBA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9</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1693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23465-6FC9-92B8-B2F4-1A80A9B02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4E971-5EF0-28B9-324F-FD282D02D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0320C-AA79-F48C-D7FA-C4264B4F99F4}"/>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9F02D89D-9F6D-967C-F7E0-8058E7FC08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246DBF5-7708-4478-B46A-8ACBED349187}"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10</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00623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648963a9e2_0_0:notes"/>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6" name="Google Shape;996;g648963a9e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ct val="0"/>
              </a:spcBef>
              <a:spcAft>
                <a:spcPct val="0"/>
              </a:spcAft>
              <a:buClr>
                <a:schemeClr val="dk1"/>
              </a:buClr>
              <a:buSzPts val="1100"/>
              <a:buFont typeface="Calibri"/>
              <a:buNone/>
            </a:pPr>
            <a:endParaRPr/>
          </a:p>
        </p:txBody>
      </p:sp>
    </p:spTree>
    <p:extLst>
      <p:ext uri="{BB962C8B-B14F-4D97-AF65-F5344CB8AC3E}">
        <p14:creationId xmlns:p14="http://schemas.microsoft.com/office/powerpoint/2010/main" val="3305680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slideMaster" Target="../slideMasters/slideMaster3.xml"/><Relationship Id="rId1" Type="http://schemas.openxmlformats.org/officeDocument/2006/relationships/tags" Target="../tags/tag5.xml"/><Relationship Id="rId6" Type="http://schemas.openxmlformats.org/officeDocument/2006/relationships/image" Target="../media/image10.png"/><Relationship Id="rId5" Type="http://schemas.openxmlformats.org/officeDocument/2006/relationships/image" Target="../media/image8.emf"/><Relationship Id="rId4"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Título vertical y texto">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63E8DD7-D67E-F2E4-CC36-243156DB3A1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47697" y="0"/>
            <a:ext cx="3343686" cy="6858000"/>
          </a:xfrm>
          <a:prstGeom prst="rect">
            <a:avLst/>
          </a:prstGeom>
        </p:spPr>
      </p:pic>
      <p:sp>
        <p:nvSpPr>
          <p:cNvPr id="2" name="Rectangle 1">
            <a:extLst>
              <a:ext uri="{FF2B5EF4-FFF2-40B4-BE49-F238E27FC236}">
                <a16:creationId xmlns:a16="http://schemas.microsoft.com/office/drawing/2014/main" id="{858454F5-F066-6858-5A91-F456AECF5375}"/>
              </a:ext>
            </a:extLst>
          </p:cNvPr>
          <p:cNvSpPr>
            <a:spLocks noChangeArrowheads="1"/>
          </p:cNvSpPr>
          <p:nvPr userDrawn="1"/>
        </p:nvSpPr>
        <p:spPr bwMode="auto">
          <a:xfrm>
            <a:off x="3341078" y="6477000"/>
            <a:ext cx="8850923" cy="38100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3" name="Rectangle 15">
            <a:extLst>
              <a:ext uri="{FF2B5EF4-FFF2-40B4-BE49-F238E27FC236}">
                <a16:creationId xmlns:a16="http://schemas.microsoft.com/office/drawing/2014/main" id="{C8863332-9BD1-E3AF-AFD4-AA36FFCB69CB}"/>
              </a:ext>
            </a:extLst>
          </p:cNvPr>
          <p:cNvSpPr>
            <a:spLocks noChangeArrowheads="1"/>
          </p:cNvSpPr>
          <p:nvPr userDrawn="1"/>
        </p:nvSpPr>
        <p:spPr bwMode="auto">
          <a:xfrm>
            <a:off x="8850926" y="6067430"/>
            <a:ext cx="2981569"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r" eaLnBrk="1" hangingPunct="1"/>
            <a:r>
              <a:rPr lang="es-ES_tradnl" altLang="es-ES" sz="1000" b="1">
                <a:solidFill>
                  <a:srgbClr val="001A48"/>
                </a:solidFill>
              </a:rPr>
              <a:t>www.managementsolutions.com</a:t>
            </a:r>
            <a:endParaRPr lang="en-US" altLang="es-ES" sz="1000" b="1">
              <a:solidFill>
                <a:srgbClr val="001A48"/>
              </a:solidFill>
            </a:endParaRPr>
          </a:p>
        </p:txBody>
      </p:sp>
      <p:sp>
        <p:nvSpPr>
          <p:cNvPr id="4" name="Rectangle 3">
            <a:extLst>
              <a:ext uri="{FF2B5EF4-FFF2-40B4-BE49-F238E27FC236}">
                <a16:creationId xmlns:a16="http://schemas.microsoft.com/office/drawing/2014/main" id="{4CCA805A-45FF-8124-8F4D-B8CE036CB2FF}"/>
              </a:ext>
            </a:extLst>
          </p:cNvPr>
          <p:cNvSpPr>
            <a:spLocks noChangeArrowheads="1"/>
          </p:cNvSpPr>
          <p:nvPr userDrawn="1"/>
        </p:nvSpPr>
        <p:spPr bwMode="auto">
          <a:xfrm>
            <a:off x="1" y="6477000"/>
            <a:ext cx="3341077" cy="381000"/>
          </a:xfrm>
          <a:prstGeom prst="rect">
            <a:avLst/>
          </a:prstGeom>
          <a:solidFill>
            <a:srgbClr val="997D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n-US" altLang="es-ES" sz="1000"/>
          </a:p>
        </p:txBody>
      </p:sp>
      <p:sp>
        <p:nvSpPr>
          <p:cNvPr id="5" name="Line 17">
            <a:extLst>
              <a:ext uri="{FF2B5EF4-FFF2-40B4-BE49-F238E27FC236}">
                <a16:creationId xmlns:a16="http://schemas.microsoft.com/office/drawing/2014/main" id="{81A6CCB0-B8EE-0303-6DDD-B6FCC18E0264}"/>
              </a:ext>
            </a:extLst>
          </p:cNvPr>
          <p:cNvSpPr>
            <a:spLocks noChangeShapeType="1"/>
          </p:cNvSpPr>
          <p:nvPr userDrawn="1"/>
        </p:nvSpPr>
        <p:spPr bwMode="auto">
          <a:xfrm flipH="1">
            <a:off x="3364523" y="3086105"/>
            <a:ext cx="0" cy="2352675"/>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sz="1800"/>
          </a:p>
        </p:txBody>
      </p:sp>
      <p:sp>
        <p:nvSpPr>
          <p:cNvPr id="6" name="Rectangle 16">
            <a:extLst>
              <a:ext uri="{FF2B5EF4-FFF2-40B4-BE49-F238E27FC236}">
                <a16:creationId xmlns:a16="http://schemas.microsoft.com/office/drawing/2014/main" id="{7A9B8087-E63A-A026-D176-1CA2CB42D8AF}"/>
              </a:ext>
            </a:extLst>
          </p:cNvPr>
          <p:cNvSpPr>
            <a:spLocks noChangeArrowheads="1"/>
          </p:cNvSpPr>
          <p:nvPr userDrawn="1"/>
        </p:nvSpPr>
        <p:spPr bwMode="auto">
          <a:xfrm>
            <a:off x="0" y="6491288"/>
            <a:ext cx="2633785"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rIns="0" anchor="ctr"/>
          <a:lstStyle>
            <a:lvl1pPr marL="101600"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r>
              <a:rPr lang="es-ES" altLang="es-ES" sz="1200" b="1">
                <a:solidFill>
                  <a:schemeClr val="bg1"/>
                </a:solidFill>
              </a:rPr>
              <a:t>Entidades Financieras</a:t>
            </a:r>
            <a:endParaRPr lang="en-US" altLang="es-ES" sz="1200" b="1">
              <a:solidFill>
                <a:schemeClr val="bg1"/>
              </a:solidFill>
            </a:endParaRPr>
          </a:p>
        </p:txBody>
      </p:sp>
      <p:pic>
        <p:nvPicPr>
          <p:cNvPr id="10" name="Picture 41">
            <a:extLst>
              <a:ext uri="{FF2B5EF4-FFF2-40B4-BE49-F238E27FC236}">
                <a16:creationId xmlns:a16="http://schemas.microsoft.com/office/drawing/2014/main" id="{24BEE9CB-3EA2-FD2E-0695-E0D973D45BA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269897" y="493686"/>
            <a:ext cx="2209073"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9">
            <a:extLst>
              <a:ext uri="{FF2B5EF4-FFF2-40B4-BE49-F238E27FC236}">
                <a16:creationId xmlns:a16="http://schemas.microsoft.com/office/drawing/2014/main" id="{935D05EB-AAA8-D595-4BFE-D3D3AE05DBAE}"/>
              </a:ext>
            </a:extLst>
          </p:cNvPr>
          <p:cNvSpPr>
            <a:spLocks noGrp="1" noChangeArrowheads="1"/>
          </p:cNvSpPr>
          <p:nvPr>
            <p:ph type="ctrTitle" sz="quarter"/>
          </p:nvPr>
        </p:nvSpPr>
        <p:spPr bwMode="auto">
          <a:xfrm>
            <a:off x="3387972" y="3028955"/>
            <a:ext cx="7877908" cy="14763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lvl1pPr>
              <a:defRPr sz="2400"/>
            </a:lvl1pPr>
          </a:lstStyle>
          <a:p>
            <a:pPr lvl="0"/>
            <a:r>
              <a:rPr lang="en-US" altLang="es-ES" noProof="0"/>
              <a:t>Click to edit Master title style</a:t>
            </a:r>
            <a:endParaRPr lang="es-ES_tradnl" altLang="es-ES" noProof="0"/>
          </a:p>
        </p:txBody>
      </p:sp>
      <p:sp>
        <p:nvSpPr>
          <p:cNvPr id="16" name="Rectangle 20">
            <a:extLst>
              <a:ext uri="{FF2B5EF4-FFF2-40B4-BE49-F238E27FC236}">
                <a16:creationId xmlns:a16="http://schemas.microsoft.com/office/drawing/2014/main" id="{F9E2FDD6-9632-3DD4-657B-E020E8B6167D}"/>
              </a:ext>
            </a:extLst>
          </p:cNvPr>
          <p:cNvSpPr>
            <a:spLocks noGrp="1" noChangeArrowheads="1"/>
          </p:cNvSpPr>
          <p:nvPr>
            <p:ph type="subTitle" sz="quarter" idx="1"/>
          </p:nvPr>
        </p:nvSpPr>
        <p:spPr>
          <a:xfrm>
            <a:off x="3387972" y="4524375"/>
            <a:ext cx="7971692" cy="920750"/>
          </a:xfrm>
          <a:extLs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nSpc>
                <a:spcPct val="100000"/>
              </a:lnSpc>
              <a:spcBef>
                <a:spcPct val="0"/>
              </a:spcBef>
              <a:defRPr sz="2000">
                <a:solidFill>
                  <a:srgbClr val="997D00"/>
                </a:solidFill>
              </a:defRPr>
            </a:lvl1pPr>
          </a:lstStyle>
          <a:p>
            <a:pPr lvl="0"/>
            <a:r>
              <a:rPr lang="en-US" altLang="es-ES" noProof="0"/>
              <a:t>Click to edit Master subtitle style</a:t>
            </a:r>
            <a:endParaRPr lang="es-ES_tradnl" altLang="es-ES" noProof="0"/>
          </a:p>
        </p:txBody>
      </p:sp>
      <p:pic>
        <p:nvPicPr>
          <p:cNvPr id="17" name="Picture 2">
            <a:extLst>
              <a:ext uri="{FF2B5EF4-FFF2-40B4-BE49-F238E27FC236}">
                <a16:creationId xmlns:a16="http://schemas.microsoft.com/office/drawing/2014/main" id="{1C96F9C4-AFD0-CA79-3F43-E0E13D3FF65D}"/>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tretch>
            <a:fillRect/>
          </a:stretch>
        </p:blipFill>
        <p:spPr bwMode="auto">
          <a:xfrm>
            <a:off x="10018643" y="541425"/>
            <a:ext cx="1903460" cy="4928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467963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MS">
    <p:spTree>
      <p:nvGrpSpPr>
        <p:cNvPr id="1" name=""/>
        <p:cNvGrpSpPr/>
        <p:nvPr/>
      </p:nvGrpSpPr>
      <p:grpSpPr>
        <a:xfrm>
          <a:off x="0" y="0"/>
          <a:ext cx="0" cy="0"/>
          <a:chOff x="0" y="0"/>
          <a:chExt cx="0" cy="0"/>
        </a:xfrm>
      </p:grpSpPr>
      <p:sp>
        <p:nvSpPr>
          <p:cNvPr id="4" name="Rectangle 21"/>
          <p:cNvSpPr>
            <a:spLocks noChangeArrowheads="1"/>
          </p:cNvSpPr>
          <p:nvPr/>
        </p:nvSpPr>
        <p:spPr bwMode="white">
          <a:xfrm>
            <a:off x="0" y="0"/>
            <a:ext cx="12192000" cy="685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s-ES" altLang="es-ES" sz="1000"/>
          </a:p>
        </p:txBody>
      </p:sp>
      <p:sp>
        <p:nvSpPr>
          <p:cNvPr id="5" name="Rectangle 4"/>
          <p:cNvSpPr>
            <a:spLocks noChangeArrowheads="1"/>
          </p:cNvSpPr>
          <p:nvPr/>
        </p:nvSpPr>
        <p:spPr bwMode="auto">
          <a:xfrm>
            <a:off x="3341078" y="6477000"/>
            <a:ext cx="8850923" cy="38100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6" name="Rectangle 6"/>
          <p:cNvSpPr>
            <a:spLocks noChangeArrowheads="1"/>
          </p:cNvSpPr>
          <p:nvPr/>
        </p:nvSpPr>
        <p:spPr bwMode="auto">
          <a:xfrm>
            <a:off x="0" y="0"/>
            <a:ext cx="12192000" cy="64770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7" name="Line 23"/>
          <p:cNvSpPr>
            <a:spLocks noChangeShapeType="1"/>
          </p:cNvSpPr>
          <p:nvPr/>
        </p:nvSpPr>
        <p:spPr bwMode="gray">
          <a:xfrm>
            <a:off x="0" y="682625"/>
            <a:ext cx="1219200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800"/>
          </a:p>
        </p:txBody>
      </p:sp>
      <p:sp>
        <p:nvSpPr>
          <p:cNvPr id="9" name="Rectangle 15"/>
          <p:cNvSpPr>
            <a:spLocks noChangeArrowheads="1"/>
          </p:cNvSpPr>
          <p:nvPr/>
        </p:nvSpPr>
        <p:spPr bwMode="auto">
          <a:xfrm>
            <a:off x="8850926" y="6067430"/>
            <a:ext cx="2981569"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r" eaLnBrk="1" hangingPunct="1"/>
            <a:r>
              <a:rPr lang="es-ES_tradnl" altLang="es-ES" sz="1000" b="1">
                <a:solidFill>
                  <a:srgbClr val="001A48"/>
                </a:solidFill>
              </a:rPr>
              <a:t>www.managementsolutions.com</a:t>
            </a:r>
            <a:endParaRPr lang="en-US" altLang="es-ES" sz="1000" b="1">
              <a:solidFill>
                <a:srgbClr val="001A48"/>
              </a:solidFill>
            </a:endParaRPr>
          </a:p>
        </p:txBody>
      </p:sp>
      <p:sp>
        <p:nvSpPr>
          <p:cNvPr id="10" name="Rectangle 3"/>
          <p:cNvSpPr>
            <a:spLocks noChangeArrowheads="1"/>
          </p:cNvSpPr>
          <p:nvPr/>
        </p:nvSpPr>
        <p:spPr bwMode="auto">
          <a:xfrm>
            <a:off x="1" y="6477000"/>
            <a:ext cx="3341077" cy="381000"/>
          </a:xfrm>
          <a:prstGeom prst="rect">
            <a:avLst/>
          </a:prstGeom>
          <a:solidFill>
            <a:srgbClr val="997D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n-US" altLang="es-ES" sz="1000"/>
          </a:p>
        </p:txBody>
      </p:sp>
      <p:sp>
        <p:nvSpPr>
          <p:cNvPr id="11" name="Line 17"/>
          <p:cNvSpPr>
            <a:spLocks noChangeShapeType="1"/>
          </p:cNvSpPr>
          <p:nvPr/>
        </p:nvSpPr>
        <p:spPr bwMode="auto">
          <a:xfrm flipH="1">
            <a:off x="3364523" y="3086105"/>
            <a:ext cx="0" cy="2352675"/>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sz="1800"/>
          </a:p>
        </p:txBody>
      </p:sp>
      <p:sp>
        <p:nvSpPr>
          <p:cNvPr id="14" name="Rectangle 16"/>
          <p:cNvSpPr>
            <a:spLocks noChangeArrowheads="1"/>
          </p:cNvSpPr>
          <p:nvPr/>
        </p:nvSpPr>
        <p:spPr bwMode="auto">
          <a:xfrm>
            <a:off x="0" y="6491288"/>
            <a:ext cx="2633785"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rIns="0" anchor="ctr"/>
          <a:lstStyle>
            <a:lvl1pPr marL="101600"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r>
              <a:rPr lang="es-ES" altLang="es-ES" sz="1200" b="1">
                <a:solidFill>
                  <a:schemeClr val="bg1"/>
                </a:solidFill>
              </a:rPr>
              <a:t>Entidades Financieras</a:t>
            </a:r>
            <a:endParaRPr lang="en-US" altLang="es-ES" sz="1200" b="1">
              <a:solidFill>
                <a:schemeClr val="bg1"/>
              </a:solidFill>
            </a:endParaRPr>
          </a:p>
        </p:txBody>
      </p:sp>
      <p:pic>
        <p:nvPicPr>
          <p:cNvPr id="15" name="Picture 39"/>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48970" y="1120775"/>
            <a:ext cx="2727569"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850926" y="1120775"/>
            <a:ext cx="2725616"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91" name="Rectangle 19"/>
          <p:cNvSpPr>
            <a:spLocks noGrp="1" noChangeArrowheads="1"/>
          </p:cNvSpPr>
          <p:nvPr>
            <p:ph type="ctrTitle" sz="quarter"/>
          </p:nvPr>
        </p:nvSpPr>
        <p:spPr bwMode="auto">
          <a:xfrm>
            <a:off x="3387972" y="3028955"/>
            <a:ext cx="7877908" cy="14763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lvl1pPr>
              <a:defRPr sz="2400"/>
            </a:lvl1pPr>
          </a:lstStyle>
          <a:p>
            <a:pPr lvl="0"/>
            <a:r>
              <a:rPr lang="en-US" altLang="es-ES" noProof="0"/>
              <a:t>Click to edit Master title style</a:t>
            </a:r>
            <a:endParaRPr lang="es-ES_tradnl" altLang="es-ES" noProof="0"/>
          </a:p>
        </p:txBody>
      </p:sp>
      <p:sp>
        <p:nvSpPr>
          <p:cNvPr id="3092" name="Rectangle 20"/>
          <p:cNvSpPr>
            <a:spLocks noGrp="1" noChangeArrowheads="1"/>
          </p:cNvSpPr>
          <p:nvPr>
            <p:ph type="subTitle" sz="quarter" idx="1"/>
          </p:nvPr>
        </p:nvSpPr>
        <p:spPr>
          <a:xfrm>
            <a:off x="3387972" y="4524375"/>
            <a:ext cx="7971692" cy="920750"/>
          </a:xfrm>
          <a:extLs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nSpc>
                <a:spcPct val="100000"/>
              </a:lnSpc>
              <a:spcBef>
                <a:spcPct val="0"/>
              </a:spcBef>
              <a:defRPr sz="2000">
                <a:solidFill>
                  <a:srgbClr val="997D00"/>
                </a:solidFill>
              </a:defRPr>
            </a:lvl1pPr>
          </a:lstStyle>
          <a:p>
            <a:pPr lvl="0"/>
            <a:r>
              <a:rPr lang="en-US" altLang="es-ES" noProof="0"/>
              <a:t>Click to edit Master subtitle style</a:t>
            </a:r>
            <a:endParaRPr lang="es-ES_tradnl" altLang="es-ES" noProof="0"/>
          </a:p>
        </p:txBody>
      </p:sp>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6684" y="1314131"/>
            <a:ext cx="3262406" cy="69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58879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18766491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247" y="4406905"/>
            <a:ext cx="10363200" cy="1362075"/>
          </a:xfrm>
        </p:spPr>
        <p:txBody>
          <a:bodyPr anchor="t"/>
          <a:lstStyle>
            <a:lvl1pPr algn="l">
              <a:defRPr sz="4000" b="1" cap="all"/>
            </a:lvl1pPr>
          </a:lstStyle>
          <a:p>
            <a:r>
              <a:rPr lang="en-US"/>
              <a:t>Click to edit Master title style</a:t>
            </a:r>
            <a:endParaRPr lang="es-ES"/>
          </a:p>
        </p:txBody>
      </p:sp>
      <p:sp>
        <p:nvSpPr>
          <p:cNvPr id="3" name="Text Placeholder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5263833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Content Placeholder 2"/>
          <p:cNvSpPr>
            <a:spLocks noGrp="1"/>
          </p:cNvSpPr>
          <p:nvPr>
            <p:ph sz="half" idx="1"/>
          </p:nvPr>
        </p:nvSpPr>
        <p:spPr>
          <a:xfrm>
            <a:off x="1307124" y="1303338"/>
            <a:ext cx="5048738"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p:cNvSpPr>
            <a:spLocks noGrp="1"/>
          </p:cNvSpPr>
          <p:nvPr>
            <p:ph sz="half" idx="2"/>
          </p:nvPr>
        </p:nvSpPr>
        <p:spPr>
          <a:xfrm>
            <a:off x="6543434" y="1303338"/>
            <a:ext cx="505069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393831422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s-ES"/>
          </a:p>
        </p:txBody>
      </p:sp>
      <p:sp>
        <p:nvSpPr>
          <p:cNvPr id="3" name="Text Placeholder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p:cNvSpPr>
            <a:spLocks noGrp="1"/>
          </p:cNvSpPr>
          <p:nvPr>
            <p:ph type="body" sz="quarter" idx="3"/>
          </p:nvPr>
        </p:nvSpPr>
        <p:spPr>
          <a:xfrm>
            <a:off x="6193696"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696"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31334083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Tree>
    <p:extLst>
      <p:ext uri="{BB962C8B-B14F-4D97-AF65-F5344CB8AC3E}">
        <p14:creationId xmlns:p14="http://schemas.microsoft.com/office/powerpoint/2010/main" val="24689638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497430"/>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247" cy="1162050"/>
          </a:xfrm>
        </p:spPr>
        <p:txBody>
          <a:bodyPr/>
          <a:lstStyle>
            <a:lvl1pPr algn="l">
              <a:defRPr sz="2000" b="1"/>
            </a:lvl1pPr>
          </a:lstStyle>
          <a:p>
            <a:r>
              <a:rPr lang="en-US"/>
              <a:t>Click to edit Master title style</a:t>
            </a:r>
            <a:endParaRPr lang="es-ES"/>
          </a:p>
        </p:txBody>
      </p:sp>
      <p:sp>
        <p:nvSpPr>
          <p:cNvPr id="3" name="Content Placeholder 2"/>
          <p:cNvSpPr>
            <a:spLocks noGrp="1"/>
          </p:cNvSpPr>
          <p:nvPr>
            <p:ph idx="1"/>
          </p:nvPr>
        </p:nvSpPr>
        <p:spPr>
          <a:xfrm>
            <a:off x="4767384" y="273055"/>
            <a:ext cx="681501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p:cNvSpPr>
            <a:spLocks noGrp="1"/>
          </p:cNvSpPr>
          <p:nvPr>
            <p:ph type="body" sz="half" idx="2"/>
          </p:nvPr>
        </p:nvSpPr>
        <p:spPr>
          <a:xfrm>
            <a:off x="609602" y="1435103"/>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7967201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4" y="4800600"/>
            <a:ext cx="7315200" cy="566738"/>
          </a:xfrm>
        </p:spPr>
        <p:txBody>
          <a:bodyPr/>
          <a:lstStyle>
            <a:lvl1pPr algn="l">
              <a:defRPr sz="2000" b="1"/>
            </a:lvl1pPr>
          </a:lstStyle>
          <a:p>
            <a:r>
              <a:rPr lang="en-US"/>
              <a:t>Click to edit Master title style</a:t>
            </a:r>
            <a:endParaRPr lang="es-ES"/>
          </a:p>
        </p:txBody>
      </p:sp>
      <p:sp>
        <p:nvSpPr>
          <p:cNvPr id="3" name="Picture Placeholder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s-ES" noProof="0"/>
          </a:p>
        </p:txBody>
      </p:sp>
      <p:sp>
        <p:nvSpPr>
          <p:cNvPr id="4" name="Text Placeholder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0982524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18306733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7001" y="361950"/>
            <a:ext cx="2577122" cy="5056188"/>
          </a:xfrm>
        </p:spPr>
        <p:txBody>
          <a:bodyPr vert="eaVert"/>
          <a:lstStyle/>
          <a:p>
            <a:r>
              <a:rPr lang="en-US"/>
              <a:t>Click to edit Master title style</a:t>
            </a:r>
            <a:endParaRPr lang="es-ES"/>
          </a:p>
        </p:txBody>
      </p:sp>
      <p:sp>
        <p:nvSpPr>
          <p:cNvPr id="3" name="Vertical Text Placeholder 2"/>
          <p:cNvSpPr>
            <a:spLocks noGrp="1"/>
          </p:cNvSpPr>
          <p:nvPr>
            <p:ph type="body" orient="vert" idx="1"/>
          </p:nvPr>
        </p:nvSpPr>
        <p:spPr>
          <a:xfrm>
            <a:off x="1283681" y="361950"/>
            <a:ext cx="7545754" cy="50561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116066776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2118" y="2118"/>
            <a:ext cx="2117" cy="2117"/>
          </a:xfrm>
          <a:prstGeom prst="rect">
            <a:avLst/>
          </a:prstGeom>
        </p:spPr>
      </p:pic>
      <p:sp>
        <p:nvSpPr>
          <p:cNvPr id="2" name="Rectangle 1" hidden="1"/>
          <p:cNvSpPr/>
          <p:nvPr userDrawn="1">
            <p:custDataLst>
              <p:tags r:id="rId1"/>
            </p:custDataLst>
          </p:nvPr>
        </p:nvSpPr>
        <p:spPr bwMode="auto">
          <a:xfrm>
            <a:off x="-17319" y="-140388"/>
            <a:ext cx="246308" cy="492443"/>
          </a:xfrm>
          <a:prstGeom prst="rect">
            <a:avLst/>
          </a:prstGeom>
          <a:noFill/>
          <a:ln w="9525">
            <a:solidFill>
              <a:schemeClr val="tx1"/>
            </a:solidFill>
            <a:round/>
          </a:ln>
        </p:spPr>
        <p:txBody>
          <a:bodyPr wrap="none" lIns="0" tIns="0" rIns="0" bIns="0" rtlCol="0" anchor="ctr">
            <a:noAutofit/>
          </a:bodyPr>
          <a:lstStyle/>
          <a:p>
            <a:pPr marL="0" lvl="0" indent="0" algn="ctr" eaLnBrk="1">
              <a:lnSpc>
                <a:spcPct val="100000"/>
              </a:lnSpc>
              <a:spcBef>
                <a:spcPct val="0"/>
              </a:spcBef>
              <a:spcAft>
                <a:spcPct val="0"/>
              </a:spcAft>
            </a:pPr>
            <a:endParaRPr lang="es-ES_tradnl" sz="3200" b="0" i="0" baseline="0">
              <a:latin typeface="Arial"/>
              <a:ea typeface="+mj-ea"/>
              <a:cs typeface="+mj-cs"/>
              <a:sym typeface="Arial"/>
            </a:endParaRPr>
          </a:p>
        </p:txBody>
      </p:sp>
      <p:sp>
        <p:nvSpPr>
          <p:cNvPr id="5" name="Rectangle 4"/>
          <p:cNvSpPr>
            <a:spLocks noChangeArrowheads="1"/>
          </p:cNvSpPr>
          <p:nvPr/>
        </p:nvSpPr>
        <p:spPr bwMode="auto">
          <a:xfrm>
            <a:off x="3341132" y="6477000"/>
            <a:ext cx="8850923" cy="381000"/>
          </a:xfrm>
          <a:prstGeom prst="rect">
            <a:avLst/>
          </a:prstGeom>
          <a:solidFill>
            <a:schemeClr val="tx2"/>
          </a:solidFill>
          <a:ln w="9525">
            <a:noFill/>
            <a:miter lim="800000"/>
          </a:ln>
          <a:effectLst/>
        </p:spPr>
        <p:txBody>
          <a:bodyPr wrap="none" anchor="ctr"/>
          <a:lstStyle/>
          <a:p>
            <a:pPr algn="ctr" fontAlgn="base">
              <a:spcBef>
                <a:spcPct val="0"/>
              </a:spcBef>
              <a:spcAft>
                <a:spcPct val="0"/>
              </a:spcAft>
              <a:defRPr/>
            </a:pPr>
            <a:endParaRPr lang="es-ES" sz="1600" b="1">
              <a:solidFill>
                <a:srgbClr val="000000"/>
              </a:solidFill>
              <a:sym typeface="Wingdings" pitchFamily="2" charset="2"/>
            </a:endParaRPr>
          </a:p>
        </p:txBody>
      </p:sp>
      <p:sp>
        <p:nvSpPr>
          <p:cNvPr id="6" name="Rectangle 6"/>
          <p:cNvSpPr>
            <a:spLocks noChangeArrowheads="1"/>
          </p:cNvSpPr>
          <p:nvPr/>
        </p:nvSpPr>
        <p:spPr bwMode="auto">
          <a:xfrm>
            <a:off x="20" y="1"/>
            <a:ext cx="12192000" cy="647700"/>
          </a:xfrm>
          <a:prstGeom prst="rect">
            <a:avLst/>
          </a:prstGeom>
          <a:solidFill>
            <a:schemeClr val="tx2"/>
          </a:solidFill>
          <a:ln w="9525">
            <a:noFill/>
            <a:miter lim="800000"/>
          </a:ln>
          <a:effectLst/>
        </p:spPr>
        <p:txBody>
          <a:bodyPr wrap="none" anchor="ctr"/>
          <a:lstStyle/>
          <a:p>
            <a:pPr algn="ctr" fontAlgn="base">
              <a:spcBef>
                <a:spcPct val="0"/>
              </a:spcBef>
              <a:spcAft>
                <a:spcPct val="0"/>
              </a:spcAft>
              <a:defRPr/>
            </a:pPr>
            <a:endParaRPr lang="es-ES" sz="1600" b="1">
              <a:solidFill>
                <a:srgbClr val="000000"/>
              </a:solidFill>
              <a:sym typeface="Wingdings" pitchFamily="2" charset="2"/>
            </a:endParaRPr>
          </a:p>
        </p:txBody>
      </p:sp>
      <p:sp>
        <p:nvSpPr>
          <p:cNvPr id="7" name="Line 23"/>
          <p:cNvSpPr>
            <a:spLocks noChangeShapeType="1"/>
          </p:cNvSpPr>
          <p:nvPr/>
        </p:nvSpPr>
        <p:spPr bwMode="gray">
          <a:xfrm>
            <a:off x="20" y="682625"/>
            <a:ext cx="12192000" cy="0"/>
          </a:xfrm>
          <a:prstGeom prst="line">
            <a:avLst/>
          </a:prstGeom>
          <a:noFill/>
          <a:ln w="28575">
            <a:solidFill>
              <a:schemeClr val="hlink"/>
            </a:solidFill>
            <a:round/>
          </a:ln>
          <a:effectLst/>
        </p:spPr>
        <p:txBody>
          <a:bodyPr/>
          <a:lstStyle/>
          <a:p>
            <a:pPr algn="ctr" fontAlgn="base">
              <a:spcBef>
                <a:spcPct val="0"/>
              </a:spcBef>
              <a:spcAft>
                <a:spcPct val="0"/>
              </a:spcAft>
              <a:defRPr/>
            </a:pPr>
            <a:endParaRPr lang="es-ES" sz="1600" b="1">
              <a:solidFill>
                <a:srgbClr val="000000"/>
              </a:solidFill>
              <a:sym typeface="Wingdings" pitchFamily="2" charset="2"/>
            </a:endParaRPr>
          </a:p>
        </p:txBody>
      </p:sp>
      <p:sp>
        <p:nvSpPr>
          <p:cNvPr id="9" name="Rectangle 15"/>
          <p:cNvSpPr>
            <a:spLocks noChangeArrowheads="1"/>
          </p:cNvSpPr>
          <p:nvPr/>
        </p:nvSpPr>
        <p:spPr bwMode="auto">
          <a:xfrm>
            <a:off x="7974925" y="6067544"/>
            <a:ext cx="4107715" cy="390525"/>
          </a:xfrm>
          <a:prstGeom prst="rect">
            <a:avLst/>
          </a:prstGeom>
          <a:noFill/>
          <a:ln w="9525">
            <a:noFill/>
            <a:miter lim="800000"/>
          </a:ln>
          <a:effectLst/>
        </p:spPr>
        <p:txBody>
          <a:bodyPr anchor="b"/>
          <a:lstStyle/>
          <a:p>
            <a:pPr algn="r" fontAlgn="base">
              <a:spcBef>
                <a:spcPct val="0"/>
              </a:spcBef>
              <a:spcAft>
                <a:spcPct val="0"/>
              </a:spcAft>
              <a:defRPr/>
            </a:pPr>
            <a:r>
              <a:rPr lang="es-ES_tradnl" sz="1400" b="1">
                <a:solidFill>
                  <a:schemeClr val="bg1"/>
                </a:solidFill>
                <a:latin typeface="Calibri" panose="020F0502020204030204" pitchFamily="34" charset="0"/>
                <a:sym typeface="Wingdings" pitchFamily="2" charset="2"/>
              </a:rPr>
              <a:t>www.managementsolutions.com</a:t>
            </a:r>
            <a:endParaRPr lang="en-US" sz="1400" b="1">
              <a:solidFill>
                <a:schemeClr val="bg1"/>
              </a:solidFill>
              <a:latin typeface="Calibri" panose="020F0502020204030204" pitchFamily="34" charset="0"/>
              <a:sym typeface="Wingdings" pitchFamily="2" charset="2"/>
            </a:endParaRPr>
          </a:p>
        </p:txBody>
      </p:sp>
      <p:sp>
        <p:nvSpPr>
          <p:cNvPr id="10" name="Rectangle 3"/>
          <p:cNvSpPr>
            <a:spLocks noChangeArrowheads="1"/>
          </p:cNvSpPr>
          <p:nvPr/>
        </p:nvSpPr>
        <p:spPr bwMode="auto">
          <a:xfrm>
            <a:off x="53" y="6477000"/>
            <a:ext cx="3341077" cy="381000"/>
          </a:xfrm>
          <a:prstGeom prst="rect">
            <a:avLst/>
          </a:prstGeom>
          <a:solidFill>
            <a:schemeClr val="hlink"/>
          </a:solidFill>
          <a:ln w="9525">
            <a:noFill/>
            <a:miter lim="800000"/>
          </a:ln>
          <a:effectLst/>
        </p:spPr>
        <p:txBody>
          <a:bodyPr wrap="none" anchor="ctr"/>
          <a:lstStyle/>
          <a:p>
            <a:pPr algn="ctr" fontAlgn="base">
              <a:spcBef>
                <a:spcPct val="0"/>
              </a:spcBef>
              <a:spcAft>
                <a:spcPct val="0"/>
              </a:spcAft>
              <a:defRPr/>
            </a:pPr>
            <a:endParaRPr lang="en-GB" sz="1333">
              <a:solidFill>
                <a:srgbClr val="000000"/>
              </a:solidFill>
              <a:sym typeface="Wingdings" pitchFamily="2" charset="2"/>
            </a:endParaRPr>
          </a:p>
        </p:txBody>
      </p:sp>
      <p:sp>
        <p:nvSpPr>
          <p:cNvPr id="12" name="Rectangle 7"/>
          <p:cNvSpPr>
            <a:spLocks noChangeArrowheads="1"/>
          </p:cNvSpPr>
          <p:nvPr/>
        </p:nvSpPr>
        <p:spPr bwMode="gray">
          <a:xfrm>
            <a:off x="9290595" y="6487921"/>
            <a:ext cx="2792045" cy="342900"/>
          </a:xfrm>
          <a:prstGeom prst="rect">
            <a:avLst/>
          </a:prstGeom>
          <a:noFill/>
          <a:ln w="9525">
            <a:noFill/>
            <a:miter lim="800000"/>
          </a:ln>
          <a:effectLst/>
        </p:spPr>
        <p:txBody>
          <a:bodyPr anchor="b"/>
          <a:lstStyle/>
          <a:p>
            <a:pPr algn="r" fontAlgn="base">
              <a:spcBef>
                <a:spcPct val="0"/>
              </a:spcBef>
              <a:spcAft>
                <a:spcPct val="0"/>
              </a:spcAft>
              <a:defRPr/>
            </a:pPr>
            <a:r>
              <a:rPr lang="es-ES_tradnl" sz="1333">
                <a:solidFill>
                  <a:srgbClr val="FFFFFF"/>
                </a:solidFill>
                <a:latin typeface="Calibri" panose="020F0502020204030204" pitchFamily="34" charset="0"/>
                <a:sym typeface="Wingdings" pitchFamily="2" charset="2"/>
              </a:rPr>
              <a:t>Madrid, julio de 2018</a:t>
            </a:r>
            <a:endParaRPr lang="en-US" sz="1333">
              <a:solidFill>
                <a:srgbClr val="FFFFFF"/>
              </a:solidFill>
              <a:latin typeface="Calibri" panose="020F0502020204030204" pitchFamily="34" charset="0"/>
              <a:sym typeface="Wingdings" pitchFamily="2" charset="2"/>
            </a:endParaRPr>
          </a:p>
        </p:txBody>
      </p:sp>
      <p:sp>
        <p:nvSpPr>
          <p:cNvPr id="13" name="Rectangle 16"/>
          <p:cNvSpPr>
            <a:spLocks noChangeArrowheads="1"/>
          </p:cNvSpPr>
          <p:nvPr/>
        </p:nvSpPr>
        <p:spPr bwMode="auto">
          <a:xfrm>
            <a:off x="1" y="6491288"/>
            <a:ext cx="3341129" cy="366712"/>
          </a:xfrm>
          <a:prstGeom prst="rect">
            <a:avLst/>
          </a:prstGeom>
          <a:noFill/>
          <a:ln w="9525">
            <a:noFill/>
            <a:miter lim="800000"/>
          </a:ln>
          <a:effectLst/>
        </p:spPr>
        <p:txBody>
          <a:bodyPr wrap="none" lIns="480000" rIns="0" anchor="ctr"/>
          <a:lstStyle/>
          <a:p>
            <a:pPr marL="0" indent="0" algn="l" fontAlgn="base">
              <a:spcBef>
                <a:spcPct val="0"/>
              </a:spcBef>
              <a:spcAft>
                <a:spcPct val="0"/>
              </a:spcAft>
              <a:defRPr/>
            </a:pPr>
            <a:r>
              <a:rPr lang="en-US" sz="1600" b="1">
                <a:solidFill>
                  <a:srgbClr val="FFFFFF"/>
                </a:solidFill>
                <a:latin typeface="Calibri" panose="020F0502020204030204" pitchFamily="34" charset="0"/>
                <a:sym typeface="Wingdings" pitchFamily="2" charset="2"/>
              </a:rPr>
              <a:t>     Entidades Financieras</a:t>
            </a:r>
          </a:p>
        </p:txBody>
      </p:sp>
      <p:sp>
        <p:nvSpPr>
          <p:cNvPr id="14" name="Text Box 1030"/>
          <p:cNvSpPr txBox="1">
            <a:spLocks noChangeArrowheads="1"/>
          </p:cNvSpPr>
          <p:nvPr/>
        </p:nvSpPr>
        <p:spPr bwMode="auto">
          <a:xfrm>
            <a:off x="5001867" y="1263650"/>
            <a:ext cx="2035908" cy="338554"/>
          </a:xfrm>
          <a:prstGeom prst="rect">
            <a:avLst/>
          </a:prstGeom>
          <a:noFill/>
          <a:ln w="9525">
            <a:noFill/>
            <a:miter lim="800000"/>
          </a:ln>
          <a:effectLst/>
        </p:spPr>
        <p:txBody>
          <a:bodyPr>
            <a:spAutoFit/>
          </a:bodyPr>
          <a:lstStyle/>
          <a:p>
            <a:pPr fontAlgn="base">
              <a:spcBef>
                <a:spcPct val="50000"/>
              </a:spcBef>
              <a:spcAft>
                <a:spcPct val="0"/>
              </a:spcAft>
              <a:defRPr/>
            </a:pPr>
            <a:endParaRPr lang="es-ES" sz="1600" u="sng">
              <a:solidFill>
                <a:srgbClr val="000000"/>
              </a:solidFill>
              <a:sym typeface="Wingdings" pitchFamily="2" charset="2"/>
            </a:endParaRPr>
          </a:p>
        </p:txBody>
      </p:sp>
    </p:spTree>
    <p:extLst>
      <p:ext uri="{BB962C8B-B14F-4D97-AF65-F5344CB8AC3E}">
        <p14:creationId xmlns:p14="http://schemas.microsoft.com/office/powerpoint/2010/main" val="389536167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16287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a:stretch>
            <a:fillRect/>
          </a:stretch>
        </p:blipFill>
        <p:spPr>
          <a:xfrm>
            <a:off x="0" y="-387350"/>
            <a:ext cx="12192000" cy="7632700"/>
          </a:xfrm>
          <a:prstGeom prst="rect">
            <a:avLst/>
          </a:prstGeom>
        </p:spPr>
      </p:pic>
      <p:pic>
        <p:nvPicPr>
          <p:cNvPr id="3" name="Image 2"/>
          <p:cNvPicPr>
            <a:picLocks noChangeAspect="1"/>
          </p:cNvPicPr>
          <p:nvPr/>
        </p:nvPicPr>
        <p:blipFill>
          <a:blip r:embed="rId4"/>
          <a:stretch>
            <a:fillRect/>
          </a:stretch>
        </p:blipFill>
        <p:spPr>
          <a:xfrm>
            <a:off x="2118" y="2118"/>
            <a:ext cx="2117" cy="2117"/>
          </a:xfrm>
          <a:prstGeom prst="rect">
            <a:avLst/>
          </a:prstGeom>
        </p:spPr>
      </p:pic>
      <p:sp>
        <p:nvSpPr>
          <p:cNvPr id="2" name="Rectangle 1" hidden="1"/>
          <p:cNvSpPr/>
          <p:nvPr userDrawn="1">
            <p:custDataLst>
              <p:tags r:id="rId1"/>
            </p:custDataLst>
          </p:nvPr>
        </p:nvSpPr>
        <p:spPr bwMode="auto">
          <a:xfrm>
            <a:off x="-17319" y="-140388"/>
            <a:ext cx="246308" cy="492443"/>
          </a:xfrm>
          <a:prstGeom prst="rect">
            <a:avLst/>
          </a:prstGeom>
          <a:noFill/>
          <a:ln w="9525">
            <a:solidFill>
              <a:schemeClr val="tx1"/>
            </a:solidFill>
            <a:round/>
          </a:ln>
        </p:spPr>
        <p:txBody>
          <a:bodyPr wrap="none" lIns="0" tIns="0" rIns="0" bIns="0" rtlCol="0" anchor="ctr">
            <a:noAutofit/>
          </a:bodyPr>
          <a:lstStyle/>
          <a:p>
            <a:pPr marL="0" lvl="0" indent="0" algn="ctr" eaLnBrk="1">
              <a:lnSpc>
                <a:spcPct val="100000"/>
              </a:lnSpc>
              <a:spcBef>
                <a:spcPct val="0"/>
              </a:spcBef>
              <a:spcAft>
                <a:spcPct val="0"/>
              </a:spcAft>
            </a:pPr>
            <a:endParaRPr lang="es-ES_tradnl" sz="2667" b="0" i="0" baseline="0">
              <a:latin typeface="Calibri"/>
              <a:ea typeface="+mj-ea"/>
              <a:cs typeface="+mj-cs"/>
              <a:sym typeface="Calibri"/>
            </a:endParaRPr>
          </a:p>
        </p:txBody>
      </p:sp>
      <p:sp>
        <p:nvSpPr>
          <p:cNvPr id="5" name="Rectangle 4"/>
          <p:cNvSpPr>
            <a:spLocks noChangeArrowheads="1"/>
          </p:cNvSpPr>
          <p:nvPr userDrawn="1"/>
        </p:nvSpPr>
        <p:spPr bwMode="auto">
          <a:xfrm>
            <a:off x="3341077" y="6477000"/>
            <a:ext cx="8850923" cy="381000"/>
          </a:xfrm>
          <a:prstGeom prst="rect">
            <a:avLst/>
          </a:prstGeom>
          <a:solidFill>
            <a:srgbClr val="001A48"/>
          </a:solidFill>
          <a:ln w="9525">
            <a:noFill/>
            <a:miter lim="800000"/>
          </a:ln>
          <a:effectLst/>
        </p:spPr>
        <p:txBody>
          <a:bodyPr wrap="none" lIns="103900" tIns="51951" rIns="103900" bIns="51951" anchor="ctr"/>
          <a:lstStyle/>
          <a:p>
            <a:pPr>
              <a:defRPr/>
            </a:pPr>
            <a:endParaRPr lang="es-ES" sz="2400"/>
          </a:p>
        </p:txBody>
      </p:sp>
      <p:sp>
        <p:nvSpPr>
          <p:cNvPr id="6" name="Rectangle 6"/>
          <p:cNvSpPr>
            <a:spLocks noChangeArrowheads="1"/>
          </p:cNvSpPr>
          <p:nvPr userDrawn="1"/>
        </p:nvSpPr>
        <p:spPr bwMode="auto">
          <a:xfrm>
            <a:off x="0" y="1"/>
            <a:ext cx="12192000" cy="647700"/>
          </a:xfrm>
          <a:prstGeom prst="rect">
            <a:avLst/>
          </a:prstGeom>
          <a:solidFill>
            <a:srgbClr val="001A48"/>
          </a:solidFill>
          <a:ln w="9525">
            <a:noFill/>
            <a:miter lim="800000"/>
          </a:ln>
          <a:effectLst/>
        </p:spPr>
        <p:txBody>
          <a:bodyPr wrap="none" lIns="103900" tIns="51951" rIns="103900" bIns="51951" anchor="ctr"/>
          <a:lstStyle/>
          <a:p>
            <a:pPr>
              <a:defRPr/>
            </a:pPr>
            <a:endParaRPr lang="es-ES" sz="2400"/>
          </a:p>
        </p:txBody>
      </p:sp>
      <p:sp>
        <p:nvSpPr>
          <p:cNvPr id="7" name="Line 23"/>
          <p:cNvSpPr>
            <a:spLocks noChangeShapeType="1"/>
          </p:cNvSpPr>
          <p:nvPr userDrawn="1"/>
        </p:nvSpPr>
        <p:spPr bwMode="gray">
          <a:xfrm>
            <a:off x="0" y="682625"/>
            <a:ext cx="12192000" cy="0"/>
          </a:xfrm>
          <a:prstGeom prst="line">
            <a:avLst/>
          </a:prstGeom>
          <a:noFill/>
          <a:ln w="28575">
            <a:solidFill>
              <a:schemeClr val="hlink"/>
            </a:solidFill>
            <a:round/>
          </a:ln>
          <a:effectLst/>
        </p:spPr>
        <p:txBody>
          <a:bodyPr lIns="103900" tIns="51951" rIns="103900" bIns="51951"/>
          <a:lstStyle/>
          <a:p>
            <a:pPr>
              <a:defRPr/>
            </a:pPr>
            <a:endParaRPr lang="es-ES" sz="2400"/>
          </a:p>
        </p:txBody>
      </p:sp>
      <p:sp>
        <p:nvSpPr>
          <p:cNvPr id="8" name="Rectangle 12"/>
          <p:cNvSpPr>
            <a:spLocks noChangeArrowheads="1"/>
          </p:cNvSpPr>
          <p:nvPr userDrawn="1"/>
        </p:nvSpPr>
        <p:spPr bwMode="auto">
          <a:xfrm rot="16200000">
            <a:off x="-2666291" y="3467850"/>
            <a:ext cx="5682325" cy="228027"/>
          </a:xfrm>
          <a:prstGeom prst="rect">
            <a:avLst/>
          </a:prstGeom>
          <a:noFill/>
          <a:ln w="9525">
            <a:noFill/>
            <a:miter lim="800000"/>
          </a:ln>
          <a:effectLst/>
        </p:spPr>
        <p:txBody>
          <a:bodyPr wrap="square" lIns="103900" tIns="51951" rIns="103900" bIns="51951">
            <a:spAutoFit/>
          </a:bodyPr>
          <a:lstStyle/>
          <a:p>
            <a:pPr algn="r">
              <a:defRPr/>
            </a:pPr>
            <a:r>
              <a:rPr lang="es-ES" sz="800">
                <a:solidFill>
                  <a:schemeClr val="bg1"/>
                </a:solidFill>
              </a:rPr>
              <a:t> </a:t>
            </a:r>
            <a:r>
              <a:rPr lang="es-ES_tradnl" sz="800">
                <a:solidFill>
                  <a:schemeClr val="bg1"/>
                </a:solidFill>
              </a:rPr>
              <a:t>©</a:t>
            </a:r>
            <a:r>
              <a:rPr lang="es-ES" sz="800">
                <a:solidFill>
                  <a:schemeClr val="bg1"/>
                </a:solidFill>
              </a:rPr>
              <a:t> Management Solutions 2023. Todos los derechos reservados</a:t>
            </a:r>
            <a:endParaRPr lang="es-ES_tradnl" sz="800">
              <a:solidFill>
                <a:schemeClr val="bg1"/>
              </a:solidFill>
            </a:endParaRPr>
          </a:p>
        </p:txBody>
      </p:sp>
      <p:sp>
        <p:nvSpPr>
          <p:cNvPr id="9" name="Rectangle 15"/>
          <p:cNvSpPr>
            <a:spLocks noChangeArrowheads="1"/>
          </p:cNvSpPr>
          <p:nvPr userDrawn="1"/>
        </p:nvSpPr>
        <p:spPr bwMode="auto">
          <a:xfrm>
            <a:off x="7145073" y="6441758"/>
            <a:ext cx="2979616" cy="390525"/>
          </a:xfrm>
          <a:prstGeom prst="rect">
            <a:avLst/>
          </a:prstGeom>
          <a:noFill/>
          <a:ln w="9525">
            <a:noFill/>
            <a:miter lim="800000"/>
          </a:ln>
          <a:effectLst/>
        </p:spPr>
        <p:txBody>
          <a:bodyPr lIns="103900" tIns="51951" rIns="103900" bIns="51951" anchor="b"/>
          <a:lstStyle/>
          <a:p>
            <a:pPr algn="r">
              <a:defRPr/>
            </a:pPr>
            <a:r>
              <a:rPr lang="es-ES_tradnl" sz="1200" b="1">
                <a:solidFill>
                  <a:schemeClr val="bg1"/>
                </a:solidFill>
              </a:rPr>
              <a:t>www.managementsolutions.com </a:t>
            </a:r>
            <a:endParaRPr lang="en-US" sz="1200" b="1">
              <a:solidFill>
                <a:schemeClr val="bg1"/>
              </a:solidFill>
            </a:endParaRPr>
          </a:p>
        </p:txBody>
      </p:sp>
      <p:sp>
        <p:nvSpPr>
          <p:cNvPr id="10" name="Rectangle 3"/>
          <p:cNvSpPr>
            <a:spLocks noChangeArrowheads="1"/>
          </p:cNvSpPr>
          <p:nvPr userDrawn="1"/>
        </p:nvSpPr>
        <p:spPr bwMode="auto">
          <a:xfrm>
            <a:off x="0" y="6477000"/>
            <a:ext cx="3341077" cy="381000"/>
          </a:xfrm>
          <a:prstGeom prst="rect">
            <a:avLst/>
          </a:prstGeom>
          <a:solidFill>
            <a:srgbClr val="997D00"/>
          </a:solidFill>
          <a:ln w="9525">
            <a:noFill/>
            <a:miter lim="800000"/>
          </a:ln>
          <a:effectLst/>
        </p:spPr>
        <p:txBody>
          <a:bodyPr wrap="none" lIns="103900" tIns="51951" rIns="103900" bIns="51951" anchor="ctr"/>
          <a:lstStyle/>
          <a:p>
            <a:pPr algn="ctr">
              <a:defRPr/>
            </a:pPr>
            <a:endParaRPr lang="en-US" sz="1200"/>
          </a:p>
        </p:txBody>
      </p:sp>
      <p:sp>
        <p:nvSpPr>
          <p:cNvPr id="12" name="Rectangle 7"/>
          <p:cNvSpPr>
            <a:spLocks noChangeArrowheads="1"/>
          </p:cNvSpPr>
          <p:nvPr userDrawn="1"/>
        </p:nvSpPr>
        <p:spPr bwMode="gray">
          <a:xfrm>
            <a:off x="10453397" y="6486526"/>
            <a:ext cx="1570375" cy="342900"/>
          </a:xfrm>
          <a:prstGeom prst="rect">
            <a:avLst/>
          </a:prstGeom>
          <a:noFill/>
          <a:ln w="9525">
            <a:noFill/>
            <a:miter lim="800000"/>
          </a:ln>
          <a:effectLst/>
        </p:spPr>
        <p:txBody>
          <a:bodyPr lIns="103900" tIns="51951" rIns="103900" bIns="51951" anchor="b"/>
          <a:lstStyle/>
          <a:p>
            <a:pPr algn="l"/>
            <a:r>
              <a:rPr lang="es-ES" sz="1200">
                <a:solidFill>
                  <a:schemeClr val="bg1"/>
                </a:solidFill>
              </a:rPr>
              <a:t>Diciembre de 2023</a:t>
            </a:r>
            <a:endParaRPr lang="en-US" sz="1200">
              <a:solidFill>
                <a:schemeClr val="bg1"/>
              </a:solidFill>
            </a:endParaRPr>
          </a:p>
        </p:txBody>
      </p:sp>
      <p:sp>
        <p:nvSpPr>
          <p:cNvPr id="14" name="Rectangle 45"/>
          <p:cNvSpPr>
            <a:spLocks noChangeArrowheads="1"/>
          </p:cNvSpPr>
          <p:nvPr userDrawn="1"/>
        </p:nvSpPr>
        <p:spPr bwMode="auto">
          <a:xfrm>
            <a:off x="155321" y="6491288"/>
            <a:ext cx="2633784" cy="366712"/>
          </a:xfrm>
          <a:prstGeom prst="rect">
            <a:avLst/>
          </a:prstGeom>
          <a:noFill/>
          <a:ln w="9525">
            <a:noFill/>
            <a:miter lim="800000"/>
          </a:ln>
          <a:effectLst/>
        </p:spPr>
        <p:txBody>
          <a:bodyPr wrap="none" lIns="409056" tIns="51951" rIns="0" bIns="51951" anchor="ctr"/>
          <a:lstStyle/>
          <a:p>
            <a:pPr marL="0" indent="0" algn="ctr">
              <a:defRPr/>
            </a:pPr>
            <a:r>
              <a:rPr lang="es-ES" sz="1600" b="1">
                <a:solidFill>
                  <a:schemeClr val="bg1"/>
                </a:solidFill>
              </a:rPr>
              <a:t>Control</a:t>
            </a:r>
            <a:r>
              <a:rPr lang="es-ES" sz="1600" b="1" baseline="0">
                <a:solidFill>
                  <a:schemeClr val="bg1"/>
                </a:solidFill>
              </a:rPr>
              <a:t> de Gestión</a:t>
            </a:r>
            <a:endParaRPr lang="en-US" sz="1600" b="1">
              <a:solidFill>
                <a:schemeClr val="bg1"/>
              </a:solidFill>
            </a:endParaRPr>
          </a:p>
        </p:txBody>
      </p:sp>
      <p:sp>
        <p:nvSpPr>
          <p:cNvPr id="15" name="Line 48"/>
          <p:cNvSpPr>
            <a:spLocks noChangeShapeType="1"/>
          </p:cNvSpPr>
          <p:nvPr userDrawn="1"/>
        </p:nvSpPr>
        <p:spPr bwMode="gray">
          <a:xfrm flipH="1">
            <a:off x="10279703" y="6565900"/>
            <a:ext cx="0" cy="228600"/>
          </a:xfrm>
          <a:prstGeom prst="line">
            <a:avLst/>
          </a:prstGeom>
          <a:noFill/>
          <a:ln w="25400">
            <a:solidFill>
              <a:srgbClr val="997D00"/>
            </a:solidFill>
            <a:round/>
          </a:ln>
          <a:effectLst/>
        </p:spPr>
        <p:txBody>
          <a:bodyPr lIns="103900" tIns="51951" rIns="103900" bIns="51951"/>
          <a:lstStyle/>
          <a:p>
            <a:pPr>
              <a:defRPr/>
            </a:pPr>
            <a:endParaRPr lang="es-ES" sz="2400"/>
          </a:p>
        </p:txBody>
      </p:sp>
      <p:sp>
        <p:nvSpPr>
          <p:cNvPr id="19" name="Rectangle 18"/>
          <p:cNvSpPr/>
          <p:nvPr userDrawn="1"/>
        </p:nvSpPr>
        <p:spPr bwMode="auto">
          <a:xfrm>
            <a:off x="4878590" y="3909054"/>
            <a:ext cx="7362093" cy="1898121"/>
          </a:xfrm>
          <a:prstGeom prst="rect">
            <a:avLst/>
          </a:prstGeom>
          <a:solidFill>
            <a:schemeClr val="bg1">
              <a:alpha val="73000"/>
            </a:schemeClr>
          </a:solidFill>
          <a:ln w="12700" algn="ctr">
            <a:noFill/>
            <a:miter lim="800000"/>
            <a:headEnd type="none" w="sm" len="sm"/>
            <a:tailEnd type="none" w="sm" len="sm"/>
          </a:ln>
        </p:spPr>
        <p:txBody>
          <a:bodyPr rot="0" spcFirstLastPara="0" vertOverflow="overflow" horzOverflow="overflow" vert="horz" wrap="none" lIns="103900" tIns="51951" rIns="103900" bIns="51951" numCol="1" spcCol="0" rtlCol="0" fromWordArt="0" anchor="ctr" anchorCtr="0" forceAA="0" compatLnSpc="1">
            <a:prstTxWarp prst="textNoShape">
              <a:avLst/>
            </a:prstTxWarp>
            <a:noAutofit/>
          </a:bodyPr>
          <a:lstStyle/>
          <a:p>
            <a:pPr algn="ctr" eaLnBrk="0" hangingPunct="0"/>
            <a:endParaRPr lang="es-ES" sz="1333"/>
          </a:p>
        </p:txBody>
      </p:sp>
      <p:pic>
        <p:nvPicPr>
          <p:cNvPr id="121858" name="Picture 2"/>
          <p:cNvPicPr>
            <a:picLocks noChangeAspect="1" noChangeArrowheads="1"/>
          </p:cNvPicPr>
          <p:nvPr userDrawn="1"/>
        </p:nvPicPr>
        <p:blipFill>
          <a:blip r:embed="rId5">
            <a:extLst>
              <a:ext uri="{28A0092B-C50C-407E-A947-70E740481C1C}">
                <a14:useLocalDpi xmlns:a14="http://schemas.microsoft.com/office/drawing/2010/main" val="0"/>
              </a:ext>
            </a:extLst>
          </a:blip>
          <a:stretch>
            <a:fillRect/>
          </a:stretch>
        </p:blipFill>
        <p:spPr bwMode="auto">
          <a:xfrm>
            <a:off x="9570525" y="932723"/>
            <a:ext cx="2309284" cy="1081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2758379"/>
      </p:ext>
    </p:extLst>
  </p:cSld>
  <p:clrMapOvr>
    <a:masterClrMapping/>
  </p:clrMapOvr>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ítulo vertical y texto">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63E8DD7-D67E-F2E4-CC36-243156DB3A1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47697" y="0"/>
            <a:ext cx="3343686" cy="6858000"/>
          </a:xfrm>
          <a:prstGeom prst="rect">
            <a:avLst/>
          </a:prstGeom>
        </p:spPr>
      </p:pic>
      <p:sp>
        <p:nvSpPr>
          <p:cNvPr id="2" name="Rectangle 1">
            <a:extLst>
              <a:ext uri="{FF2B5EF4-FFF2-40B4-BE49-F238E27FC236}">
                <a16:creationId xmlns:a16="http://schemas.microsoft.com/office/drawing/2014/main" id="{858454F5-F066-6858-5A91-F456AECF5375}"/>
              </a:ext>
            </a:extLst>
          </p:cNvPr>
          <p:cNvSpPr>
            <a:spLocks noChangeArrowheads="1"/>
          </p:cNvSpPr>
          <p:nvPr userDrawn="1"/>
        </p:nvSpPr>
        <p:spPr bwMode="auto">
          <a:xfrm>
            <a:off x="3341078" y="6477000"/>
            <a:ext cx="8850923" cy="38100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3" name="Rectangle 15">
            <a:extLst>
              <a:ext uri="{FF2B5EF4-FFF2-40B4-BE49-F238E27FC236}">
                <a16:creationId xmlns:a16="http://schemas.microsoft.com/office/drawing/2014/main" id="{C8863332-9BD1-E3AF-AFD4-AA36FFCB69CB}"/>
              </a:ext>
            </a:extLst>
          </p:cNvPr>
          <p:cNvSpPr>
            <a:spLocks noChangeArrowheads="1"/>
          </p:cNvSpPr>
          <p:nvPr userDrawn="1"/>
        </p:nvSpPr>
        <p:spPr bwMode="auto">
          <a:xfrm>
            <a:off x="8850926" y="6067430"/>
            <a:ext cx="2981569"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r" eaLnBrk="1" hangingPunct="1"/>
            <a:r>
              <a:rPr lang="es-ES_tradnl" altLang="es-ES" sz="1000" b="1">
                <a:solidFill>
                  <a:srgbClr val="001A48"/>
                </a:solidFill>
              </a:rPr>
              <a:t>www.managementsolutions.com</a:t>
            </a:r>
            <a:endParaRPr lang="en-US" altLang="es-ES" sz="1000" b="1">
              <a:solidFill>
                <a:srgbClr val="001A48"/>
              </a:solidFill>
            </a:endParaRPr>
          </a:p>
        </p:txBody>
      </p:sp>
      <p:sp>
        <p:nvSpPr>
          <p:cNvPr id="4" name="Rectangle 3">
            <a:extLst>
              <a:ext uri="{FF2B5EF4-FFF2-40B4-BE49-F238E27FC236}">
                <a16:creationId xmlns:a16="http://schemas.microsoft.com/office/drawing/2014/main" id="{4CCA805A-45FF-8124-8F4D-B8CE036CB2FF}"/>
              </a:ext>
            </a:extLst>
          </p:cNvPr>
          <p:cNvSpPr>
            <a:spLocks noChangeArrowheads="1"/>
          </p:cNvSpPr>
          <p:nvPr userDrawn="1"/>
        </p:nvSpPr>
        <p:spPr bwMode="auto">
          <a:xfrm>
            <a:off x="1" y="6477000"/>
            <a:ext cx="3341077" cy="381000"/>
          </a:xfrm>
          <a:prstGeom prst="rect">
            <a:avLst/>
          </a:prstGeom>
          <a:solidFill>
            <a:srgbClr val="997D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n-US" altLang="es-ES" sz="1000"/>
          </a:p>
        </p:txBody>
      </p:sp>
      <p:sp>
        <p:nvSpPr>
          <p:cNvPr id="5" name="Line 17">
            <a:extLst>
              <a:ext uri="{FF2B5EF4-FFF2-40B4-BE49-F238E27FC236}">
                <a16:creationId xmlns:a16="http://schemas.microsoft.com/office/drawing/2014/main" id="{81A6CCB0-B8EE-0303-6DDD-B6FCC18E0264}"/>
              </a:ext>
            </a:extLst>
          </p:cNvPr>
          <p:cNvSpPr>
            <a:spLocks noChangeShapeType="1"/>
          </p:cNvSpPr>
          <p:nvPr userDrawn="1"/>
        </p:nvSpPr>
        <p:spPr bwMode="auto">
          <a:xfrm flipH="1">
            <a:off x="3364523" y="3086105"/>
            <a:ext cx="0" cy="2352675"/>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sz="1800"/>
          </a:p>
        </p:txBody>
      </p:sp>
      <p:sp>
        <p:nvSpPr>
          <p:cNvPr id="6" name="Rectangle 16">
            <a:extLst>
              <a:ext uri="{FF2B5EF4-FFF2-40B4-BE49-F238E27FC236}">
                <a16:creationId xmlns:a16="http://schemas.microsoft.com/office/drawing/2014/main" id="{7A9B8087-E63A-A026-D176-1CA2CB42D8AF}"/>
              </a:ext>
            </a:extLst>
          </p:cNvPr>
          <p:cNvSpPr>
            <a:spLocks noChangeArrowheads="1"/>
          </p:cNvSpPr>
          <p:nvPr userDrawn="1"/>
        </p:nvSpPr>
        <p:spPr bwMode="auto">
          <a:xfrm>
            <a:off x="0" y="6491288"/>
            <a:ext cx="2633785"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rIns="0" anchor="ctr"/>
          <a:lstStyle>
            <a:lvl1pPr marL="101600"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r>
              <a:rPr lang="es-ES" altLang="es-ES" sz="1200" b="1">
                <a:solidFill>
                  <a:schemeClr val="bg1"/>
                </a:solidFill>
              </a:rPr>
              <a:t>Entidades Financieras</a:t>
            </a:r>
            <a:endParaRPr lang="en-US" altLang="es-ES" sz="1200" b="1">
              <a:solidFill>
                <a:schemeClr val="bg1"/>
              </a:solidFill>
            </a:endParaRPr>
          </a:p>
        </p:txBody>
      </p:sp>
      <p:pic>
        <p:nvPicPr>
          <p:cNvPr id="10" name="Picture 41">
            <a:extLst>
              <a:ext uri="{FF2B5EF4-FFF2-40B4-BE49-F238E27FC236}">
                <a16:creationId xmlns:a16="http://schemas.microsoft.com/office/drawing/2014/main" id="{24BEE9CB-3EA2-FD2E-0695-E0D973D45BA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269897" y="493686"/>
            <a:ext cx="2209073"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9">
            <a:extLst>
              <a:ext uri="{FF2B5EF4-FFF2-40B4-BE49-F238E27FC236}">
                <a16:creationId xmlns:a16="http://schemas.microsoft.com/office/drawing/2014/main" id="{935D05EB-AAA8-D595-4BFE-D3D3AE05DBAE}"/>
              </a:ext>
            </a:extLst>
          </p:cNvPr>
          <p:cNvSpPr>
            <a:spLocks noGrp="1" noChangeArrowheads="1"/>
          </p:cNvSpPr>
          <p:nvPr>
            <p:ph type="ctrTitle" sz="quarter"/>
          </p:nvPr>
        </p:nvSpPr>
        <p:spPr bwMode="auto">
          <a:xfrm>
            <a:off x="3387972" y="3028955"/>
            <a:ext cx="7877908" cy="14763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lvl1pPr>
              <a:defRPr sz="2400"/>
            </a:lvl1pPr>
          </a:lstStyle>
          <a:p>
            <a:pPr lvl="0"/>
            <a:r>
              <a:rPr lang="en-US" altLang="es-ES" noProof="0"/>
              <a:t>Click to edit Master title style</a:t>
            </a:r>
            <a:endParaRPr lang="es-ES_tradnl" altLang="es-ES" noProof="0"/>
          </a:p>
        </p:txBody>
      </p:sp>
      <p:sp>
        <p:nvSpPr>
          <p:cNvPr id="16" name="Rectangle 20">
            <a:extLst>
              <a:ext uri="{FF2B5EF4-FFF2-40B4-BE49-F238E27FC236}">
                <a16:creationId xmlns:a16="http://schemas.microsoft.com/office/drawing/2014/main" id="{F9E2FDD6-9632-3DD4-657B-E020E8B6167D}"/>
              </a:ext>
            </a:extLst>
          </p:cNvPr>
          <p:cNvSpPr>
            <a:spLocks noGrp="1" noChangeArrowheads="1"/>
          </p:cNvSpPr>
          <p:nvPr>
            <p:ph type="subTitle" sz="quarter" idx="1"/>
          </p:nvPr>
        </p:nvSpPr>
        <p:spPr>
          <a:xfrm>
            <a:off x="3387972" y="4524375"/>
            <a:ext cx="7971692" cy="920750"/>
          </a:xfrm>
          <a:extLs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nSpc>
                <a:spcPct val="100000"/>
              </a:lnSpc>
              <a:spcBef>
                <a:spcPct val="0"/>
              </a:spcBef>
              <a:defRPr sz="2000">
                <a:solidFill>
                  <a:srgbClr val="997D00"/>
                </a:solidFill>
              </a:defRPr>
            </a:lvl1pPr>
          </a:lstStyle>
          <a:p>
            <a:pPr lvl="0"/>
            <a:r>
              <a:rPr lang="en-US" altLang="es-ES" noProof="0"/>
              <a:t>Click to edit Master subtitle style</a:t>
            </a:r>
            <a:endParaRPr lang="es-ES_tradnl" altLang="es-ES" noProof="0"/>
          </a:p>
        </p:txBody>
      </p:sp>
      <p:pic>
        <p:nvPicPr>
          <p:cNvPr id="17" name="Picture 2">
            <a:extLst>
              <a:ext uri="{FF2B5EF4-FFF2-40B4-BE49-F238E27FC236}">
                <a16:creationId xmlns:a16="http://schemas.microsoft.com/office/drawing/2014/main" id="{1C96F9C4-AFD0-CA79-3F43-E0E13D3FF65D}"/>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tretch>
            <a:fillRect/>
          </a:stretch>
        </p:blipFill>
        <p:spPr bwMode="auto">
          <a:xfrm>
            <a:off x="10018643" y="541425"/>
            <a:ext cx="1903460" cy="4928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558146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MS">
    <p:spTree>
      <p:nvGrpSpPr>
        <p:cNvPr id="1" name=""/>
        <p:cNvGrpSpPr/>
        <p:nvPr/>
      </p:nvGrpSpPr>
      <p:grpSpPr>
        <a:xfrm>
          <a:off x="0" y="0"/>
          <a:ext cx="0" cy="0"/>
          <a:chOff x="0" y="0"/>
          <a:chExt cx="0" cy="0"/>
        </a:xfrm>
      </p:grpSpPr>
      <p:sp>
        <p:nvSpPr>
          <p:cNvPr id="4" name="Rectangle 21"/>
          <p:cNvSpPr>
            <a:spLocks noChangeArrowheads="1"/>
          </p:cNvSpPr>
          <p:nvPr/>
        </p:nvSpPr>
        <p:spPr bwMode="white">
          <a:xfrm>
            <a:off x="0" y="0"/>
            <a:ext cx="12192000" cy="685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s-ES" altLang="es-ES" sz="1000"/>
          </a:p>
        </p:txBody>
      </p:sp>
      <p:sp>
        <p:nvSpPr>
          <p:cNvPr id="5" name="Rectangle 4"/>
          <p:cNvSpPr>
            <a:spLocks noChangeArrowheads="1"/>
          </p:cNvSpPr>
          <p:nvPr/>
        </p:nvSpPr>
        <p:spPr bwMode="auto">
          <a:xfrm>
            <a:off x="3341078" y="6477000"/>
            <a:ext cx="8850923" cy="38100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6" name="Rectangle 6"/>
          <p:cNvSpPr>
            <a:spLocks noChangeArrowheads="1"/>
          </p:cNvSpPr>
          <p:nvPr/>
        </p:nvSpPr>
        <p:spPr bwMode="auto">
          <a:xfrm>
            <a:off x="0" y="0"/>
            <a:ext cx="12192000" cy="64770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7" name="Line 23"/>
          <p:cNvSpPr>
            <a:spLocks noChangeShapeType="1"/>
          </p:cNvSpPr>
          <p:nvPr/>
        </p:nvSpPr>
        <p:spPr bwMode="gray">
          <a:xfrm>
            <a:off x="0" y="682625"/>
            <a:ext cx="1219200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800"/>
          </a:p>
        </p:txBody>
      </p:sp>
      <p:sp>
        <p:nvSpPr>
          <p:cNvPr id="9" name="Rectangle 15"/>
          <p:cNvSpPr>
            <a:spLocks noChangeArrowheads="1"/>
          </p:cNvSpPr>
          <p:nvPr/>
        </p:nvSpPr>
        <p:spPr bwMode="auto">
          <a:xfrm>
            <a:off x="8850926" y="6067430"/>
            <a:ext cx="2981569"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r" eaLnBrk="1" hangingPunct="1"/>
            <a:r>
              <a:rPr lang="es-ES_tradnl" altLang="es-ES" sz="1000" b="1">
                <a:solidFill>
                  <a:srgbClr val="001A48"/>
                </a:solidFill>
              </a:rPr>
              <a:t>www.managementsolutions.com</a:t>
            </a:r>
            <a:endParaRPr lang="en-US" altLang="es-ES" sz="1000" b="1">
              <a:solidFill>
                <a:srgbClr val="001A48"/>
              </a:solidFill>
            </a:endParaRPr>
          </a:p>
        </p:txBody>
      </p:sp>
      <p:sp>
        <p:nvSpPr>
          <p:cNvPr id="10" name="Rectangle 3"/>
          <p:cNvSpPr>
            <a:spLocks noChangeArrowheads="1"/>
          </p:cNvSpPr>
          <p:nvPr/>
        </p:nvSpPr>
        <p:spPr bwMode="auto">
          <a:xfrm>
            <a:off x="1" y="6477000"/>
            <a:ext cx="3341077" cy="381000"/>
          </a:xfrm>
          <a:prstGeom prst="rect">
            <a:avLst/>
          </a:prstGeom>
          <a:solidFill>
            <a:srgbClr val="997D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n-US" altLang="es-ES" sz="1000"/>
          </a:p>
        </p:txBody>
      </p:sp>
      <p:sp>
        <p:nvSpPr>
          <p:cNvPr id="11" name="Line 17"/>
          <p:cNvSpPr>
            <a:spLocks noChangeShapeType="1"/>
          </p:cNvSpPr>
          <p:nvPr/>
        </p:nvSpPr>
        <p:spPr bwMode="auto">
          <a:xfrm flipH="1">
            <a:off x="3364523" y="3086105"/>
            <a:ext cx="0" cy="2352675"/>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sz="1800"/>
          </a:p>
        </p:txBody>
      </p:sp>
      <p:sp>
        <p:nvSpPr>
          <p:cNvPr id="14" name="Rectangle 16"/>
          <p:cNvSpPr>
            <a:spLocks noChangeArrowheads="1"/>
          </p:cNvSpPr>
          <p:nvPr/>
        </p:nvSpPr>
        <p:spPr bwMode="auto">
          <a:xfrm>
            <a:off x="0" y="6491288"/>
            <a:ext cx="2633785"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rIns="0" anchor="ctr"/>
          <a:lstStyle>
            <a:lvl1pPr marL="101600"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r>
              <a:rPr lang="es-ES" altLang="es-ES" sz="1200" b="1">
                <a:solidFill>
                  <a:schemeClr val="bg1"/>
                </a:solidFill>
              </a:rPr>
              <a:t>Entidades Financieras</a:t>
            </a:r>
            <a:endParaRPr lang="en-US" altLang="es-ES" sz="1200" b="1">
              <a:solidFill>
                <a:schemeClr val="bg1"/>
              </a:solidFill>
            </a:endParaRPr>
          </a:p>
        </p:txBody>
      </p:sp>
      <p:pic>
        <p:nvPicPr>
          <p:cNvPr id="15" name="Picture 39"/>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48970" y="1120775"/>
            <a:ext cx="2727569"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850926" y="1120775"/>
            <a:ext cx="2725616"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91" name="Rectangle 19"/>
          <p:cNvSpPr>
            <a:spLocks noGrp="1" noChangeArrowheads="1"/>
          </p:cNvSpPr>
          <p:nvPr>
            <p:ph type="ctrTitle" sz="quarter"/>
          </p:nvPr>
        </p:nvSpPr>
        <p:spPr bwMode="auto">
          <a:xfrm>
            <a:off x="3387972" y="3028955"/>
            <a:ext cx="7877908" cy="14763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lvl1pPr>
              <a:defRPr sz="2400"/>
            </a:lvl1pPr>
          </a:lstStyle>
          <a:p>
            <a:pPr lvl="0"/>
            <a:r>
              <a:rPr lang="en-US" altLang="es-ES" noProof="0"/>
              <a:t>Click to edit Master title style</a:t>
            </a:r>
            <a:endParaRPr lang="es-ES_tradnl" altLang="es-ES" noProof="0"/>
          </a:p>
        </p:txBody>
      </p:sp>
      <p:sp>
        <p:nvSpPr>
          <p:cNvPr id="3092" name="Rectangle 20"/>
          <p:cNvSpPr>
            <a:spLocks noGrp="1" noChangeArrowheads="1"/>
          </p:cNvSpPr>
          <p:nvPr>
            <p:ph type="subTitle" sz="quarter" idx="1"/>
          </p:nvPr>
        </p:nvSpPr>
        <p:spPr>
          <a:xfrm>
            <a:off x="3387972" y="4524375"/>
            <a:ext cx="7971692" cy="920750"/>
          </a:xfrm>
          <a:extLs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nSpc>
                <a:spcPct val="100000"/>
              </a:lnSpc>
              <a:spcBef>
                <a:spcPct val="0"/>
              </a:spcBef>
              <a:defRPr sz="2000">
                <a:solidFill>
                  <a:srgbClr val="997D00"/>
                </a:solidFill>
              </a:defRPr>
            </a:lvl1pPr>
          </a:lstStyle>
          <a:p>
            <a:pPr lvl="0"/>
            <a:r>
              <a:rPr lang="en-US" altLang="es-ES" noProof="0"/>
              <a:t>Click to edit Master subtitle style</a:t>
            </a:r>
            <a:endParaRPr lang="es-ES_tradnl" altLang="es-ES" noProof="0"/>
          </a:p>
        </p:txBody>
      </p:sp>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6684" y="1314131"/>
            <a:ext cx="3262406" cy="69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484430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338983144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247" y="4406905"/>
            <a:ext cx="10363200" cy="1362075"/>
          </a:xfrm>
        </p:spPr>
        <p:txBody>
          <a:bodyPr anchor="t"/>
          <a:lstStyle>
            <a:lvl1pPr algn="l">
              <a:defRPr sz="4000" b="1" cap="all"/>
            </a:lvl1pPr>
          </a:lstStyle>
          <a:p>
            <a:r>
              <a:rPr lang="en-US"/>
              <a:t>Click to edit Master title style</a:t>
            </a:r>
            <a:endParaRPr lang="es-ES"/>
          </a:p>
        </p:txBody>
      </p:sp>
      <p:sp>
        <p:nvSpPr>
          <p:cNvPr id="3" name="Text Placeholder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4768006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Content Placeholder 2"/>
          <p:cNvSpPr>
            <a:spLocks noGrp="1"/>
          </p:cNvSpPr>
          <p:nvPr>
            <p:ph sz="half" idx="1"/>
          </p:nvPr>
        </p:nvSpPr>
        <p:spPr>
          <a:xfrm>
            <a:off x="1307124" y="1303338"/>
            <a:ext cx="5048738"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p:cNvSpPr>
            <a:spLocks noGrp="1"/>
          </p:cNvSpPr>
          <p:nvPr>
            <p:ph sz="half" idx="2"/>
          </p:nvPr>
        </p:nvSpPr>
        <p:spPr>
          <a:xfrm>
            <a:off x="6543434" y="1303338"/>
            <a:ext cx="505069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329472245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s-ES"/>
          </a:p>
        </p:txBody>
      </p:sp>
      <p:sp>
        <p:nvSpPr>
          <p:cNvPr id="3" name="Text Placeholder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p:cNvSpPr>
            <a:spLocks noGrp="1"/>
          </p:cNvSpPr>
          <p:nvPr>
            <p:ph type="body" sz="quarter" idx="3"/>
          </p:nvPr>
        </p:nvSpPr>
        <p:spPr>
          <a:xfrm>
            <a:off x="6193696"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696"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58215730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Tree>
    <p:extLst>
      <p:ext uri="{BB962C8B-B14F-4D97-AF65-F5344CB8AC3E}">
        <p14:creationId xmlns:p14="http://schemas.microsoft.com/office/powerpoint/2010/main" val="184816735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934822"/>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247" cy="1162050"/>
          </a:xfrm>
        </p:spPr>
        <p:txBody>
          <a:bodyPr/>
          <a:lstStyle>
            <a:lvl1pPr algn="l">
              <a:defRPr sz="2000" b="1"/>
            </a:lvl1pPr>
          </a:lstStyle>
          <a:p>
            <a:r>
              <a:rPr lang="en-US"/>
              <a:t>Click to edit Master title style</a:t>
            </a:r>
            <a:endParaRPr lang="es-ES"/>
          </a:p>
        </p:txBody>
      </p:sp>
      <p:sp>
        <p:nvSpPr>
          <p:cNvPr id="3" name="Content Placeholder 2"/>
          <p:cNvSpPr>
            <a:spLocks noGrp="1"/>
          </p:cNvSpPr>
          <p:nvPr>
            <p:ph idx="1"/>
          </p:nvPr>
        </p:nvSpPr>
        <p:spPr>
          <a:xfrm>
            <a:off x="4767384" y="273055"/>
            <a:ext cx="681501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p:cNvSpPr>
            <a:spLocks noGrp="1"/>
          </p:cNvSpPr>
          <p:nvPr>
            <p:ph type="body" sz="half" idx="2"/>
          </p:nvPr>
        </p:nvSpPr>
        <p:spPr>
          <a:xfrm>
            <a:off x="609602" y="1435103"/>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48690904"/>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4" y="4800600"/>
            <a:ext cx="7315200" cy="566738"/>
          </a:xfrm>
        </p:spPr>
        <p:txBody>
          <a:bodyPr/>
          <a:lstStyle>
            <a:lvl1pPr algn="l">
              <a:defRPr sz="2000" b="1"/>
            </a:lvl1pPr>
          </a:lstStyle>
          <a:p>
            <a:r>
              <a:rPr lang="en-US"/>
              <a:t>Click to edit Master title style</a:t>
            </a:r>
            <a:endParaRPr lang="es-ES"/>
          </a:p>
        </p:txBody>
      </p:sp>
      <p:sp>
        <p:nvSpPr>
          <p:cNvPr id="3" name="Picture Placeholder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s-ES" noProof="0"/>
          </a:p>
        </p:txBody>
      </p:sp>
      <p:sp>
        <p:nvSpPr>
          <p:cNvPr id="4" name="Text Placeholder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5685665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1792220560"/>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7001" y="361950"/>
            <a:ext cx="2577122" cy="5056188"/>
          </a:xfrm>
        </p:spPr>
        <p:txBody>
          <a:bodyPr vert="eaVert"/>
          <a:lstStyle/>
          <a:p>
            <a:r>
              <a:rPr lang="en-US"/>
              <a:t>Click to edit Master title style</a:t>
            </a:r>
            <a:endParaRPr lang="es-ES"/>
          </a:p>
        </p:txBody>
      </p:sp>
      <p:sp>
        <p:nvSpPr>
          <p:cNvPr id="3" name="Vertical Text Placeholder 2"/>
          <p:cNvSpPr>
            <a:spLocks noGrp="1"/>
          </p:cNvSpPr>
          <p:nvPr>
            <p:ph type="body" orient="vert" idx="1"/>
          </p:nvPr>
        </p:nvSpPr>
        <p:spPr>
          <a:xfrm>
            <a:off x="1283681" y="361950"/>
            <a:ext cx="7545754" cy="50561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Tree>
    <p:extLst>
      <p:ext uri="{BB962C8B-B14F-4D97-AF65-F5344CB8AC3E}">
        <p14:creationId xmlns:p14="http://schemas.microsoft.com/office/powerpoint/2010/main" val="316264330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10" name="Image 9"/>
          <p:cNvPicPr>
            <a:picLocks noChangeAspect="1"/>
          </p:cNvPicPr>
          <p:nvPr/>
        </p:nvPicPr>
        <p:blipFill>
          <a:blip r:embed="rId2"/>
          <a:stretch>
            <a:fillRect/>
          </a:stretch>
        </p:blipFill>
        <p:spPr>
          <a:xfrm>
            <a:off x="2118" y="2118"/>
            <a:ext cx="2117" cy="2117"/>
          </a:xfrm>
          <a:prstGeom prst="rect">
            <a:avLst/>
          </a:prstGeom>
        </p:spPr>
      </p:pic>
    </p:spTree>
    <p:extLst>
      <p:ext uri="{BB962C8B-B14F-4D97-AF65-F5344CB8AC3E}">
        <p14:creationId xmlns:p14="http://schemas.microsoft.com/office/powerpoint/2010/main" val="2047492876"/>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1_En blanco">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118" y="2118"/>
            <a:ext cx="2117" cy="2117"/>
          </a:xfrm>
          <a:prstGeom prst="rect">
            <a:avLst/>
          </a:prstGeom>
        </p:spPr>
      </p:pic>
      <p:sp>
        <p:nvSpPr>
          <p:cNvPr id="3" name="Rectangle 6"/>
          <p:cNvSpPr>
            <a:spLocks noChangeArrowheads="1"/>
          </p:cNvSpPr>
          <p:nvPr userDrawn="1"/>
        </p:nvSpPr>
        <p:spPr bwMode="auto">
          <a:xfrm>
            <a:off x="0" y="5349213"/>
            <a:ext cx="12192000" cy="1508787"/>
          </a:xfrm>
          <a:prstGeom prst="rect">
            <a:avLst/>
          </a:prstGeom>
          <a:solidFill>
            <a:srgbClr val="001A48"/>
          </a:solidFill>
          <a:ln w="9525">
            <a:noFill/>
            <a:miter lim="800000"/>
          </a:ln>
          <a:effectLst/>
        </p:spPr>
        <p:txBody>
          <a:bodyPr wrap="none" lIns="103900" tIns="51951" rIns="103900" bIns="51951" anchor="ctr"/>
          <a:lstStyle/>
          <a:p>
            <a:pPr>
              <a:defRPr/>
            </a:pPr>
            <a:endParaRPr lang="es-ES" sz="2400"/>
          </a:p>
        </p:txBody>
      </p:sp>
      <p:sp>
        <p:nvSpPr>
          <p:cNvPr id="4" name="Rectangle 15"/>
          <p:cNvSpPr>
            <a:spLocks noChangeArrowheads="1"/>
          </p:cNvSpPr>
          <p:nvPr userDrawn="1"/>
        </p:nvSpPr>
        <p:spPr bwMode="auto">
          <a:xfrm>
            <a:off x="9072331" y="6441758"/>
            <a:ext cx="2979616" cy="390525"/>
          </a:xfrm>
          <a:prstGeom prst="rect">
            <a:avLst/>
          </a:prstGeom>
          <a:noFill/>
          <a:ln w="9525">
            <a:noFill/>
            <a:miter lim="800000"/>
          </a:ln>
          <a:effectLst/>
        </p:spPr>
        <p:txBody>
          <a:bodyPr lIns="103900" tIns="51951" rIns="103900" bIns="51951" anchor="b"/>
          <a:lstStyle/>
          <a:p>
            <a:pPr algn="r">
              <a:defRPr/>
            </a:pPr>
            <a:r>
              <a:rPr lang="es-ES_tradnl" sz="1200" b="1">
                <a:solidFill>
                  <a:schemeClr val="bg1"/>
                </a:solidFill>
              </a:rPr>
              <a:t>www.managementsolutions.com </a:t>
            </a:r>
            <a:endParaRPr lang="en-US" sz="1200" b="1">
              <a:solidFill>
                <a:schemeClr val="bg1"/>
              </a:solidFill>
            </a:endParaRPr>
          </a:p>
        </p:txBody>
      </p:sp>
      <p:sp>
        <p:nvSpPr>
          <p:cNvPr id="5" name="Line 23"/>
          <p:cNvSpPr>
            <a:spLocks noChangeShapeType="1"/>
          </p:cNvSpPr>
          <p:nvPr userDrawn="1"/>
        </p:nvSpPr>
        <p:spPr bwMode="gray">
          <a:xfrm>
            <a:off x="0" y="5349213"/>
            <a:ext cx="12192000" cy="0"/>
          </a:xfrm>
          <a:prstGeom prst="line">
            <a:avLst/>
          </a:prstGeom>
          <a:noFill/>
          <a:ln w="28575">
            <a:solidFill>
              <a:schemeClr val="hlink"/>
            </a:solidFill>
            <a:round/>
          </a:ln>
          <a:effectLst/>
        </p:spPr>
        <p:txBody>
          <a:bodyPr lIns="103900" tIns="51951" rIns="103900" bIns="51951"/>
          <a:lstStyle/>
          <a:p>
            <a:pPr>
              <a:defRPr/>
            </a:pPr>
            <a:endParaRPr lang="es-ES" sz="2400"/>
          </a:p>
        </p:txBody>
      </p:sp>
      <p:pic>
        <p:nvPicPr>
          <p:cNvPr id="6"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815414" y="1028733"/>
            <a:ext cx="2309284" cy="1081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4511824" y="2957076"/>
            <a:ext cx="3168352" cy="913007"/>
          </a:xfrm>
          <a:prstGeom prst="rect">
            <a:avLst/>
          </a:prstGeom>
          <a:noFill/>
        </p:spPr>
        <p:txBody>
          <a:bodyPr wrap="square" rtlCol="0">
            <a:spAutoFit/>
          </a:bodyPr>
          <a:lstStyle/>
          <a:p>
            <a:r>
              <a:rPr lang="es-ES" sz="5333" b="1">
                <a:solidFill>
                  <a:schemeClr val="bg2"/>
                </a:solidFill>
                <a:latin typeface="Segoe Print" panose="02000600000000000000" pitchFamily="2" charset="0"/>
              </a:rPr>
              <a:t>Gracias</a:t>
            </a:r>
          </a:p>
        </p:txBody>
      </p:sp>
    </p:spTree>
    <p:extLst>
      <p:ext uri="{BB962C8B-B14F-4D97-AF65-F5344CB8AC3E}">
        <p14:creationId xmlns:p14="http://schemas.microsoft.com/office/powerpoint/2010/main" val="1689736484"/>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30407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tretch>
            <a:fillRect/>
          </a:stretch>
        </p:blipFill>
        <p:spPr>
          <a:xfrm>
            <a:off x="0" y="669893"/>
            <a:ext cx="12192000" cy="5807107"/>
          </a:xfrm>
          <a:prstGeom prst="rect">
            <a:avLst/>
          </a:prstGeom>
        </p:spPr>
      </p:pic>
      <p:sp>
        <p:nvSpPr>
          <p:cNvPr id="4" name="Rectangle 3"/>
          <p:cNvSpPr/>
          <p:nvPr userDrawn="1"/>
        </p:nvSpPr>
        <p:spPr>
          <a:xfrm>
            <a:off x="10124690" y="876491"/>
            <a:ext cx="1827961" cy="82431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sz="2400">
              <a:latin typeface="+mj-lt"/>
            </a:endParaRPr>
          </a:p>
        </p:txBody>
      </p:sp>
      <p:pic>
        <p:nvPicPr>
          <p:cNvPr id="3" name="Image 2"/>
          <p:cNvPicPr>
            <a:picLocks noChangeAspect="1"/>
          </p:cNvPicPr>
          <p:nvPr/>
        </p:nvPicPr>
        <p:blipFill>
          <a:blip r:embed="rId5"/>
          <a:stretch>
            <a:fillRect/>
          </a:stretch>
        </p:blipFill>
        <p:spPr>
          <a:xfrm>
            <a:off x="2118" y="2118"/>
            <a:ext cx="2117" cy="2117"/>
          </a:xfrm>
          <a:prstGeom prst="rect">
            <a:avLst/>
          </a:prstGeom>
        </p:spPr>
      </p:pic>
      <p:sp>
        <p:nvSpPr>
          <p:cNvPr id="2" name="Rectangle 1" hidden="1"/>
          <p:cNvSpPr/>
          <p:nvPr userDrawn="1">
            <p:custDataLst>
              <p:tags r:id="rId1"/>
            </p:custDataLst>
          </p:nvPr>
        </p:nvSpPr>
        <p:spPr bwMode="auto">
          <a:xfrm>
            <a:off x="-17319" y="-140388"/>
            <a:ext cx="246308" cy="492443"/>
          </a:xfrm>
          <a:prstGeom prst="rect">
            <a:avLst/>
          </a:prstGeom>
          <a:noFill/>
          <a:ln w="9525">
            <a:solidFill>
              <a:schemeClr val="tx1"/>
            </a:solidFill>
            <a:round/>
          </a:ln>
        </p:spPr>
        <p:txBody>
          <a:bodyPr wrap="none" lIns="0" tIns="0" rIns="0" bIns="0" rtlCol="0" anchor="ctr">
            <a:noAutofit/>
          </a:bodyPr>
          <a:lstStyle/>
          <a:p>
            <a:pPr marL="0" lvl="0" indent="0" algn="ctr" eaLnBrk="1">
              <a:lnSpc>
                <a:spcPct val="100000"/>
              </a:lnSpc>
              <a:spcBef>
                <a:spcPct val="0"/>
              </a:spcBef>
              <a:spcAft>
                <a:spcPct val="0"/>
              </a:spcAft>
            </a:pPr>
            <a:endParaRPr lang="es-ES_tradnl" sz="2667" b="0" i="0" baseline="0">
              <a:latin typeface="Calibri"/>
              <a:ea typeface="+mj-ea"/>
              <a:cs typeface="+mj-cs"/>
              <a:sym typeface="Calibri"/>
            </a:endParaRPr>
          </a:p>
        </p:txBody>
      </p:sp>
      <p:sp>
        <p:nvSpPr>
          <p:cNvPr id="20" name="Rectangle 19"/>
          <p:cNvSpPr>
            <a:spLocks noChangeArrowheads="1"/>
          </p:cNvSpPr>
          <p:nvPr userDrawn="1"/>
        </p:nvSpPr>
        <p:spPr bwMode="auto">
          <a:xfrm>
            <a:off x="3341077" y="6477000"/>
            <a:ext cx="8850923" cy="381000"/>
          </a:xfrm>
          <a:prstGeom prst="rect">
            <a:avLst/>
          </a:prstGeom>
          <a:solidFill>
            <a:srgbClr val="001A48"/>
          </a:solidFill>
          <a:ln w="9525">
            <a:noFill/>
            <a:miter lim="800000"/>
          </a:ln>
          <a:effectLst/>
        </p:spPr>
        <p:txBody>
          <a:bodyPr wrap="none" lIns="103900" tIns="51951" rIns="103900" bIns="51951" anchor="ctr"/>
          <a:lstStyle/>
          <a:p>
            <a:pPr>
              <a:defRPr/>
            </a:pPr>
            <a:endParaRPr lang="es-ES" sz="2400"/>
          </a:p>
        </p:txBody>
      </p:sp>
      <p:sp>
        <p:nvSpPr>
          <p:cNvPr id="21" name="Rectangle 15"/>
          <p:cNvSpPr>
            <a:spLocks noChangeArrowheads="1"/>
          </p:cNvSpPr>
          <p:nvPr userDrawn="1"/>
        </p:nvSpPr>
        <p:spPr bwMode="auto">
          <a:xfrm>
            <a:off x="7145073" y="6441758"/>
            <a:ext cx="2979616" cy="390525"/>
          </a:xfrm>
          <a:prstGeom prst="rect">
            <a:avLst/>
          </a:prstGeom>
          <a:noFill/>
          <a:ln w="9525">
            <a:noFill/>
            <a:miter lim="800000"/>
          </a:ln>
          <a:effectLst/>
        </p:spPr>
        <p:txBody>
          <a:bodyPr lIns="103900" tIns="51951" rIns="103900" bIns="51951" anchor="b"/>
          <a:lstStyle/>
          <a:p>
            <a:pPr algn="r">
              <a:defRPr/>
            </a:pPr>
            <a:r>
              <a:rPr lang="es-ES_tradnl" sz="1200" b="1">
                <a:solidFill>
                  <a:schemeClr val="bg1"/>
                </a:solidFill>
              </a:rPr>
              <a:t>www.managementsolutions.com </a:t>
            </a:r>
            <a:endParaRPr lang="en-US" sz="1200" b="1">
              <a:solidFill>
                <a:schemeClr val="bg1"/>
              </a:solidFill>
            </a:endParaRPr>
          </a:p>
        </p:txBody>
      </p:sp>
      <p:sp>
        <p:nvSpPr>
          <p:cNvPr id="22" name="Rectangle 3"/>
          <p:cNvSpPr>
            <a:spLocks noChangeArrowheads="1"/>
          </p:cNvSpPr>
          <p:nvPr userDrawn="1"/>
        </p:nvSpPr>
        <p:spPr bwMode="auto">
          <a:xfrm>
            <a:off x="0" y="6477000"/>
            <a:ext cx="3341077" cy="381000"/>
          </a:xfrm>
          <a:prstGeom prst="rect">
            <a:avLst/>
          </a:prstGeom>
          <a:solidFill>
            <a:srgbClr val="997D00"/>
          </a:solidFill>
          <a:ln w="9525">
            <a:noFill/>
            <a:miter lim="800000"/>
          </a:ln>
          <a:effectLst/>
        </p:spPr>
        <p:txBody>
          <a:bodyPr wrap="none" lIns="103900" tIns="51951" rIns="103900" bIns="51951" anchor="ctr"/>
          <a:lstStyle/>
          <a:p>
            <a:pPr algn="ctr">
              <a:defRPr/>
            </a:pPr>
            <a:endParaRPr lang="en-US" sz="1200"/>
          </a:p>
        </p:txBody>
      </p:sp>
      <p:sp>
        <p:nvSpPr>
          <p:cNvPr id="23" name="Rectangle 7"/>
          <p:cNvSpPr>
            <a:spLocks noChangeArrowheads="1"/>
          </p:cNvSpPr>
          <p:nvPr userDrawn="1"/>
        </p:nvSpPr>
        <p:spPr bwMode="gray">
          <a:xfrm>
            <a:off x="9840417" y="6486526"/>
            <a:ext cx="2024895" cy="342900"/>
          </a:xfrm>
          <a:prstGeom prst="rect">
            <a:avLst/>
          </a:prstGeom>
          <a:noFill/>
          <a:ln w="9525">
            <a:noFill/>
            <a:miter lim="800000"/>
          </a:ln>
          <a:effectLst/>
        </p:spPr>
        <p:txBody>
          <a:bodyPr lIns="103900" tIns="51951" rIns="103900" bIns="51951" anchor="b"/>
          <a:lstStyle/>
          <a:p>
            <a:pPr algn="r"/>
            <a:r>
              <a:rPr lang="es-ES" sz="1200">
                <a:solidFill>
                  <a:schemeClr val="bg1"/>
                </a:solidFill>
              </a:rPr>
              <a:t>Noviembre de 2025</a:t>
            </a:r>
            <a:endParaRPr lang="en-US" sz="1200">
              <a:solidFill>
                <a:schemeClr val="bg1"/>
              </a:solidFill>
            </a:endParaRPr>
          </a:p>
        </p:txBody>
      </p:sp>
      <p:sp>
        <p:nvSpPr>
          <p:cNvPr id="25" name="Rectangle 45"/>
          <p:cNvSpPr>
            <a:spLocks noChangeArrowheads="1"/>
          </p:cNvSpPr>
          <p:nvPr userDrawn="1"/>
        </p:nvSpPr>
        <p:spPr bwMode="auto">
          <a:xfrm>
            <a:off x="155321" y="6491288"/>
            <a:ext cx="2633784" cy="366712"/>
          </a:xfrm>
          <a:prstGeom prst="rect">
            <a:avLst/>
          </a:prstGeom>
          <a:noFill/>
          <a:ln w="9525">
            <a:noFill/>
            <a:miter lim="800000"/>
          </a:ln>
          <a:effectLst/>
        </p:spPr>
        <p:txBody>
          <a:bodyPr wrap="none" lIns="409056" tIns="51951" rIns="0" bIns="51951" anchor="ctr"/>
          <a:lstStyle/>
          <a:p>
            <a:pPr marL="0" indent="0" algn="ctr">
              <a:defRPr/>
            </a:pPr>
            <a:r>
              <a:rPr lang="es-ES" sz="1600" b="1">
                <a:solidFill>
                  <a:schemeClr val="bg1"/>
                </a:solidFill>
              </a:rPr>
              <a:t>Entidades Financieras</a:t>
            </a:r>
            <a:endParaRPr lang="en-US" sz="1600" b="1">
              <a:solidFill>
                <a:schemeClr val="bg1"/>
              </a:solidFill>
            </a:endParaRPr>
          </a:p>
        </p:txBody>
      </p:sp>
      <p:sp>
        <p:nvSpPr>
          <p:cNvPr id="26" name="Line 48"/>
          <p:cNvSpPr>
            <a:spLocks noChangeShapeType="1"/>
          </p:cNvSpPr>
          <p:nvPr userDrawn="1"/>
        </p:nvSpPr>
        <p:spPr bwMode="gray">
          <a:xfrm flipH="1">
            <a:off x="10279703" y="6565900"/>
            <a:ext cx="0" cy="228600"/>
          </a:xfrm>
          <a:prstGeom prst="line">
            <a:avLst/>
          </a:prstGeom>
          <a:noFill/>
          <a:ln w="25400">
            <a:solidFill>
              <a:srgbClr val="997D00"/>
            </a:solidFill>
            <a:round/>
          </a:ln>
          <a:effectLst/>
        </p:spPr>
        <p:txBody>
          <a:bodyPr lIns="103900" tIns="51951" rIns="103900" bIns="51951"/>
          <a:lstStyle/>
          <a:p>
            <a:pPr>
              <a:defRPr/>
            </a:pPr>
            <a:endParaRPr lang="es-ES" sz="2400"/>
          </a:p>
        </p:txBody>
      </p:sp>
      <p:sp>
        <p:nvSpPr>
          <p:cNvPr id="6" name="Rectangle 6"/>
          <p:cNvSpPr>
            <a:spLocks noChangeArrowheads="1"/>
          </p:cNvSpPr>
          <p:nvPr userDrawn="1"/>
        </p:nvSpPr>
        <p:spPr bwMode="auto">
          <a:xfrm>
            <a:off x="0" y="1"/>
            <a:ext cx="12192000" cy="647700"/>
          </a:xfrm>
          <a:prstGeom prst="rect">
            <a:avLst/>
          </a:prstGeom>
          <a:solidFill>
            <a:srgbClr val="001A48"/>
          </a:solidFill>
          <a:ln w="9525">
            <a:noFill/>
            <a:miter lim="800000"/>
          </a:ln>
          <a:effectLst/>
        </p:spPr>
        <p:txBody>
          <a:bodyPr wrap="none" lIns="103900" tIns="51951" rIns="103900" bIns="51951" anchor="ctr"/>
          <a:lstStyle/>
          <a:p>
            <a:pPr>
              <a:defRPr/>
            </a:pPr>
            <a:endParaRPr lang="es-ES" sz="2400"/>
          </a:p>
        </p:txBody>
      </p:sp>
      <p:sp>
        <p:nvSpPr>
          <p:cNvPr id="7" name="Line 23"/>
          <p:cNvSpPr>
            <a:spLocks noChangeShapeType="1"/>
          </p:cNvSpPr>
          <p:nvPr userDrawn="1"/>
        </p:nvSpPr>
        <p:spPr bwMode="gray">
          <a:xfrm>
            <a:off x="0" y="657225"/>
            <a:ext cx="12192000" cy="0"/>
          </a:xfrm>
          <a:prstGeom prst="line">
            <a:avLst/>
          </a:prstGeom>
          <a:noFill/>
          <a:ln w="28575">
            <a:solidFill>
              <a:schemeClr val="hlink"/>
            </a:solidFill>
            <a:round/>
          </a:ln>
          <a:effectLst/>
        </p:spPr>
        <p:txBody>
          <a:bodyPr lIns="103900" tIns="51951" rIns="103900" bIns="51951"/>
          <a:lstStyle/>
          <a:p>
            <a:pPr>
              <a:defRPr/>
            </a:pPr>
            <a:endParaRPr lang="es-ES" sz="2400"/>
          </a:p>
        </p:txBody>
      </p:sp>
      <p:sp>
        <p:nvSpPr>
          <p:cNvPr id="30" name="Rectangle 12"/>
          <p:cNvSpPr>
            <a:spLocks noChangeArrowheads="1"/>
          </p:cNvSpPr>
          <p:nvPr userDrawn="1"/>
        </p:nvSpPr>
        <p:spPr bwMode="auto">
          <a:xfrm rot="16200000">
            <a:off x="-2666291" y="3467850"/>
            <a:ext cx="5682325" cy="228027"/>
          </a:xfrm>
          <a:prstGeom prst="rect">
            <a:avLst/>
          </a:prstGeom>
          <a:noFill/>
          <a:ln w="9525">
            <a:noFill/>
            <a:miter lim="800000"/>
          </a:ln>
          <a:effectLst/>
        </p:spPr>
        <p:txBody>
          <a:bodyPr wrap="square" lIns="103900" tIns="51951" rIns="103900" bIns="51951">
            <a:spAutoFit/>
          </a:bodyPr>
          <a:lstStyle/>
          <a:p>
            <a:pPr algn="r">
              <a:defRPr/>
            </a:pPr>
            <a:r>
              <a:rPr lang="es-ES" sz="800">
                <a:solidFill>
                  <a:schemeClr val="bg1"/>
                </a:solidFill>
              </a:rPr>
              <a:t> </a:t>
            </a:r>
            <a:r>
              <a:rPr lang="es-ES_tradnl" sz="800">
                <a:solidFill>
                  <a:schemeClr val="bg1"/>
                </a:solidFill>
              </a:rPr>
              <a:t>©</a:t>
            </a:r>
            <a:r>
              <a:rPr lang="es-ES" sz="800">
                <a:solidFill>
                  <a:schemeClr val="bg1"/>
                </a:solidFill>
              </a:rPr>
              <a:t> Management </a:t>
            </a:r>
            <a:r>
              <a:rPr lang="en-GB" sz="800" noProof="0">
                <a:solidFill>
                  <a:schemeClr val="bg1"/>
                </a:solidFill>
              </a:rPr>
              <a:t>Solutions</a:t>
            </a:r>
            <a:r>
              <a:rPr lang="es-ES" sz="800">
                <a:solidFill>
                  <a:schemeClr val="bg1"/>
                </a:solidFill>
              </a:rPr>
              <a:t> 2025. </a:t>
            </a:r>
            <a:r>
              <a:rPr lang="es-ES_tradnl" sz="800" noProof="0">
                <a:solidFill>
                  <a:schemeClr val="bg1"/>
                </a:solidFill>
              </a:rPr>
              <a:t>Todos los derechos reservados.</a:t>
            </a:r>
            <a:endParaRPr lang="en-GB" sz="800" noProof="0">
              <a:solidFill>
                <a:schemeClr val="bg1"/>
              </a:solidFill>
            </a:endParaRPr>
          </a:p>
        </p:txBody>
      </p:sp>
      <p:sp>
        <p:nvSpPr>
          <p:cNvPr id="31" name="Rectangle 30"/>
          <p:cNvSpPr/>
          <p:nvPr userDrawn="1"/>
        </p:nvSpPr>
        <p:spPr bwMode="auto">
          <a:xfrm>
            <a:off x="5327915" y="4869160"/>
            <a:ext cx="6864085" cy="1274024"/>
          </a:xfrm>
          <a:prstGeom prst="rect">
            <a:avLst/>
          </a:prstGeom>
          <a:solidFill>
            <a:schemeClr val="bg1">
              <a:alpha val="73000"/>
            </a:schemeClr>
          </a:solidFill>
          <a:ln w="12700" algn="ctr">
            <a:noFill/>
            <a:miter lim="800000"/>
            <a:headEnd type="none" w="sm" len="sm"/>
            <a:tailEnd type="none" w="sm" len="sm"/>
          </a:ln>
        </p:spPr>
        <p:txBody>
          <a:bodyPr rot="0" spcFirstLastPara="0" vertOverflow="overflow" horzOverflow="overflow" vert="horz" wrap="none" lIns="103900" tIns="51951" rIns="103900" bIns="51951" numCol="1" spcCol="0" rtlCol="0" fromWordArt="0" anchor="ctr" anchorCtr="0" forceAA="0" compatLnSpc="1">
            <a:prstTxWarp prst="textNoShape">
              <a:avLst/>
            </a:prstTxWarp>
            <a:noAutofit/>
          </a:bodyPr>
          <a:lstStyle/>
          <a:p>
            <a:pPr algn="ctr" eaLnBrk="0" hangingPunct="0"/>
            <a:endParaRPr lang="es-ES" sz="1333"/>
          </a:p>
        </p:txBody>
      </p:sp>
      <p:pic>
        <p:nvPicPr>
          <p:cNvPr id="32" name="Picture 2"/>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10216119" y="898388"/>
            <a:ext cx="1639885" cy="768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927F92A2-407F-914C-F60D-6524481A3CB7}"/>
              </a:ext>
            </a:extLst>
          </p:cNvPr>
          <p:cNvSpPr/>
          <p:nvPr userDrawn="1"/>
        </p:nvSpPr>
        <p:spPr>
          <a:xfrm>
            <a:off x="8145584" y="879430"/>
            <a:ext cx="1827961" cy="82431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sz="2400">
              <a:latin typeface="+mj-lt"/>
            </a:endParaRPr>
          </a:p>
        </p:txBody>
      </p:sp>
      <p:pic>
        <p:nvPicPr>
          <p:cNvPr id="8" name="Picture 396">
            <a:extLst>
              <a:ext uri="{FF2B5EF4-FFF2-40B4-BE49-F238E27FC236}">
                <a16:creationId xmlns:a16="http://schemas.microsoft.com/office/drawing/2014/main" id="{5B00B500-A399-752F-2357-4606205EAA47}"/>
              </a:ext>
            </a:extLst>
          </p:cNvPr>
          <p:cNvPicPr>
            <a:picLocks noChangeAspect="1" noChangeArrowheads="1"/>
          </p:cNvPicPr>
          <p:nvPr userDrawn="1"/>
        </p:nvPicPr>
        <p:blipFill>
          <a:blip r:embed="rId7">
            <a:extLst>
              <a:ext uri="{BEBA8EAE-BF5A-486C-A8C5-ECC9F3942E4B}">
                <a14:imgProps xmlns:a14="http://schemas.microsoft.com/office/drawing/2010/main">
                  <a14:imgLayer r:embed="rId8">
                    <a14:imgEffect>
                      <a14:backgroundRemoval t="10000" b="90000" l="10000" r="90000">
                        <a14:foregroundMark x1="35900" y1="40429" x2="35900" y2="40429"/>
                        <a14:foregroundMark x1="40700" y1="39857" x2="42800" y2="37429"/>
                        <a14:foregroundMark x1="34400" y1="37714" x2="70800" y2="61571"/>
                        <a14:foregroundMark x1="70800" y1="61571" x2="62800" y2="54571"/>
                        <a14:foregroundMark x1="55900" y1="38000" x2="65400" y2="44857"/>
                        <a14:foregroundMark x1="33800" y1="51000" x2="37300" y2="53286"/>
                        <a14:foregroundMark x1="40300" y1="49143" x2="39000" y2="61714"/>
                        <a14:foregroundMark x1="75300" y1="51000" x2="87900" y2="54286"/>
                      </a14:backgroundRemoval>
                    </a14:imgEffect>
                  </a14:imgLayer>
                </a14:imgProps>
              </a:ext>
              <a:ext uri="{28A0092B-C50C-407E-A947-70E740481C1C}">
                <a14:useLocalDpi xmlns:a14="http://schemas.microsoft.com/office/drawing/2010/main" val="0"/>
              </a:ext>
            </a:extLst>
          </a:blip>
          <a:stretch>
            <a:fillRect/>
          </a:stretch>
        </p:blipFill>
        <p:spPr bwMode="auto">
          <a:xfrm>
            <a:off x="8050804" y="595319"/>
            <a:ext cx="2017521" cy="1412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025604"/>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521"/>
        <p:cNvGrpSpPr/>
        <p:nvPr/>
      </p:nvGrpSpPr>
      <p:grpSpPr>
        <a:xfrm>
          <a:off x="0" y="0"/>
          <a:ext cx="0" cy="0"/>
          <a:chOff x="0" y="0"/>
          <a:chExt cx="0" cy="0"/>
        </a:xfrm>
      </p:grpSpPr>
      <p:sp>
        <p:nvSpPr>
          <p:cNvPr id="522" name="Google Shape;522;g648963a9e2_0_1045"/>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ct val="0"/>
              </a:spcBef>
              <a:spcAft>
                <a:spcPct val="0"/>
              </a:spcAft>
              <a:buClr>
                <a:schemeClr val="lt1"/>
              </a:buClr>
              <a:buSzPts val="5200"/>
              <a:buFont typeface="Calibri"/>
              <a:buNone/>
              <a:defRPr sz="6933"/>
            </a:lvl1pPr>
            <a:lvl2pPr lvl="1" algn="ctr" rtl="0">
              <a:lnSpc>
                <a:spcPct val="100000"/>
              </a:lnSpc>
              <a:spcBef>
                <a:spcPct val="0"/>
              </a:spcBef>
              <a:spcAft>
                <a:spcPct val="0"/>
              </a:spcAft>
              <a:buClr>
                <a:schemeClr val="lt1"/>
              </a:buClr>
              <a:buSzPts val="5200"/>
              <a:buFont typeface="Arial"/>
              <a:buNone/>
              <a:defRPr sz="6933"/>
            </a:lvl2pPr>
            <a:lvl3pPr lvl="2" algn="ctr" rtl="0">
              <a:lnSpc>
                <a:spcPct val="100000"/>
              </a:lnSpc>
              <a:spcBef>
                <a:spcPct val="0"/>
              </a:spcBef>
              <a:spcAft>
                <a:spcPct val="0"/>
              </a:spcAft>
              <a:buClr>
                <a:schemeClr val="lt1"/>
              </a:buClr>
              <a:buSzPts val="5200"/>
              <a:buFont typeface="Arial"/>
              <a:buNone/>
              <a:defRPr sz="6933"/>
            </a:lvl3pPr>
            <a:lvl4pPr lvl="3" algn="ctr" rtl="0">
              <a:lnSpc>
                <a:spcPct val="100000"/>
              </a:lnSpc>
              <a:spcBef>
                <a:spcPct val="0"/>
              </a:spcBef>
              <a:spcAft>
                <a:spcPct val="0"/>
              </a:spcAft>
              <a:buClr>
                <a:schemeClr val="lt1"/>
              </a:buClr>
              <a:buSzPts val="5200"/>
              <a:buFont typeface="Arial"/>
              <a:buNone/>
              <a:defRPr sz="6933"/>
            </a:lvl4pPr>
            <a:lvl5pPr lvl="4" algn="ctr" rtl="0">
              <a:lnSpc>
                <a:spcPct val="100000"/>
              </a:lnSpc>
              <a:spcBef>
                <a:spcPct val="0"/>
              </a:spcBef>
              <a:spcAft>
                <a:spcPct val="0"/>
              </a:spcAft>
              <a:buClr>
                <a:schemeClr val="lt1"/>
              </a:buClr>
              <a:buSzPts val="5200"/>
              <a:buFont typeface="Arial"/>
              <a:buNone/>
              <a:defRPr sz="6933"/>
            </a:lvl5pPr>
            <a:lvl6pPr lvl="5" algn="ctr" rtl="0">
              <a:lnSpc>
                <a:spcPct val="100000"/>
              </a:lnSpc>
              <a:spcBef>
                <a:spcPct val="0"/>
              </a:spcBef>
              <a:spcAft>
                <a:spcPct val="0"/>
              </a:spcAft>
              <a:buClr>
                <a:schemeClr val="lt1"/>
              </a:buClr>
              <a:buSzPts val="5200"/>
              <a:buFont typeface="Arial"/>
              <a:buNone/>
              <a:defRPr sz="6933"/>
            </a:lvl6pPr>
            <a:lvl7pPr lvl="6" algn="ctr" rtl="0">
              <a:lnSpc>
                <a:spcPct val="100000"/>
              </a:lnSpc>
              <a:spcBef>
                <a:spcPct val="0"/>
              </a:spcBef>
              <a:spcAft>
                <a:spcPct val="0"/>
              </a:spcAft>
              <a:buClr>
                <a:schemeClr val="lt1"/>
              </a:buClr>
              <a:buSzPts val="5200"/>
              <a:buFont typeface="Arial"/>
              <a:buNone/>
              <a:defRPr sz="6933"/>
            </a:lvl7pPr>
            <a:lvl8pPr lvl="7" algn="ctr" rtl="0">
              <a:lnSpc>
                <a:spcPct val="100000"/>
              </a:lnSpc>
              <a:spcBef>
                <a:spcPct val="0"/>
              </a:spcBef>
              <a:spcAft>
                <a:spcPct val="0"/>
              </a:spcAft>
              <a:buClr>
                <a:schemeClr val="lt1"/>
              </a:buClr>
              <a:buSzPts val="5200"/>
              <a:buFont typeface="Arial"/>
              <a:buNone/>
              <a:defRPr sz="6933"/>
            </a:lvl8pPr>
            <a:lvl9pPr lvl="8" algn="ctr" rtl="0">
              <a:lnSpc>
                <a:spcPct val="100000"/>
              </a:lnSpc>
              <a:spcBef>
                <a:spcPct val="0"/>
              </a:spcBef>
              <a:spcAft>
                <a:spcPct val="0"/>
              </a:spcAft>
              <a:buClr>
                <a:schemeClr val="lt1"/>
              </a:buClr>
              <a:buSzPts val="5200"/>
              <a:buFont typeface="Arial"/>
              <a:buNone/>
              <a:defRPr sz="6933"/>
            </a:lvl9pPr>
          </a:lstStyle>
          <a:p>
            <a:endParaRPr/>
          </a:p>
        </p:txBody>
      </p:sp>
      <p:sp>
        <p:nvSpPr>
          <p:cNvPr id="523" name="Google Shape;523;g648963a9e2_0_1045"/>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ct val="0"/>
              </a:spcBef>
              <a:spcAft>
                <a:spcPct val="0"/>
              </a:spcAft>
              <a:buClr>
                <a:schemeClr val="dk1"/>
              </a:buClr>
              <a:buSzPts val="2800"/>
              <a:buFont typeface="Calibri"/>
              <a:buNone/>
              <a:defRPr sz="3733"/>
            </a:lvl1pPr>
            <a:lvl2pPr lvl="1" algn="ctr" rtl="0">
              <a:lnSpc>
                <a:spcPct val="100000"/>
              </a:lnSpc>
              <a:spcBef>
                <a:spcPct val="0"/>
              </a:spcBef>
              <a:spcAft>
                <a:spcPct val="0"/>
              </a:spcAft>
              <a:buSzPts val="2800"/>
              <a:buNone/>
              <a:defRPr sz="3733"/>
            </a:lvl2pPr>
            <a:lvl3pPr lvl="2" algn="ctr" rtl="0">
              <a:lnSpc>
                <a:spcPct val="100000"/>
              </a:lnSpc>
              <a:spcBef>
                <a:spcPct val="0"/>
              </a:spcBef>
              <a:spcAft>
                <a:spcPct val="0"/>
              </a:spcAft>
              <a:buSzPts val="2800"/>
              <a:buNone/>
              <a:defRPr sz="3733"/>
            </a:lvl3pPr>
            <a:lvl4pPr lvl="3" algn="ctr" rtl="0">
              <a:lnSpc>
                <a:spcPct val="100000"/>
              </a:lnSpc>
              <a:spcBef>
                <a:spcPct val="0"/>
              </a:spcBef>
              <a:spcAft>
                <a:spcPct val="0"/>
              </a:spcAft>
              <a:buSzPts val="2800"/>
              <a:buNone/>
              <a:defRPr sz="3733"/>
            </a:lvl4pPr>
            <a:lvl5pPr lvl="4" algn="ctr" rtl="0">
              <a:lnSpc>
                <a:spcPct val="100000"/>
              </a:lnSpc>
              <a:spcBef>
                <a:spcPct val="0"/>
              </a:spcBef>
              <a:spcAft>
                <a:spcPct val="0"/>
              </a:spcAft>
              <a:buSzPts val="2800"/>
              <a:buNone/>
              <a:defRPr sz="3733"/>
            </a:lvl5pPr>
            <a:lvl6pPr lvl="5" algn="ctr" rtl="0">
              <a:lnSpc>
                <a:spcPct val="100000"/>
              </a:lnSpc>
              <a:spcBef>
                <a:spcPct val="0"/>
              </a:spcBef>
              <a:spcAft>
                <a:spcPct val="0"/>
              </a:spcAft>
              <a:buSzPts val="2800"/>
              <a:buNone/>
              <a:defRPr sz="3733"/>
            </a:lvl6pPr>
            <a:lvl7pPr lvl="6" algn="ctr" rtl="0">
              <a:lnSpc>
                <a:spcPct val="100000"/>
              </a:lnSpc>
              <a:spcBef>
                <a:spcPct val="0"/>
              </a:spcBef>
              <a:spcAft>
                <a:spcPct val="0"/>
              </a:spcAft>
              <a:buSzPts val="2800"/>
              <a:buNone/>
              <a:defRPr sz="3733"/>
            </a:lvl7pPr>
            <a:lvl8pPr lvl="7" algn="ctr" rtl="0">
              <a:lnSpc>
                <a:spcPct val="100000"/>
              </a:lnSpc>
              <a:spcBef>
                <a:spcPct val="0"/>
              </a:spcBef>
              <a:spcAft>
                <a:spcPct val="0"/>
              </a:spcAft>
              <a:buSzPts val="2800"/>
              <a:buNone/>
              <a:defRPr sz="3733"/>
            </a:lvl8pPr>
            <a:lvl9pPr lvl="8" algn="ctr" rtl="0">
              <a:lnSpc>
                <a:spcPct val="100000"/>
              </a:lnSpc>
              <a:spcBef>
                <a:spcPct val="0"/>
              </a:spcBef>
              <a:spcAft>
                <a:spcPct val="0"/>
              </a:spcAft>
              <a:buSzPts val="2800"/>
              <a:buNone/>
              <a:defRPr sz="3733"/>
            </a:lvl9pPr>
          </a:lstStyle>
          <a:p>
            <a:endParaRPr/>
          </a:p>
        </p:txBody>
      </p:sp>
      <p:sp>
        <p:nvSpPr>
          <p:cNvPr id="524" name="Google Shape;524;g648963a9e2_0_104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ct val="0"/>
              </a:spcBef>
              <a:spcAft>
                <a:spcPct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US" smtClean="0"/>
              <a:t>‹Nº›</a:t>
            </a:fld>
            <a:endParaRPr lang="en-US"/>
          </a:p>
        </p:txBody>
      </p:sp>
    </p:spTree>
    <p:extLst>
      <p:ext uri="{BB962C8B-B14F-4D97-AF65-F5344CB8AC3E}">
        <p14:creationId xmlns:p14="http://schemas.microsoft.com/office/powerpoint/2010/main" val="44375278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2.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slideLayout" Target="../slideLayouts/slideLayout30.xml"/><Relationship Id="rId7" Type="http://schemas.openxmlformats.org/officeDocument/2006/relationships/tags" Target="../tags/tag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9"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folHlink"/>
        </a:solidFill>
        <a:effectLst/>
      </p:bgPr>
    </p:bg>
    <p:spTree>
      <p:nvGrpSpPr>
        <p:cNvPr id="1" name=""/>
        <p:cNvGrpSpPr/>
        <p:nvPr/>
      </p:nvGrpSpPr>
      <p:grpSpPr>
        <a:xfrm>
          <a:off x="0" y="0"/>
          <a:ext cx="0" cy="0"/>
          <a:chOff x="0" y="0"/>
          <a:chExt cx="0" cy="0"/>
        </a:xfrm>
      </p:grpSpPr>
      <p:sp>
        <p:nvSpPr>
          <p:cNvPr id="1026" name="Rectangle 36"/>
          <p:cNvSpPr>
            <a:spLocks noChangeArrowheads="1"/>
          </p:cNvSpPr>
          <p:nvPr/>
        </p:nvSpPr>
        <p:spPr bwMode="white">
          <a:xfrm>
            <a:off x="0" y="0"/>
            <a:ext cx="12192000" cy="685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1027" name="Rectangle 41"/>
          <p:cNvSpPr>
            <a:spLocks noGrp="1" noChangeArrowheads="1"/>
          </p:cNvSpPr>
          <p:nvPr>
            <p:ph type="body" idx="1"/>
          </p:nvPr>
        </p:nvSpPr>
        <p:spPr bwMode="auto">
          <a:xfrm>
            <a:off x="1307124" y="1303338"/>
            <a:ext cx="10287001"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sp>
        <p:nvSpPr>
          <p:cNvPr id="1028" name="Rectangle 42"/>
          <p:cNvSpPr>
            <a:spLocks noChangeArrowheads="1"/>
          </p:cNvSpPr>
          <p:nvPr/>
        </p:nvSpPr>
        <p:spPr bwMode="gray">
          <a:xfrm>
            <a:off x="5341818" y="6681791"/>
            <a:ext cx="2924908"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sz="1000">
                <a:solidFill>
                  <a:schemeClr val="tx1"/>
                </a:solidFill>
                <a:latin typeface="Arial"/>
              </a:defRPr>
            </a:lvl1pPr>
            <a:lvl2pPr marL="742950" indent="-285750" eaLnBrk="0" hangingPunct="0">
              <a:defRPr sz="1000">
                <a:solidFill>
                  <a:schemeClr val="tx1"/>
                </a:solidFill>
                <a:latin typeface="Arial"/>
              </a:defRPr>
            </a:lvl2pPr>
            <a:lvl3pPr marL="1143000" indent="-228600" eaLnBrk="0" hangingPunct="0">
              <a:defRPr sz="1000">
                <a:solidFill>
                  <a:schemeClr val="tx1"/>
                </a:solidFill>
                <a:latin typeface="Arial"/>
              </a:defRPr>
            </a:lvl3pPr>
            <a:lvl4pPr marL="1600200" indent="-228600" eaLnBrk="0" hangingPunct="0">
              <a:defRPr sz="1000">
                <a:solidFill>
                  <a:schemeClr val="tx1"/>
                </a:solidFill>
                <a:latin typeface="Arial"/>
              </a:defRPr>
            </a:lvl4pPr>
            <a:lvl5pPr marL="2057400" indent="-228600" eaLnBrk="0" hangingPunct="0">
              <a:defRPr sz="1000">
                <a:solidFill>
                  <a:schemeClr val="tx1"/>
                </a:solidFill>
                <a:latin typeface="Arial"/>
              </a:defRPr>
            </a:lvl5pPr>
            <a:lvl6pPr marL="2514600" indent="-228600" eaLnBrk="0" fontAlgn="base" hangingPunct="0">
              <a:spcBef>
                <a:spcPct val="0"/>
              </a:spcBef>
              <a:spcAft>
                <a:spcPct val="0"/>
              </a:spcAft>
              <a:defRPr sz="1000">
                <a:solidFill>
                  <a:schemeClr val="tx1"/>
                </a:solidFill>
                <a:latin typeface="Arial"/>
              </a:defRPr>
            </a:lvl6pPr>
            <a:lvl7pPr marL="2971800" indent="-228600" eaLnBrk="0" fontAlgn="base" hangingPunct="0">
              <a:spcBef>
                <a:spcPct val="0"/>
              </a:spcBef>
              <a:spcAft>
                <a:spcPct val="0"/>
              </a:spcAft>
              <a:defRPr sz="1000">
                <a:solidFill>
                  <a:schemeClr val="tx1"/>
                </a:solidFill>
                <a:latin typeface="Arial"/>
              </a:defRPr>
            </a:lvl7pPr>
            <a:lvl8pPr marL="3429000" indent="-228600" eaLnBrk="0" fontAlgn="base" hangingPunct="0">
              <a:spcBef>
                <a:spcPct val="0"/>
              </a:spcBef>
              <a:spcAft>
                <a:spcPct val="0"/>
              </a:spcAft>
              <a:defRPr sz="1000">
                <a:solidFill>
                  <a:schemeClr val="tx1"/>
                </a:solidFill>
                <a:latin typeface="Arial"/>
              </a:defRPr>
            </a:lvl8pPr>
            <a:lvl9pPr marL="3886200" indent="-228600" eaLnBrk="0" fontAlgn="base" hangingPunct="0">
              <a:spcBef>
                <a:spcPct val="0"/>
              </a:spcBef>
              <a:spcAft>
                <a:spcPct val="0"/>
              </a:spcAft>
              <a:defRPr sz="1000">
                <a:solidFill>
                  <a:schemeClr val="tx1"/>
                </a:solidFill>
                <a:latin typeface="Arial"/>
              </a:defRPr>
            </a:lvl9pPr>
          </a:lstStyle>
          <a:p>
            <a:pPr eaLnBrk="1" hangingPunct="1">
              <a:defRPr/>
            </a:pPr>
            <a:r>
              <a:rPr lang="es-ES" altLang="es-ES" sz="600">
                <a:solidFill>
                  <a:schemeClr val="bg1"/>
                </a:solidFill>
                <a:cs typeface="+mn-cs"/>
              </a:rPr>
              <a:t> </a:t>
            </a:r>
            <a:r>
              <a:rPr lang="es-ES_tradnl" altLang="es-ES" sz="600">
                <a:solidFill>
                  <a:schemeClr val="bg1"/>
                </a:solidFill>
                <a:cs typeface="+mn-cs"/>
              </a:rPr>
              <a:t>©</a:t>
            </a:r>
            <a:r>
              <a:rPr lang="es-ES" altLang="es-ES" sz="600">
                <a:solidFill>
                  <a:schemeClr val="bg1"/>
                </a:solidFill>
                <a:cs typeface="+mn-cs"/>
              </a:rPr>
              <a:t>  Management Solutions  2008. Todos los derechos reservados </a:t>
            </a:r>
          </a:p>
        </p:txBody>
      </p:sp>
      <p:sp>
        <p:nvSpPr>
          <p:cNvPr id="1029" name="Rectangle 40"/>
          <p:cNvSpPr>
            <a:spLocks noGrp="1" noChangeArrowheads="1"/>
          </p:cNvSpPr>
          <p:nvPr>
            <p:ph type="title"/>
          </p:nvPr>
        </p:nvSpPr>
        <p:spPr bwMode="gray">
          <a:xfrm>
            <a:off x="1283682" y="361950"/>
            <a:ext cx="9888415"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s-ES"/>
              <a:t>Click to edit Master title style</a:t>
            </a:r>
          </a:p>
        </p:txBody>
      </p:sp>
      <p:grpSp>
        <p:nvGrpSpPr>
          <p:cNvPr id="1030" name="Group 54"/>
          <p:cNvGrpSpPr/>
          <p:nvPr/>
        </p:nvGrpSpPr>
        <p:grpSpPr>
          <a:xfrm>
            <a:off x="0" y="5"/>
            <a:ext cx="12192000" cy="327025"/>
            <a:chOff x="0" y="0"/>
            <a:chExt cx="6240" cy="206"/>
          </a:xfrm>
        </p:grpSpPr>
        <p:sp>
          <p:nvSpPr>
            <p:cNvPr id="1034" name="Rectangle 55"/>
            <p:cNvSpPr>
              <a:spLocks noChangeArrowheads="1"/>
            </p:cNvSpPr>
            <p:nvPr userDrawn="1"/>
          </p:nvSpPr>
          <p:spPr bwMode="auto">
            <a:xfrm flipV="1">
              <a:off x="0" y="0"/>
              <a:ext cx="6240" cy="18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n-US" altLang="es-ES" sz="2000">
                <a:solidFill>
                  <a:schemeClr val="bg1"/>
                </a:solidFill>
              </a:endParaRPr>
            </a:p>
          </p:txBody>
        </p:sp>
        <p:sp>
          <p:nvSpPr>
            <p:cNvPr id="1035" name="Line 56"/>
            <p:cNvSpPr>
              <a:spLocks noChangeShapeType="1"/>
            </p:cNvSpPr>
            <p:nvPr userDrawn="1"/>
          </p:nvSpPr>
          <p:spPr bwMode="gray">
            <a:xfrm>
              <a:off x="0" y="206"/>
              <a:ext cx="62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800"/>
            </a:p>
          </p:txBody>
        </p:sp>
      </p:grpSp>
      <p:pic>
        <p:nvPicPr>
          <p:cNvPr id="1031" name="Picture 59"/>
          <p:cNvPicPr>
            <a:picLocks noChangeAspect="1" noChangeArrowheads="1"/>
          </p:cNvPicPr>
          <p:nvPr/>
        </p:nvPicPr>
        <p:blipFill>
          <a:blip r:embed="rId17">
            <a:extLst>
              <a:ext uri="{28A0092B-C50C-407E-A947-70E740481C1C}">
                <a14:useLocalDpi xmlns:a14="http://schemas.microsoft.com/office/drawing/2010/main" val="0"/>
              </a:ext>
            </a:extLst>
          </a:blip>
          <a:stretch>
            <a:fillRect/>
          </a:stretch>
        </p:blipFill>
        <p:spPr bwMode="auto">
          <a:xfrm>
            <a:off x="91834" y="6570668"/>
            <a:ext cx="2211754"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2" name="Rectangle 61"/>
          <p:cNvSpPr>
            <a:spLocks noChangeArrowheads="1"/>
          </p:cNvSpPr>
          <p:nvPr/>
        </p:nvSpPr>
        <p:spPr bwMode="auto">
          <a:xfrm>
            <a:off x="8313617" y="6656388"/>
            <a:ext cx="371426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r" eaLnBrk="1" hangingPunct="1"/>
            <a:r>
              <a:rPr lang="es-ES" altLang="es-ES" sz="600">
                <a:solidFill>
                  <a:srgbClr val="997D00"/>
                </a:solidFill>
              </a:rPr>
              <a:t>|  </a:t>
            </a:r>
            <a:r>
              <a:rPr lang="es-ES" altLang="es-ES" sz="800">
                <a:solidFill>
                  <a:srgbClr val="997D00"/>
                </a:solidFill>
              </a:rPr>
              <a:t>Página </a:t>
            </a:r>
            <a:fld id="{714C7DFB-E309-44C9-9AF5-33BA1CA47A31}" type="slidenum">
              <a:rPr lang="es-ES" altLang="es-ES" sz="800">
                <a:solidFill>
                  <a:srgbClr val="997D00"/>
                </a:solidFill>
              </a:rPr>
              <a:pPr algn="r" eaLnBrk="1" hangingPunct="1"/>
              <a:t>‹Nº›</a:t>
            </a:fld>
            <a:endParaRPr lang="en-US" altLang="es-ES" sz="800">
              <a:solidFill>
                <a:srgbClr val="997D00"/>
              </a:solidFill>
            </a:endParaRPr>
          </a:p>
          <a:p>
            <a:pPr algn="r" eaLnBrk="1" hangingPunct="1"/>
            <a:endParaRPr lang="es-ES" altLang="es-ES" sz="600">
              <a:solidFill>
                <a:schemeClr val="hlink"/>
              </a:solidFill>
            </a:endParaRPr>
          </a:p>
        </p:txBody>
      </p:sp>
      <p:pic>
        <p:nvPicPr>
          <p:cNvPr id="12" name="Picture 2"/>
          <p:cNvPicPr>
            <a:picLocks noChangeAspect="1" noChangeArrowheads="1"/>
          </p:cNvPicPr>
          <p:nvPr/>
        </p:nvPicPr>
        <p:blipFill>
          <a:blip r:embed="rId18">
            <a:extLst>
              <a:ext uri="{28A0092B-C50C-407E-A947-70E740481C1C}">
                <a14:useLocalDpi xmlns:a14="http://schemas.microsoft.com/office/drawing/2010/main" val="0"/>
              </a:ext>
            </a:extLst>
          </a:blip>
          <a:stretch>
            <a:fillRect/>
          </a:stretch>
        </p:blipFill>
        <p:spPr bwMode="auto">
          <a:xfrm>
            <a:off x="2547266" y="6557416"/>
            <a:ext cx="1299022" cy="228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477968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61" r:id="rId13"/>
    <p:sldLayoutId id="2147483662" r:id="rId14"/>
    <p:sldLayoutId id="2147483663" r:id="rId15"/>
  </p:sldLayoutIdLst>
  <p:transition/>
  <p:txStyles>
    <p:titleStyle>
      <a:lvl1pPr algn="l" rtl="0" eaLnBrk="1" fontAlgn="base" hangingPunct="1">
        <a:spcBef>
          <a:spcPct val="0"/>
        </a:spcBef>
        <a:spcAft>
          <a:spcPct val="0"/>
        </a:spcAft>
        <a:defRPr sz="2200">
          <a:solidFill>
            <a:srgbClr val="001A48"/>
          </a:solidFill>
          <a:latin typeface="+mj-lt"/>
          <a:ea typeface="+mj-ea"/>
          <a:cs typeface="+mj-cs"/>
        </a:defRPr>
      </a:lvl1pPr>
      <a:lvl2pPr algn="l" rtl="0" eaLnBrk="1" fontAlgn="base" hangingPunct="1">
        <a:spcBef>
          <a:spcPct val="0"/>
        </a:spcBef>
        <a:spcAft>
          <a:spcPct val="0"/>
        </a:spcAft>
        <a:defRPr sz="2200">
          <a:solidFill>
            <a:srgbClr val="001A48"/>
          </a:solidFill>
          <a:latin typeface="Arial" pitchFamily="34" charset="0"/>
        </a:defRPr>
      </a:lvl2pPr>
      <a:lvl3pPr algn="l" rtl="0" eaLnBrk="1" fontAlgn="base" hangingPunct="1">
        <a:spcBef>
          <a:spcPct val="0"/>
        </a:spcBef>
        <a:spcAft>
          <a:spcPct val="0"/>
        </a:spcAft>
        <a:defRPr sz="2200">
          <a:solidFill>
            <a:srgbClr val="001A48"/>
          </a:solidFill>
          <a:latin typeface="Arial" pitchFamily="34" charset="0"/>
        </a:defRPr>
      </a:lvl3pPr>
      <a:lvl4pPr algn="l" rtl="0" eaLnBrk="1" fontAlgn="base" hangingPunct="1">
        <a:spcBef>
          <a:spcPct val="0"/>
        </a:spcBef>
        <a:spcAft>
          <a:spcPct val="0"/>
        </a:spcAft>
        <a:defRPr sz="2200">
          <a:solidFill>
            <a:srgbClr val="001A48"/>
          </a:solidFill>
          <a:latin typeface="Arial" pitchFamily="34" charset="0"/>
        </a:defRPr>
      </a:lvl4pPr>
      <a:lvl5pPr algn="l" rtl="0" eaLnBrk="1" fontAlgn="base" hangingPunct="1">
        <a:spcBef>
          <a:spcPct val="0"/>
        </a:spcBef>
        <a:spcAft>
          <a:spcPct val="0"/>
        </a:spcAft>
        <a:defRPr sz="2200">
          <a:solidFill>
            <a:srgbClr val="001A48"/>
          </a:solidFill>
          <a:latin typeface="Arial" pitchFamily="34" charset="0"/>
        </a:defRPr>
      </a:lvl5pPr>
      <a:lvl6pPr marL="457200" algn="l" rtl="0" eaLnBrk="1" fontAlgn="base" hangingPunct="1">
        <a:spcBef>
          <a:spcPct val="0"/>
        </a:spcBef>
        <a:spcAft>
          <a:spcPct val="0"/>
        </a:spcAft>
        <a:defRPr sz="2200">
          <a:solidFill>
            <a:srgbClr val="001A48"/>
          </a:solidFill>
          <a:latin typeface="Arial" pitchFamily="34" charset="0"/>
        </a:defRPr>
      </a:lvl6pPr>
      <a:lvl7pPr marL="914400" algn="l" rtl="0" eaLnBrk="1" fontAlgn="base" hangingPunct="1">
        <a:spcBef>
          <a:spcPct val="0"/>
        </a:spcBef>
        <a:spcAft>
          <a:spcPct val="0"/>
        </a:spcAft>
        <a:defRPr sz="2200">
          <a:solidFill>
            <a:srgbClr val="001A48"/>
          </a:solidFill>
          <a:latin typeface="Arial" pitchFamily="34" charset="0"/>
        </a:defRPr>
      </a:lvl7pPr>
      <a:lvl8pPr marL="1371600" algn="l" rtl="0" eaLnBrk="1" fontAlgn="base" hangingPunct="1">
        <a:spcBef>
          <a:spcPct val="0"/>
        </a:spcBef>
        <a:spcAft>
          <a:spcPct val="0"/>
        </a:spcAft>
        <a:defRPr sz="2200">
          <a:solidFill>
            <a:srgbClr val="001A48"/>
          </a:solidFill>
          <a:latin typeface="Arial" pitchFamily="34" charset="0"/>
        </a:defRPr>
      </a:lvl8pPr>
      <a:lvl9pPr marL="1828800" algn="l" rtl="0" eaLnBrk="1" fontAlgn="base" hangingPunct="1">
        <a:spcBef>
          <a:spcPct val="0"/>
        </a:spcBef>
        <a:spcAft>
          <a:spcPct val="0"/>
        </a:spcAft>
        <a:defRPr sz="2200">
          <a:solidFill>
            <a:srgbClr val="001A48"/>
          </a:solidFill>
          <a:latin typeface="Arial" pitchFamily="34" charset="0"/>
        </a:defRPr>
      </a:lvl9pPr>
    </p:titleStyle>
    <p:bodyStyle>
      <a:lvl1pPr algn="l" rtl="0" eaLnBrk="1" fontAlgn="base" hangingPunct="1">
        <a:lnSpc>
          <a:spcPct val="102000"/>
        </a:lnSpc>
        <a:spcBef>
          <a:spcPct val="50000"/>
        </a:spcBef>
        <a:spcAft>
          <a:spcPct val="0"/>
        </a:spcAft>
        <a:buClr>
          <a:srgbClr val="997D00"/>
        </a:buClr>
        <a:defRPr sz="1600">
          <a:solidFill>
            <a:schemeClr val="tx1"/>
          </a:solidFill>
          <a:latin typeface="+mn-lt"/>
          <a:ea typeface="+mn-ea"/>
          <a:cs typeface="+mn-cs"/>
        </a:defRPr>
      </a:lvl1pPr>
      <a:lvl2pPr marL="381000" indent="-190500" algn="l" rtl="0" eaLnBrk="1" fontAlgn="base" hangingPunct="1">
        <a:lnSpc>
          <a:spcPct val="102000"/>
        </a:lnSpc>
        <a:spcBef>
          <a:spcPct val="50000"/>
        </a:spcBef>
        <a:spcAft>
          <a:spcPct val="0"/>
        </a:spcAft>
        <a:buClr>
          <a:srgbClr val="997D00"/>
        </a:buClr>
        <a:buFont typeface="Webdings" pitchFamily="18" charset="2"/>
        <a:buChar char="4"/>
        <a:defRPr sz="1600">
          <a:solidFill>
            <a:schemeClr val="tx1"/>
          </a:solidFill>
          <a:latin typeface="+mn-lt"/>
        </a:defRPr>
      </a:lvl2pPr>
      <a:lvl3pPr marL="660400" indent="-88900" algn="l" rtl="0" eaLnBrk="1" fontAlgn="base" hangingPunct="1">
        <a:lnSpc>
          <a:spcPct val="102000"/>
        </a:lnSpc>
        <a:spcBef>
          <a:spcPct val="50000"/>
        </a:spcBef>
        <a:spcAft>
          <a:spcPct val="0"/>
        </a:spcAft>
        <a:buClr>
          <a:srgbClr val="997D00"/>
        </a:buClr>
        <a:buFont typeface="Arial"/>
        <a:buChar char="-"/>
        <a:defRPr sz="1600">
          <a:solidFill>
            <a:schemeClr val="tx1"/>
          </a:solidFill>
          <a:latin typeface="+mn-lt"/>
        </a:defRPr>
      </a:lvl3pPr>
      <a:lvl4pPr marL="996950" indent="-146050" algn="l" rtl="0" eaLnBrk="1" fontAlgn="base" hangingPunct="1">
        <a:lnSpc>
          <a:spcPct val="102000"/>
        </a:lnSpc>
        <a:spcBef>
          <a:spcPct val="50000"/>
        </a:spcBef>
        <a:spcAft>
          <a:spcPct val="0"/>
        </a:spcAft>
        <a:buClr>
          <a:srgbClr val="997D00"/>
        </a:buClr>
        <a:buFont typeface="Arial"/>
        <a:buChar char="-"/>
        <a:defRPr sz="1600">
          <a:solidFill>
            <a:schemeClr val="tx1"/>
          </a:solidFill>
          <a:latin typeface="+mn-lt"/>
        </a:defRPr>
      </a:lvl4pPr>
      <a:lvl5pPr marL="1377950" indent="-190500" algn="l" rtl="0" eaLnBrk="1" fontAlgn="base" hangingPunct="1">
        <a:lnSpc>
          <a:spcPct val="102000"/>
        </a:lnSpc>
        <a:spcBef>
          <a:spcPct val="50000"/>
        </a:spcBef>
        <a:spcAft>
          <a:spcPct val="0"/>
        </a:spcAft>
        <a:buClr>
          <a:srgbClr val="997D00"/>
        </a:buClr>
        <a:buFont typeface="Arial"/>
        <a:buChar char="-"/>
        <a:defRPr sz="1600">
          <a:solidFill>
            <a:schemeClr val="tx1"/>
          </a:solidFill>
          <a:latin typeface="+mn-lt"/>
        </a:defRPr>
      </a:lvl5pPr>
      <a:lvl6pPr marL="18351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6pPr>
      <a:lvl7pPr marL="22923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7pPr>
      <a:lvl8pPr marL="27495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8pPr>
      <a:lvl9pPr marL="32067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26" name="Rectangle 36"/>
          <p:cNvSpPr>
            <a:spLocks noChangeArrowheads="1"/>
          </p:cNvSpPr>
          <p:nvPr/>
        </p:nvSpPr>
        <p:spPr bwMode="white">
          <a:xfrm>
            <a:off x="0" y="0"/>
            <a:ext cx="12192000" cy="685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eaLnBrk="1" hangingPunct="1"/>
            <a:endParaRPr lang="es-ES" altLang="es-ES" sz="1000"/>
          </a:p>
        </p:txBody>
      </p:sp>
      <p:sp>
        <p:nvSpPr>
          <p:cNvPr id="1027" name="Rectangle 41"/>
          <p:cNvSpPr>
            <a:spLocks noGrp="1" noChangeArrowheads="1"/>
          </p:cNvSpPr>
          <p:nvPr>
            <p:ph type="body" idx="1"/>
          </p:nvPr>
        </p:nvSpPr>
        <p:spPr bwMode="auto">
          <a:xfrm>
            <a:off x="1307124" y="1303338"/>
            <a:ext cx="10287001"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sp>
        <p:nvSpPr>
          <p:cNvPr id="1028" name="Rectangle 42"/>
          <p:cNvSpPr>
            <a:spLocks noChangeArrowheads="1"/>
          </p:cNvSpPr>
          <p:nvPr/>
        </p:nvSpPr>
        <p:spPr bwMode="gray">
          <a:xfrm>
            <a:off x="5341818" y="6681791"/>
            <a:ext cx="2924908"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sz="1000">
                <a:solidFill>
                  <a:schemeClr val="tx1"/>
                </a:solidFill>
                <a:latin typeface="Arial"/>
              </a:defRPr>
            </a:lvl1pPr>
            <a:lvl2pPr marL="742950" indent="-285750" eaLnBrk="0" hangingPunct="0">
              <a:defRPr sz="1000">
                <a:solidFill>
                  <a:schemeClr val="tx1"/>
                </a:solidFill>
                <a:latin typeface="Arial"/>
              </a:defRPr>
            </a:lvl2pPr>
            <a:lvl3pPr marL="1143000" indent="-228600" eaLnBrk="0" hangingPunct="0">
              <a:defRPr sz="1000">
                <a:solidFill>
                  <a:schemeClr val="tx1"/>
                </a:solidFill>
                <a:latin typeface="Arial"/>
              </a:defRPr>
            </a:lvl3pPr>
            <a:lvl4pPr marL="1600200" indent="-228600" eaLnBrk="0" hangingPunct="0">
              <a:defRPr sz="1000">
                <a:solidFill>
                  <a:schemeClr val="tx1"/>
                </a:solidFill>
                <a:latin typeface="Arial"/>
              </a:defRPr>
            </a:lvl4pPr>
            <a:lvl5pPr marL="2057400" indent="-228600" eaLnBrk="0" hangingPunct="0">
              <a:defRPr sz="1000">
                <a:solidFill>
                  <a:schemeClr val="tx1"/>
                </a:solidFill>
                <a:latin typeface="Arial"/>
              </a:defRPr>
            </a:lvl5pPr>
            <a:lvl6pPr marL="2514600" indent="-228600" eaLnBrk="0" fontAlgn="base" hangingPunct="0">
              <a:spcBef>
                <a:spcPct val="0"/>
              </a:spcBef>
              <a:spcAft>
                <a:spcPct val="0"/>
              </a:spcAft>
              <a:defRPr sz="1000">
                <a:solidFill>
                  <a:schemeClr val="tx1"/>
                </a:solidFill>
                <a:latin typeface="Arial"/>
              </a:defRPr>
            </a:lvl6pPr>
            <a:lvl7pPr marL="2971800" indent="-228600" eaLnBrk="0" fontAlgn="base" hangingPunct="0">
              <a:spcBef>
                <a:spcPct val="0"/>
              </a:spcBef>
              <a:spcAft>
                <a:spcPct val="0"/>
              </a:spcAft>
              <a:defRPr sz="1000">
                <a:solidFill>
                  <a:schemeClr val="tx1"/>
                </a:solidFill>
                <a:latin typeface="Arial"/>
              </a:defRPr>
            </a:lvl7pPr>
            <a:lvl8pPr marL="3429000" indent="-228600" eaLnBrk="0" fontAlgn="base" hangingPunct="0">
              <a:spcBef>
                <a:spcPct val="0"/>
              </a:spcBef>
              <a:spcAft>
                <a:spcPct val="0"/>
              </a:spcAft>
              <a:defRPr sz="1000">
                <a:solidFill>
                  <a:schemeClr val="tx1"/>
                </a:solidFill>
                <a:latin typeface="Arial"/>
              </a:defRPr>
            </a:lvl8pPr>
            <a:lvl9pPr marL="3886200" indent="-228600" eaLnBrk="0" fontAlgn="base" hangingPunct="0">
              <a:spcBef>
                <a:spcPct val="0"/>
              </a:spcBef>
              <a:spcAft>
                <a:spcPct val="0"/>
              </a:spcAft>
              <a:defRPr sz="1000">
                <a:solidFill>
                  <a:schemeClr val="tx1"/>
                </a:solidFill>
                <a:latin typeface="Arial"/>
              </a:defRPr>
            </a:lvl9pPr>
          </a:lstStyle>
          <a:p>
            <a:pPr eaLnBrk="1" hangingPunct="1">
              <a:defRPr/>
            </a:pPr>
            <a:r>
              <a:rPr lang="es-ES" altLang="es-ES" sz="600">
                <a:solidFill>
                  <a:schemeClr val="bg1"/>
                </a:solidFill>
                <a:cs typeface="+mn-cs"/>
              </a:rPr>
              <a:t> </a:t>
            </a:r>
            <a:r>
              <a:rPr lang="es-ES_tradnl" altLang="es-ES" sz="600">
                <a:solidFill>
                  <a:schemeClr val="bg1"/>
                </a:solidFill>
                <a:cs typeface="+mn-cs"/>
              </a:rPr>
              <a:t>©</a:t>
            </a:r>
            <a:r>
              <a:rPr lang="es-ES" altLang="es-ES" sz="600">
                <a:solidFill>
                  <a:schemeClr val="bg1"/>
                </a:solidFill>
                <a:cs typeface="+mn-cs"/>
              </a:rPr>
              <a:t>  Management Solutions  2008. Todos los derechos reservados </a:t>
            </a:r>
          </a:p>
        </p:txBody>
      </p:sp>
      <p:sp>
        <p:nvSpPr>
          <p:cNvPr id="1029" name="Rectangle 40"/>
          <p:cNvSpPr>
            <a:spLocks noGrp="1" noChangeArrowheads="1"/>
          </p:cNvSpPr>
          <p:nvPr>
            <p:ph type="title"/>
          </p:nvPr>
        </p:nvSpPr>
        <p:spPr bwMode="gray">
          <a:xfrm>
            <a:off x="1283682" y="361950"/>
            <a:ext cx="9888415"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s-ES"/>
              <a:t>Click to edit Master title style</a:t>
            </a:r>
          </a:p>
        </p:txBody>
      </p:sp>
      <p:grpSp>
        <p:nvGrpSpPr>
          <p:cNvPr id="1030" name="Group 54"/>
          <p:cNvGrpSpPr/>
          <p:nvPr/>
        </p:nvGrpSpPr>
        <p:grpSpPr>
          <a:xfrm>
            <a:off x="0" y="5"/>
            <a:ext cx="12192000" cy="327025"/>
            <a:chOff x="0" y="0"/>
            <a:chExt cx="6240" cy="206"/>
          </a:xfrm>
        </p:grpSpPr>
        <p:sp>
          <p:nvSpPr>
            <p:cNvPr id="1034" name="Rectangle 55"/>
            <p:cNvSpPr>
              <a:spLocks noChangeArrowheads="1"/>
            </p:cNvSpPr>
            <p:nvPr userDrawn="1"/>
          </p:nvSpPr>
          <p:spPr bwMode="auto">
            <a:xfrm flipV="1">
              <a:off x="0" y="0"/>
              <a:ext cx="6240" cy="180"/>
            </a:xfrm>
            <a:prstGeom prst="rect">
              <a:avLst/>
            </a:prstGeom>
            <a:solidFill>
              <a:srgbClr val="001A4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ctr" eaLnBrk="1" hangingPunct="1"/>
              <a:endParaRPr lang="en-US" altLang="es-ES" sz="2000">
                <a:solidFill>
                  <a:schemeClr val="bg1"/>
                </a:solidFill>
              </a:endParaRPr>
            </a:p>
          </p:txBody>
        </p:sp>
        <p:sp>
          <p:nvSpPr>
            <p:cNvPr id="1035" name="Line 56"/>
            <p:cNvSpPr>
              <a:spLocks noChangeShapeType="1"/>
            </p:cNvSpPr>
            <p:nvPr userDrawn="1"/>
          </p:nvSpPr>
          <p:spPr bwMode="gray">
            <a:xfrm>
              <a:off x="0" y="206"/>
              <a:ext cx="62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800"/>
            </a:p>
          </p:txBody>
        </p:sp>
      </p:grpSp>
      <p:pic>
        <p:nvPicPr>
          <p:cNvPr id="1031" name="Picture 59"/>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91834" y="6570668"/>
            <a:ext cx="2211754"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2" name="Rectangle 61"/>
          <p:cNvSpPr>
            <a:spLocks noChangeArrowheads="1"/>
          </p:cNvSpPr>
          <p:nvPr/>
        </p:nvSpPr>
        <p:spPr bwMode="auto">
          <a:xfrm>
            <a:off x="8313617" y="6656388"/>
            <a:ext cx="371426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sz="1000">
                <a:solidFill>
                  <a:schemeClr val="tx1"/>
                </a:solidFill>
                <a:latin typeface="Arial"/>
                <a:cs typeface="Arial"/>
              </a:defRPr>
            </a:lvl1pPr>
            <a:lvl2pPr marL="742950" indent="-285750" eaLnBrk="0" hangingPunct="0">
              <a:defRPr sz="1000">
                <a:solidFill>
                  <a:schemeClr val="tx1"/>
                </a:solidFill>
                <a:latin typeface="Arial"/>
                <a:cs typeface="Arial"/>
              </a:defRPr>
            </a:lvl2pPr>
            <a:lvl3pPr marL="1143000" indent="-228600" eaLnBrk="0" hangingPunct="0">
              <a:defRPr sz="1000">
                <a:solidFill>
                  <a:schemeClr val="tx1"/>
                </a:solidFill>
                <a:latin typeface="Arial"/>
                <a:cs typeface="Arial"/>
              </a:defRPr>
            </a:lvl3pPr>
            <a:lvl4pPr marL="1600200" indent="-228600" eaLnBrk="0" hangingPunct="0">
              <a:defRPr sz="1000">
                <a:solidFill>
                  <a:schemeClr val="tx1"/>
                </a:solidFill>
                <a:latin typeface="Arial"/>
                <a:cs typeface="Arial"/>
              </a:defRPr>
            </a:lvl4pPr>
            <a:lvl5pPr marL="2057400" indent="-228600" eaLnBrk="0" hangingPunct="0">
              <a:defRPr sz="1000">
                <a:solidFill>
                  <a:schemeClr val="tx1"/>
                </a:solidFill>
                <a:latin typeface="Arial"/>
                <a:cs typeface="Arial"/>
              </a:defRPr>
            </a:lvl5pPr>
            <a:lvl6pPr marL="2514600" indent="-228600" eaLnBrk="0" fontAlgn="base" hangingPunct="0">
              <a:spcBef>
                <a:spcPct val="0"/>
              </a:spcBef>
              <a:spcAft>
                <a:spcPct val="0"/>
              </a:spcAft>
              <a:defRPr sz="1000">
                <a:solidFill>
                  <a:schemeClr val="tx1"/>
                </a:solidFill>
                <a:latin typeface="Arial"/>
                <a:cs typeface="Arial"/>
              </a:defRPr>
            </a:lvl6pPr>
            <a:lvl7pPr marL="2971800" indent="-228600" eaLnBrk="0" fontAlgn="base" hangingPunct="0">
              <a:spcBef>
                <a:spcPct val="0"/>
              </a:spcBef>
              <a:spcAft>
                <a:spcPct val="0"/>
              </a:spcAft>
              <a:defRPr sz="1000">
                <a:solidFill>
                  <a:schemeClr val="tx1"/>
                </a:solidFill>
                <a:latin typeface="Arial"/>
                <a:cs typeface="Arial"/>
              </a:defRPr>
            </a:lvl7pPr>
            <a:lvl8pPr marL="3429000" indent="-228600" eaLnBrk="0" fontAlgn="base" hangingPunct="0">
              <a:spcBef>
                <a:spcPct val="0"/>
              </a:spcBef>
              <a:spcAft>
                <a:spcPct val="0"/>
              </a:spcAft>
              <a:defRPr sz="1000">
                <a:solidFill>
                  <a:schemeClr val="tx1"/>
                </a:solidFill>
                <a:latin typeface="Arial"/>
                <a:cs typeface="Arial"/>
              </a:defRPr>
            </a:lvl8pPr>
            <a:lvl9pPr marL="3886200" indent="-228600" eaLnBrk="0" fontAlgn="base" hangingPunct="0">
              <a:spcBef>
                <a:spcPct val="0"/>
              </a:spcBef>
              <a:spcAft>
                <a:spcPct val="0"/>
              </a:spcAft>
              <a:defRPr sz="1000">
                <a:solidFill>
                  <a:schemeClr val="tx1"/>
                </a:solidFill>
                <a:latin typeface="Arial"/>
                <a:cs typeface="Arial"/>
              </a:defRPr>
            </a:lvl9pPr>
          </a:lstStyle>
          <a:p>
            <a:pPr algn="r" eaLnBrk="1" hangingPunct="1"/>
            <a:r>
              <a:rPr lang="es-ES" altLang="es-ES" sz="600">
                <a:solidFill>
                  <a:srgbClr val="997D00"/>
                </a:solidFill>
              </a:rPr>
              <a:t>|  </a:t>
            </a:r>
            <a:r>
              <a:rPr lang="es-ES" altLang="es-ES" sz="800">
                <a:solidFill>
                  <a:srgbClr val="997D00"/>
                </a:solidFill>
              </a:rPr>
              <a:t>Página </a:t>
            </a:r>
            <a:fld id="{714C7DFB-E309-44C9-9AF5-33BA1CA47A31}" type="slidenum">
              <a:rPr lang="es-ES" altLang="es-ES" sz="800">
                <a:solidFill>
                  <a:srgbClr val="997D00"/>
                </a:solidFill>
              </a:rPr>
              <a:pPr algn="r" eaLnBrk="1" hangingPunct="1"/>
              <a:t>‹Nº›</a:t>
            </a:fld>
            <a:endParaRPr lang="en-US" altLang="es-ES" sz="800">
              <a:solidFill>
                <a:srgbClr val="997D00"/>
              </a:solidFill>
            </a:endParaRPr>
          </a:p>
          <a:p>
            <a:pPr algn="r" eaLnBrk="1" hangingPunct="1"/>
            <a:endParaRPr lang="es-ES" altLang="es-ES" sz="600">
              <a:solidFill>
                <a:schemeClr val="hlink"/>
              </a:solidFill>
            </a:endParaRPr>
          </a:p>
        </p:txBody>
      </p:sp>
      <p:pic>
        <p:nvPicPr>
          <p:cNvPr id="12" name="Picture 2"/>
          <p:cNvPicPr>
            <a:picLocks noChangeAspect="1" noChangeArrowheads="1"/>
          </p:cNvPicPr>
          <p:nvPr/>
        </p:nvPicPr>
        <p:blipFill>
          <a:blip r:embed="rId15">
            <a:extLst>
              <a:ext uri="{28A0092B-C50C-407E-A947-70E740481C1C}">
                <a14:useLocalDpi xmlns:a14="http://schemas.microsoft.com/office/drawing/2010/main" val="0"/>
              </a:ext>
            </a:extLst>
          </a:blip>
          <a:stretch>
            <a:fillRect/>
          </a:stretch>
        </p:blipFill>
        <p:spPr bwMode="auto">
          <a:xfrm>
            <a:off x="2547266" y="6557416"/>
            <a:ext cx="1299022" cy="228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987372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ransition/>
  <p:txStyles>
    <p:titleStyle>
      <a:lvl1pPr algn="l" rtl="0" eaLnBrk="1" fontAlgn="base" hangingPunct="1">
        <a:spcBef>
          <a:spcPct val="0"/>
        </a:spcBef>
        <a:spcAft>
          <a:spcPct val="0"/>
        </a:spcAft>
        <a:defRPr sz="2200">
          <a:solidFill>
            <a:srgbClr val="001A48"/>
          </a:solidFill>
          <a:latin typeface="+mj-lt"/>
          <a:ea typeface="+mj-ea"/>
          <a:cs typeface="+mj-cs"/>
        </a:defRPr>
      </a:lvl1pPr>
      <a:lvl2pPr algn="l" rtl="0" eaLnBrk="1" fontAlgn="base" hangingPunct="1">
        <a:spcBef>
          <a:spcPct val="0"/>
        </a:spcBef>
        <a:spcAft>
          <a:spcPct val="0"/>
        </a:spcAft>
        <a:defRPr sz="2200">
          <a:solidFill>
            <a:srgbClr val="001A48"/>
          </a:solidFill>
          <a:latin typeface="Arial" pitchFamily="34" charset="0"/>
        </a:defRPr>
      </a:lvl2pPr>
      <a:lvl3pPr algn="l" rtl="0" eaLnBrk="1" fontAlgn="base" hangingPunct="1">
        <a:spcBef>
          <a:spcPct val="0"/>
        </a:spcBef>
        <a:spcAft>
          <a:spcPct val="0"/>
        </a:spcAft>
        <a:defRPr sz="2200">
          <a:solidFill>
            <a:srgbClr val="001A48"/>
          </a:solidFill>
          <a:latin typeface="Arial" pitchFamily="34" charset="0"/>
        </a:defRPr>
      </a:lvl3pPr>
      <a:lvl4pPr algn="l" rtl="0" eaLnBrk="1" fontAlgn="base" hangingPunct="1">
        <a:spcBef>
          <a:spcPct val="0"/>
        </a:spcBef>
        <a:spcAft>
          <a:spcPct val="0"/>
        </a:spcAft>
        <a:defRPr sz="2200">
          <a:solidFill>
            <a:srgbClr val="001A48"/>
          </a:solidFill>
          <a:latin typeface="Arial" pitchFamily="34" charset="0"/>
        </a:defRPr>
      </a:lvl4pPr>
      <a:lvl5pPr algn="l" rtl="0" eaLnBrk="1" fontAlgn="base" hangingPunct="1">
        <a:spcBef>
          <a:spcPct val="0"/>
        </a:spcBef>
        <a:spcAft>
          <a:spcPct val="0"/>
        </a:spcAft>
        <a:defRPr sz="2200">
          <a:solidFill>
            <a:srgbClr val="001A48"/>
          </a:solidFill>
          <a:latin typeface="Arial" pitchFamily="34" charset="0"/>
        </a:defRPr>
      </a:lvl5pPr>
      <a:lvl6pPr marL="457200" algn="l" rtl="0" eaLnBrk="1" fontAlgn="base" hangingPunct="1">
        <a:spcBef>
          <a:spcPct val="0"/>
        </a:spcBef>
        <a:spcAft>
          <a:spcPct val="0"/>
        </a:spcAft>
        <a:defRPr sz="2200">
          <a:solidFill>
            <a:srgbClr val="001A48"/>
          </a:solidFill>
          <a:latin typeface="Arial" pitchFamily="34" charset="0"/>
        </a:defRPr>
      </a:lvl6pPr>
      <a:lvl7pPr marL="914400" algn="l" rtl="0" eaLnBrk="1" fontAlgn="base" hangingPunct="1">
        <a:spcBef>
          <a:spcPct val="0"/>
        </a:spcBef>
        <a:spcAft>
          <a:spcPct val="0"/>
        </a:spcAft>
        <a:defRPr sz="2200">
          <a:solidFill>
            <a:srgbClr val="001A48"/>
          </a:solidFill>
          <a:latin typeface="Arial" pitchFamily="34" charset="0"/>
        </a:defRPr>
      </a:lvl7pPr>
      <a:lvl8pPr marL="1371600" algn="l" rtl="0" eaLnBrk="1" fontAlgn="base" hangingPunct="1">
        <a:spcBef>
          <a:spcPct val="0"/>
        </a:spcBef>
        <a:spcAft>
          <a:spcPct val="0"/>
        </a:spcAft>
        <a:defRPr sz="2200">
          <a:solidFill>
            <a:srgbClr val="001A48"/>
          </a:solidFill>
          <a:latin typeface="Arial" pitchFamily="34" charset="0"/>
        </a:defRPr>
      </a:lvl8pPr>
      <a:lvl9pPr marL="1828800" algn="l" rtl="0" eaLnBrk="1" fontAlgn="base" hangingPunct="1">
        <a:spcBef>
          <a:spcPct val="0"/>
        </a:spcBef>
        <a:spcAft>
          <a:spcPct val="0"/>
        </a:spcAft>
        <a:defRPr sz="2200">
          <a:solidFill>
            <a:srgbClr val="001A48"/>
          </a:solidFill>
          <a:latin typeface="Arial" pitchFamily="34" charset="0"/>
        </a:defRPr>
      </a:lvl9pPr>
    </p:titleStyle>
    <p:bodyStyle>
      <a:lvl1pPr algn="l" rtl="0" eaLnBrk="1" fontAlgn="base" hangingPunct="1">
        <a:lnSpc>
          <a:spcPct val="102000"/>
        </a:lnSpc>
        <a:spcBef>
          <a:spcPct val="50000"/>
        </a:spcBef>
        <a:spcAft>
          <a:spcPct val="0"/>
        </a:spcAft>
        <a:buClr>
          <a:srgbClr val="997D00"/>
        </a:buClr>
        <a:defRPr sz="1600">
          <a:solidFill>
            <a:schemeClr val="tx1"/>
          </a:solidFill>
          <a:latin typeface="+mn-lt"/>
          <a:ea typeface="+mn-ea"/>
          <a:cs typeface="+mn-cs"/>
        </a:defRPr>
      </a:lvl1pPr>
      <a:lvl2pPr marL="381000" indent="-190500" algn="l" rtl="0" eaLnBrk="1" fontAlgn="base" hangingPunct="1">
        <a:lnSpc>
          <a:spcPct val="102000"/>
        </a:lnSpc>
        <a:spcBef>
          <a:spcPct val="50000"/>
        </a:spcBef>
        <a:spcAft>
          <a:spcPct val="0"/>
        </a:spcAft>
        <a:buClr>
          <a:srgbClr val="997D00"/>
        </a:buClr>
        <a:buFont typeface="Webdings" pitchFamily="18" charset="2"/>
        <a:buChar char="4"/>
        <a:defRPr sz="1600">
          <a:solidFill>
            <a:schemeClr val="tx1"/>
          </a:solidFill>
          <a:latin typeface="+mn-lt"/>
        </a:defRPr>
      </a:lvl2pPr>
      <a:lvl3pPr marL="660400" indent="-88900" algn="l" rtl="0" eaLnBrk="1" fontAlgn="base" hangingPunct="1">
        <a:lnSpc>
          <a:spcPct val="102000"/>
        </a:lnSpc>
        <a:spcBef>
          <a:spcPct val="50000"/>
        </a:spcBef>
        <a:spcAft>
          <a:spcPct val="0"/>
        </a:spcAft>
        <a:buClr>
          <a:srgbClr val="997D00"/>
        </a:buClr>
        <a:buFont typeface="Arial"/>
        <a:buChar char="-"/>
        <a:defRPr sz="1600">
          <a:solidFill>
            <a:schemeClr val="tx1"/>
          </a:solidFill>
          <a:latin typeface="+mn-lt"/>
        </a:defRPr>
      </a:lvl3pPr>
      <a:lvl4pPr marL="996950" indent="-146050" algn="l" rtl="0" eaLnBrk="1" fontAlgn="base" hangingPunct="1">
        <a:lnSpc>
          <a:spcPct val="102000"/>
        </a:lnSpc>
        <a:spcBef>
          <a:spcPct val="50000"/>
        </a:spcBef>
        <a:spcAft>
          <a:spcPct val="0"/>
        </a:spcAft>
        <a:buClr>
          <a:srgbClr val="997D00"/>
        </a:buClr>
        <a:buFont typeface="Arial"/>
        <a:buChar char="-"/>
        <a:defRPr sz="1600">
          <a:solidFill>
            <a:schemeClr val="tx1"/>
          </a:solidFill>
          <a:latin typeface="+mn-lt"/>
        </a:defRPr>
      </a:lvl4pPr>
      <a:lvl5pPr marL="1377950" indent="-190500" algn="l" rtl="0" eaLnBrk="1" fontAlgn="base" hangingPunct="1">
        <a:lnSpc>
          <a:spcPct val="102000"/>
        </a:lnSpc>
        <a:spcBef>
          <a:spcPct val="50000"/>
        </a:spcBef>
        <a:spcAft>
          <a:spcPct val="0"/>
        </a:spcAft>
        <a:buClr>
          <a:srgbClr val="997D00"/>
        </a:buClr>
        <a:buFont typeface="Arial"/>
        <a:buChar char="-"/>
        <a:defRPr sz="1600">
          <a:solidFill>
            <a:schemeClr val="tx1"/>
          </a:solidFill>
          <a:latin typeface="+mn-lt"/>
        </a:defRPr>
      </a:lvl5pPr>
      <a:lvl6pPr marL="18351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6pPr>
      <a:lvl7pPr marL="22923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7pPr>
      <a:lvl8pPr marL="27495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8pPr>
      <a:lvl9pPr marL="3206750" indent="-190500" algn="l" rtl="0" eaLnBrk="1" fontAlgn="base" hangingPunct="1">
        <a:lnSpc>
          <a:spcPct val="102000"/>
        </a:lnSpc>
        <a:spcBef>
          <a:spcPct val="50000"/>
        </a:spcBef>
        <a:spcAft>
          <a:spcPct val="0"/>
        </a:spcAft>
        <a:buClr>
          <a:srgbClr val="997D00"/>
        </a:buClr>
        <a:buFont typeface="Arial" pitchFamily="34" charset="0"/>
        <a:buChar char="-"/>
        <a:defRPr sz="16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pic>
        <p:nvPicPr>
          <p:cNvPr id="3" name="Image 2"/>
          <p:cNvPicPr>
            <a:picLocks noChangeAspect="1"/>
          </p:cNvPicPr>
          <p:nvPr/>
        </p:nvPicPr>
        <p:blipFill>
          <a:blip r:embed="rId8"/>
          <a:stretch>
            <a:fillRect/>
          </a:stretch>
        </p:blipFill>
        <p:spPr>
          <a:xfrm>
            <a:off x="2118" y="2118"/>
            <a:ext cx="2117" cy="2117"/>
          </a:xfrm>
          <a:prstGeom prst="rect">
            <a:avLst/>
          </a:prstGeom>
        </p:spPr>
      </p:pic>
      <p:sp>
        <p:nvSpPr>
          <p:cNvPr id="2" name="Rectangle 1" hidden="1"/>
          <p:cNvSpPr/>
          <p:nvPr userDrawn="1">
            <p:custDataLst>
              <p:tags r:id="rId7"/>
            </p:custDataLst>
          </p:nvPr>
        </p:nvSpPr>
        <p:spPr bwMode="auto">
          <a:xfrm>
            <a:off x="-17319" y="-140388"/>
            <a:ext cx="246308" cy="492443"/>
          </a:xfrm>
          <a:prstGeom prst="rect">
            <a:avLst/>
          </a:prstGeom>
          <a:noFill/>
          <a:ln w="9525">
            <a:solidFill>
              <a:schemeClr val="tx1"/>
            </a:solidFill>
            <a:round/>
          </a:ln>
        </p:spPr>
        <p:txBody>
          <a:bodyPr wrap="none" lIns="0" tIns="0" rIns="0" bIns="0" rtlCol="0" anchor="ctr">
            <a:noAutofit/>
          </a:bodyPr>
          <a:lstStyle/>
          <a:p>
            <a:pPr marL="0" lvl="0" indent="0" algn="ctr" eaLnBrk="1">
              <a:lnSpc>
                <a:spcPct val="100000"/>
              </a:lnSpc>
              <a:spcBef>
                <a:spcPct val="0"/>
              </a:spcBef>
              <a:spcAft>
                <a:spcPct val="0"/>
              </a:spcAft>
            </a:pPr>
            <a:endParaRPr lang="en-US" sz="2933" b="0" i="0" baseline="0">
              <a:latin typeface="Calibri"/>
              <a:ea typeface="+mj-ea"/>
              <a:cs typeface="+mj-cs"/>
              <a:sym typeface="Calibri"/>
            </a:endParaRPr>
          </a:p>
        </p:txBody>
      </p:sp>
      <p:sp>
        <p:nvSpPr>
          <p:cNvPr id="1060" name="Rectangle 36"/>
          <p:cNvSpPr>
            <a:spLocks noChangeArrowheads="1"/>
          </p:cNvSpPr>
          <p:nvPr/>
        </p:nvSpPr>
        <p:spPr bwMode="white">
          <a:xfrm>
            <a:off x="20" y="0"/>
            <a:ext cx="12192000" cy="6858000"/>
          </a:xfrm>
          <a:prstGeom prst="rect">
            <a:avLst/>
          </a:prstGeom>
          <a:solidFill>
            <a:schemeClr val="bg1"/>
          </a:solidFill>
          <a:ln w="9525">
            <a:noFill/>
            <a:miter lim="800000"/>
          </a:ln>
          <a:effectLst/>
        </p:spPr>
        <p:txBody>
          <a:bodyPr wrap="none" anchor="ctr"/>
          <a:lstStyle/>
          <a:p>
            <a:pPr algn="ctr" fontAlgn="base">
              <a:spcBef>
                <a:spcPct val="0"/>
              </a:spcBef>
              <a:spcAft>
                <a:spcPct val="0"/>
              </a:spcAft>
              <a:defRPr/>
            </a:pPr>
            <a:endParaRPr lang="es-ES" sz="1600" b="1">
              <a:solidFill>
                <a:srgbClr val="000000"/>
              </a:solidFill>
              <a:sym typeface="Wingdings" pitchFamily="2" charset="2"/>
            </a:endParaRPr>
          </a:p>
        </p:txBody>
      </p:sp>
      <p:sp>
        <p:nvSpPr>
          <p:cNvPr id="1067" name="Text Box 43"/>
          <p:cNvSpPr txBox="1">
            <a:spLocks noChangeArrowheads="1"/>
          </p:cNvSpPr>
          <p:nvPr/>
        </p:nvSpPr>
        <p:spPr bwMode="gray">
          <a:xfrm>
            <a:off x="10496064" y="6611939"/>
            <a:ext cx="1594339" cy="256545"/>
          </a:xfrm>
          <a:prstGeom prst="rect">
            <a:avLst/>
          </a:prstGeom>
          <a:noFill/>
          <a:ln w="9525">
            <a:noFill/>
            <a:miter lim="800000"/>
          </a:ln>
          <a:effectLst/>
        </p:spPr>
        <p:txBody>
          <a:bodyPr>
            <a:spAutoFit/>
          </a:bodyPr>
          <a:lstStyle/>
          <a:p>
            <a:pPr algn="r" fontAlgn="base">
              <a:spcBef>
                <a:spcPct val="0"/>
              </a:spcBef>
              <a:spcAft>
                <a:spcPct val="0"/>
              </a:spcAft>
              <a:defRPr/>
            </a:pPr>
            <a:r>
              <a:rPr lang="es-ES" sz="1067">
                <a:solidFill>
                  <a:srgbClr val="FFFFFF"/>
                </a:solidFill>
                <a:sym typeface="Wingdings" pitchFamily="2" charset="2"/>
              </a:rPr>
              <a:t>   Página </a:t>
            </a:r>
            <a:fld id="{604FF6F4-BDF1-458E-B6A2-2CACB65D2DB5}" type="slidenum">
              <a:rPr lang="es-ES" sz="1067">
                <a:solidFill>
                  <a:srgbClr val="FFFFFF"/>
                </a:solidFill>
                <a:sym typeface="Wingdings" pitchFamily="2" charset="2"/>
              </a:rPr>
              <a:pPr algn="r" fontAlgn="base">
                <a:spcBef>
                  <a:spcPct val="0"/>
                </a:spcBef>
                <a:spcAft>
                  <a:spcPct val="0"/>
                </a:spcAft>
                <a:defRPr/>
              </a:pPr>
              <a:t>‹Nº›</a:t>
            </a:fld>
            <a:endParaRPr lang="en-US" sz="1067">
              <a:solidFill>
                <a:srgbClr val="FFFFFF"/>
              </a:solidFill>
              <a:sym typeface="Wingdings" pitchFamily="2" charset="2"/>
            </a:endParaRPr>
          </a:p>
        </p:txBody>
      </p:sp>
      <p:sp>
        <p:nvSpPr>
          <p:cNvPr id="61445" name="Rectangle 59"/>
          <p:cNvSpPr>
            <a:spLocks noGrp="1" noChangeArrowheads="1"/>
          </p:cNvSpPr>
          <p:nvPr>
            <p:ph type="title"/>
          </p:nvPr>
        </p:nvSpPr>
        <p:spPr bwMode="gray">
          <a:xfrm>
            <a:off x="521731" y="333375"/>
            <a:ext cx="8655539" cy="742951"/>
          </a:xfrm>
          <a:prstGeom prst="rect">
            <a:avLst/>
          </a:prstGeom>
          <a:noFill/>
          <a:ln w="9525">
            <a:noFill/>
            <a:miter lim="800000"/>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61446" name="Rectangle 60"/>
          <p:cNvSpPr>
            <a:spLocks noGrp="1" noChangeArrowheads="1"/>
          </p:cNvSpPr>
          <p:nvPr>
            <p:ph type="body" idx="1"/>
          </p:nvPr>
        </p:nvSpPr>
        <p:spPr bwMode="auto">
          <a:xfrm>
            <a:off x="521754" y="1417639"/>
            <a:ext cx="11240476" cy="4114800"/>
          </a:xfrm>
          <a:prstGeom prst="rect">
            <a:avLst/>
          </a:prstGeom>
          <a:noFill/>
          <a:ln w="9525">
            <a:noFill/>
            <a:miter lim="800000"/>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level1</a:t>
            </a:r>
          </a:p>
        </p:txBody>
      </p:sp>
      <p:grpSp>
        <p:nvGrpSpPr>
          <p:cNvPr id="61447" name="Group 61"/>
          <p:cNvGrpSpPr/>
          <p:nvPr/>
        </p:nvGrpSpPr>
        <p:grpSpPr>
          <a:xfrm>
            <a:off x="20" y="0"/>
            <a:ext cx="12192000" cy="298451"/>
            <a:chOff x="0" y="0"/>
            <a:chExt cx="6240" cy="188"/>
          </a:xfrm>
        </p:grpSpPr>
        <p:sp>
          <p:nvSpPr>
            <p:cNvPr id="1086" name="Rectangle 62"/>
            <p:cNvSpPr>
              <a:spLocks noChangeArrowheads="1"/>
            </p:cNvSpPr>
            <p:nvPr userDrawn="1"/>
          </p:nvSpPr>
          <p:spPr bwMode="auto">
            <a:xfrm flipV="1">
              <a:off x="0" y="0"/>
              <a:ext cx="6240" cy="180"/>
            </a:xfrm>
            <a:prstGeom prst="rect">
              <a:avLst/>
            </a:prstGeom>
            <a:solidFill>
              <a:srgbClr val="001A48"/>
            </a:solidFill>
            <a:ln w="9525">
              <a:noFill/>
              <a:miter lim="800000"/>
            </a:ln>
            <a:effectLst/>
          </p:spPr>
          <p:txBody>
            <a:bodyPr rot="10800000" wrap="none" anchor="ctr"/>
            <a:lstStyle/>
            <a:p>
              <a:pPr algn="ctr" fontAlgn="base">
                <a:spcBef>
                  <a:spcPct val="0"/>
                </a:spcBef>
                <a:spcAft>
                  <a:spcPct val="0"/>
                </a:spcAft>
                <a:defRPr/>
              </a:pPr>
              <a:endParaRPr lang="en-US" sz="2667">
                <a:solidFill>
                  <a:srgbClr val="FFFFFF"/>
                </a:solidFill>
                <a:sym typeface="Wingdings" pitchFamily="2" charset="2"/>
              </a:endParaRPr>
            </a:p>
          </p:txBody>
        </p:sp>
        <p:sp>
          <p:nvSpPr>
            <p:cNvPr id="1087" name="Line 63"/>
            <p:cNvSpPr>
              <a:spLocks noChangeShapeType="1"/>
            </p:cNvSpPr>
            <p:nvPr userDrawn="1"/>
          </p:nvSpPr>
          <p:spPr bwMode="gray">
            <a:xfrm>
              <a:off x="0" y="188"/>
              <a:ext cx="6240" cy="0"/>
            </a:xfrm>
            <a:prstGeom prst="line">
              <a:avLst/>
            </a:prstGeom>
            <a:noFill/>
            <a:ln w="28575">
              <a:solidFill>
                <a:schemeClr val="hlink"/>
              </a:solidFill>
              <a:round/>
            </a:ln>
            <a:effectLst/>
          </p:spPr>
          <p:txBody>
            <a:bodyPr/>
            <a:lstStyle/>
            <a:p>
              <a:pPr algn="ctr" fontAlgn="base">
                <a:spcBef>
                  <a:spcPct val="0"/>
                </a:spcBef>
                <a:spcAft>
                  <a:spcPct val="0"/>
                </a:spcAft>
                <a:defRPr/>
              </a:pPr>
              <a:endParaRPr lang="es-ES" sz="1600" b="1">
                <a:solidFill>
                  <a:srgbClr val="000000"/>
                </a:solidFill>
                <a:sym typeface="Wingdings" pitchFamily="2" charset="2"/>
              </a:endParaRPr>
            </a:p>
          </p:txBody>
        </p:sp>
      </p:grpSp>
      <p:sp>
        <p:nvSpPr>
          <p:cNvPr id="1088" name="Text Box 64"/>
          <p:cNvSpPr txBox="1">
            <a:spLocks noChangeArrowheads="1"/>
          </p:cNvSpPr>
          <p:nvPr/>
        </p:nvSpPr>
        <p:spPr bwMode="gray">
          <a:xfrm>
            <a:off x="10496064" y="6581459"/>
            <a:ext cx="1594339" cy="256545"/>
          </a:xfrm>
          <a:prstGeom prst="rect">
            <a:avLst/>
          </a:prstGeom>
          <a:noFill/>
          <a:ln w="9525">
            <a:noFill/>
            <a:miter lim="800000"/>
          </a:ln>
          <a:effectLst/>
        </p:spPr>
        <p:txBody>
          <a:bodyPr>
            <a:spAutoFit/>
          </a:bodyPr>
          <a:lstStyle/>
          <a:p>
            <a:pPr algn="r" fontAlgn="base">
              <a:spcBef>
                <a:spcPct val="0"/>
              </a:spcBef>
              <a:spcAft>
                <a:spcPct val="0"/>
              </a:spcAft>
              <a:defRPr/>
            </a:pPr>
            <a:r>
              <a:rPr lang="es-ES" sz="1067">
                <a:solidFill>
                  <a:srgbClr val="808080"/>
                </a:solidFill>
                <a:sym typeface="Wingdings" pitchFamily="2" charset="2"/>
              </a:rPr>
              <a:t>   Página </a:t>
            </a:r>
            <a:fld id="{01481FC6-969E-48EC-A3B1-A4B6D7C06B78}" type="slidenum">
              <a:rPr lang="es-ES" sz="1067">
                <a:solidFill>
                  <a:srgbClr val="808080"/>
                </a:solidFill>
                <a:sym typeface="Wingdings" pitchFamily="2" charset="2"/>
              </a:rPr>
              <a:pPr algn="r" fontAlgn="base">
                <a:spcBef>
                  <a:spcPct val="0"/>
                </a:spcBef>
                <a:spcAft>
                  <a:spcPct val="0"/>
                </a:spcAft>
                <a:defRPr/>
              </a:pPr>
              <a:t>‹Nº›</a:t>
            </a:fld>
            <a:endParaRPr lang="en-US" sz="1067">
              <a:solidFill>
                <a:srgbClr val="808080"/>
              </a:solidFill>
              <a:sym typeface="Wingdings" pitchFamily="2" charset="2"/>
            </a:endParaRPr>
          </a:p>
        </p:txBody>
      </p:sp>
      <p:sp>
        <p:nvSpPr>
          <p:cNvPr id="1089" name="Line 65"/>
          <p:cNvSpPr>
            <a:spLocks noChangeShapeType="1"/>
          </p:cNvSpPr>
          <p:nvPr/>
        </p:nvSpPr>
        <p:spPr bwMode="auto">
          <a:xfrm flipH="1">
            <a:off x="11306908" y="6673970"/>
            <a:ext cx="0" cy="100013"/>
          </a:xfrm>
          <a:prstGeom prst="line">
            <a:avLst/>
          </a:prstGeom>
          <a:noFill/>
          <a:ln w="19050">
            <a:solidFill>
              <a:schemeClr val="hlink"/>
            </a:solidFill>
            <a:round/>
          </a:ln>
          <a:effectLst/>
        </p:spPr>
        <p:txBody>
          <a:bodyPr wrap="none" anchor="ctr"/>
          <a:lstStyle/>
          <a:p>
            <a:pPr algn="ctr" fontAlgn="base">
              <a:spcBef>
                <a:spcPct val="0"/>
              </a:spcBef>
              <a:spcAft>
                <a:spcPct val="0"/>
              </a:spcAft>
              <a:defRPr/>
            </a:pPr>
            <a:endParaRPr lang="es-ES" sz="1600" b="1">
              <a:solidFill>
                <a:srgbClr val="000000"/>
              </a:solidFill>
              <a:sym typeface="Wingdings" pitchFamily="2" charset="2"/>
            </a:endParaRPr>
          </a:p>
        </p:txBody>
      </p:sp>
      <p:sp>
        <p:nvSpPr>
          <p:cNvPr id="1091" name="Rectangle 67"/>
          <p:cNvSpPr>
            <a:spLocks noChangeArrowheads="1"/>
          </p:cNvSpPr>
          <p:nvPr/>
        </p:nvSpPr>
        <p:spPr bwMode="gray">
          <a:xfrm>
            <a:off x="8102675" y="6670161"/>
            <a:ext cx="3145692" cy="123111"/>
          </a:xfrm>
          <a:prstGeom prst="rect">
            <a:avLst/>
          </a:prstGeom>
          <a:noFill/>
          <a:ln w="9525">
            <a:noFill/>
            <a:miter lim="800000"/>
          </a:ln>
          <a:effectLst/>
        </p:spPr>
        <p:txBody>
          <a:bodyPr lIns="0" tIns="0" rIns="0" bIns="0">
            <a:spAutoFit/>
          </a:bodyPr>
          <a:lstStyle/>
          <a:p>
            <a:pPr algn="r" fontAlgn="base">
              <a:spcBef>
                <a:spcPct val="0"/>
              </a:spcBef>
              <a:spcAft>
                <a:spcPct val="0"/>
              </a:spcAft>
              <a:defRPr/>
            </a:pPr>
            <a:r>
              <a:rPr lang="es-ES" sz="800">
                <a:solidFill>
                  <a:srgbClr val="808080"/>
                </a:solidFill>
                <a:sym typeface="Wingdings" pitchFamily="2" charset="2"/>
              </a:rPr>
              <a:t> </a:t>
            </a:r>
            <a:r>
              <a:rPr lang="es-ES_tradnl" sz="800">
                <a:solidFill>
                  <a:srgbClr val="808080"/>
                </a:solidFill>
                <a:sym typeface="Wingdings" pitchFamily="2" charset="2"/>
              </a:rPr>
              <a:t>©</a:t>
            </a:r>
            <a:r>
              <a:rPr lang="es-ES" sz="800">
                <a:solidFill>
                  <a:srgbClr val="808080"/>
                </a:solidFill>
                <a:sym typeface="Wingdings" pitchFamily="2" charset="2"/>
              </a:rPr>
              <a:t>  Management Solutions  2025. Todos los derechos reservados </a:t>
            </a:r>
          </a:p>
        </p:txBody>
      </p:sp>
      <p:pic>
        <p:nvPicPr>
          <p:cNvPr id="15" name="Picture 19" descr="ManagementSolutions_h_1"/>
          <p:cNvPicPr>
            <a:picLocks noChangeAspect="1" noChangeArrowheads="1"/>
          </p:cNvPicPr>
          <p:nvPr userDrawn="1"/>
        </p:nvPicPr>
        <p:blipFill>
          <a:blip r:embed="rId9"/>
          <a:stretch>
            <a:fillRect/>
          </a:stretch>
        </p:blipFill>
        <p:spPr bwMode="auto">
          <a:xfrm>
            <a:off x="134872" y="6596183"/>
            <a:ext cx="1640648" cy="206375"/>
          </a:xfrm>
          <a:prstGeom prst="rect">
            <a:avLst/>
          </a:prstGeom>
          <a:noFill/>
          <a:ln w="9525">
            <a:noFill/>
            <a:miter lim="800000"/>
          </a:ln>
        </p:spPr>
      </p:pic>
    </p:spTree>
    <p:extLst>
      <p:ext uri="{BB962C8B-B14F-4D97-AF65-F5344CB8AC3E}">
        <p14:creationId xmlns:p14="http://schemas.microsoft.com/office/powerpoint/2010/main" val="58026309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txStyles>
    <p:titleStyle>
      <a:lvl1pPr algn="l" rtl="0" eaLnBrk="0" fontAlgn="base" hangingPunct="0">
        <a:spcBef>
          <a:spcPct val="0"/>
        </a:spcBef>
        <a:spcAft>
          <a:spcPct val="0"/>
        </a:spcAft>
        <a:defRPr sz="2933">
          <a:solidFill>
            <a:schemeClr val="bg1"/>
          </a:solidFill>
          <a:latin typeface="+mj-lt"/>
          <a:ea typeface="+mj-ea"/>
          <a:cs typeface="+mj-cs"/>
        </a:defRPr>
      </a:lvl1pPr>
      <a:lvl2pPr algn="l" rtl="0" eaLnBrk="0" fontAlgn="base" hangingPunct="0">
        <a:spcBef>
          <a:spcPct val="0"/>
        </a:spcBef>
        <a:spcAft>
          <a:spcPct val="0"/>
        </a:spcAft>
        <a:defRPr sz="2933">
          <a:solidFill>
            <a:schemeClr val="bg1"/>
          </a:solidFill>
          <a:latin typeface="Arial"/>
        </a:defRPr>
      </a:lvl2pPr>
      <a:lvl3pPr algn="l" rtl="0" eaLnBrk="0" fontAlgn="base" hangingPunct="0">
        <a:spcBef>
          <a:spcPct val="0"/>
        </a:spcBef>
        <a:spcAft>
          <a:spcPct val="0"/>
        </a:spcAft>
        <a:defRPr sz="2933">
          <a:solidFill>
            <a:schemeClr val="bg1"/>
          </a:solidFill>
          <a:latin typeface="Arial"/>
        </a:defRPr>
      </a:lvl3pPr>
      <a:lvl4pPr algn="l" rtl="0" eaLnBrk="0" fontAlgn="base" hangingPunct="0">
        <a:spcBef>
          <a:spcPct val="0"/>
        </a:spcBef>
        <a:spcAft>
          <a:spcPct val="0"/>
        </a:spcAft>
        <a:defRPr sz="2933">
          <a:solidFill>
            <a:schemeClr val="bg1"/>
          </a:solidFill>
          <a:latin typeface="Arial"/>
        </a:defRPr>
      </a:lvl4pPr>
      <a:lvl5pPr algn="l" rtl="0" eaLnBrk="0" fontAlgn="base" hangingPunct="0">
        <a:spcBef>
          <a:spcPct val="0"/>
        </a:spcBef>
        <a:spcAft>
          <a:spcPct val="0"/>
        </a:spcAft>
        <a:defRPr sz="2933">
          <a:solidFill>
            <a:schemeClr val="bg1"/>
          </a:solidFill>
          <a:latin typeface="Arial"/>
        </a:defRPr>
      </a:lvl5pPr>
      <a:lvl6pPr marL="609585" algn="l" rtl="0" fontAlgn="base">
        <a:spcBef>
          <a:spcPct val="0"/>
        </a:spcBef>
        <a:spcAft>
          <a:spcPct val="0"/>
        </a:spcAft>
        <a:defRPr sz="2933">
          <a:solidFill>
            <a:schemeClr val="bg1"/>
          </a:solidFill>
          <a:latin typeface="Arial"/>
        </a:defRPr>
      </a:lvl6pPr>
      <a:lvl7pPr marL="1219170" algn="l" rtl="0" fontAlgn="base">
        <a:spcBef>
          <a:spcPct val="0"/>
        </a:spcBef>
        <a:spcAft>
          <a:spcPct val="0"/>
        </a:spcAft>
        <a:defRPr sz="2933">
          <a:solidFill>
            <a:schemeClr val="bg1"/>
          </a:solidFill>
          <a:latin typeface="Arial"/>
        </a:defRPr>
      </a:lvl7pPr>
      <a:lvl8pPr marL="1828754" algn="l" rtl="0" fontAlgn="base">
        <a:spcBef>
          <a:spcPct val="0"/>
        </a:spcBef>
        <a:spcAft>
          <a:spcPct val="0"/>
        </a:spcAft>
        <a:defRPr sz="2933">
          <a:solidFill>
            <a:schemeClr val="bg1"/>
          </a:solidFill>
          <a:latin typeface="Arial"/>
        </a:defRPr>
      </a:lvl8pPr>
      <a:lvl9pPr marL="2438339" algn="l" rtl="0" fontAlgn="base">
        <a:spcBef>
          <a:spcPct val="0"/>
        </a:spcBef>
        <a:spcAft>
          <a:spcPct val="0"/>
        </a:spcAft>
        <a:defRPr sz="2933">
          <a:solidFill>
            <a:schemeClr val="bg1"/>
          </a:solidFill>
          <a:latin typeface="Arial"/>
        </a:defRPr>
      </a:lvl9pPr>
    </p:titleStyle>
    <p:bodyStyle>
      <a:lvl1pPr marL="457189" indent="-457189" algn="l" rtl="0" eaLnBrk="0" fontAlgn="base" hangingPunct="0">
        <a:lnSpc>
          <a:spcPct val="102000"/>
        </a:lnSpc>
        <a:spcBef>
          <a:spcPct val="50000"/>
        </a:spcBef>
        <a:spcAft>
          <a:spcPct val="0"/>
        </a:spcAft>
        <a:buChar char="•"/>
        <a:defRPr sz="2133">
          <a:solidFill>
            <a:schemeClr val="tx1"/>
          </a:solidFill>
          <a:latin typeface="+mn-lt"/>
          <a:ea typeface="+mn-ea"/>
          <a:cs typeface="+mn-cs"/>
        </a:defRPr>
      </a:lvl1pPr>
      <a:lvl2pPr marL="507987" indent="-253994" algn="l" rtl="0" eaLnBrk="0" fontAlgn="base" hangingPunct="0">
        <a:lnSpc>
          <a:spcPct val="102000"/>
        </a:lnSpc>
        <a:spcBef>
          <a:spcPct val="50000"/>
        </a:spcBef>
        <a:spcAft>
          <a:spcPct val="0"/>
        </a:spcAft>
        <a:buClr>
          <a:schemeClr val="hlink"/>
        </a:buClr>
        <a:buSzPct val="80000"/>
        <a:buFont typeface="Webdings" pitchFamily="18" charset="2"/>
        <a:buChar char="4"/>
        <a:defRPr sz="2133">
          <a:solidFill>
            <a:schemeClr val="tx1"/>
          </a:solidFill>
          <a:latin typeface="+mn-lt"/>
        </a:defRPr>
      </a:lvl2pPr>
      <a:lvl3pPr marL="880511" indent="-118530" algn="l" rtl="0" eaLnBrk="0" fontAlgn="base" hangingPunct="0">
        <a:lnSpc>
          <a:spcPct val="102000"/>
        </a:lnSpc>
        <a:spcBef>
          <a:spcPct val="50000"/>
        </a:spcBef>
        <a:spcAft>
          <a:spcPct val="0"/>
        </a:spcAft>
        <a:buClr>
          <a:schemeClr val="bg2"/>
        </a:buClr>
        <a:buFont typeface="Arial"/>
        <a:buChar char="-"/>
        <a:defRPr sz="2133">
          <a:solidFill>
            <a:schemeClr val="tx1"/>
          </a:solidFill>
          <a:latin typeface="+mn-lt"/>
        </a:defRPr>
      </a:lvl3pPr>
      <a:lvl4pPr marL="1329233" indent="-194728" algn="l" rtl="0" eaLnBrk="0" fontAlgn="base" hangingPunct="0">
        <a:lnSpc>
          <a:spcPct val="102000"/>
        </a:lnSpc>
        <a:spcBef>
          <a:spcPct val="50000"/>
        </a:spcBef>
        <a:spcAft>
          <a:spcPct val="0"/>
        </a:spcAft>
        <a:buClr>
          <a:schemeClr val="bg2"/>
        </a:buClr>
        <a:buFont typeface="Arial"/>
        <a:buChar char="-"/>
        <a:defRPr sz="2133">
          <a:solidFill>
            <a:schemeClr val="tx1"/>
          </a:solidFill>
          <a:latin typeface="+mn-lt"/>
        </a:defRPr>
      </a:lvl4pPr>
      <a:lvl5pPr marL="1837221" indent="-253994" algn="l" rtl="0" eaLnBrk="0" fontAlgn="base" hangingPunct="0">
        <a:lnSpc>
          <a:spcPct val="102000"/>
        </a:lnSpc>
        <a:spcBef>
          <a:spcPct val="50000"/>
        </a:spcBef>
        <a:spcAft>
          <a:spcPct val="0"/>
        </a:spcAft>
        <a:buClr>
          <a:schemeClr val="bg2"/>
        </a:buClr>
        <a:buFont typeface="Arial"/>
        <a:buChar char="-"/>
        <a:defRPr sz="2133">
          <a:solidFill>
            <a:schemeClr val="tx1"/>
          </a:solidFill>
          <a:latin typeface="+mn-lt"/>
        </a:defRPr>
      </a:lvl5pPr>
      <a:lvl6pPr marL="2446805" indent="-253994" algn="l" rtl="0" fontAlgn="base">
        <a:lnSpc>
          <a:spcPct val="102000"/>
        </a:lnSpc>
        <a:spcBef>
          <a:spcPct val="50000"/>
        </a:spcBef>
        <a:spcAft>
          <a:spcPct val="0"/>
        </a:spcAft>
        <a:buClr>
          <a:schemeClr val="bg2"/>
        </a:buClr>
        <a:buFont typeface="Arial"/>
        <a:buChar char="-"/>
        <a:defRPr sz="2133">
          <a:solidFill>
            <a:schemeClr val="tx1"/>
          </a:solidFill>
          <a:latin typeface="+mn-lt"/>
        </a:defRPr>
      </a:lvl6pPr>
      <a:lvl7pPr marL="3056390" indent="-253994" algn="l" rtl="0" fontAlgn="base">
        <a:lnSpc>
          <a:spcPct val="102000"/>
        </a:lnSpc>
        <a:spcBef>
          <a:spcPct val="50000"/>
        </a:spcBef>
        <a:spcAft>
          <a:spcPct val="0"/>
        </a:spcAft>
        <a:buClr>
          <a:schemeClr val="bg2"/>
        </a:buClr>
        <a:buFont typeface="Arial"/>
        <a:buChar char="-"/>
        <a:defRPr sz="2133">
          <a:solidFill>
            <a:schemeClr val="tx1"/>
          </a:solidFill>
          <a:latin typeface="+mn-lt"/>
        </a:defRPr>
      </a:lvl7pPr>
      <a:lvl8pPr marL="3665975" indent="-253994" algn="l" rtl="0" fontAlgn="base">
        <a:lnSpc>
          <a:spcPct val="102000"/>
        </a:lnSpc>
        <a:spcBef>
          <a:spcPct val="50000"/>
        </a:spcBef>
        <a:spcAft>
          <a:spcPct val="0"/>
        </a:spcAft>
        <a:buClr>
          <a:schemeClr val="bg2"/>
        </a:buClr>
        <a:buFont typeface="Arial"/>
        <a:buChar char="-"/>
        <a:defRPr sz="2133">
          <a:solidFill>
            <a:schemeClr val="tx1"/>
          </a:solidFill>
          <a:latin typeface="+mn-lt"/>
        </a:defRPr>
      </a:lvl8pPr>
      <a:lvl9pPr marL="4275560" indent="-253994" algn="l" rtl="0" fontAlgn="base">
        <a:lnSpc>
          <a:spcPct val="102000"/>
        </a:lnSpc>
        <a:spcBef>
          <a:spcPct val="50000"/>
        </a:spcBef>
        <a:spcAft>
          <a:spcPct val="0"/>
        </a:spcAft>
        <a:buClr>
          <a:schemeClr val="bg2"/>
        </a:buClr>
        <a:buFont typeface="Arial"/>
        <a:buChar char="-"/>
        <a:defRPr sz="2133">
          <a:solidFill>
            <a:schemeClr val="tx1"/>
          </a:solidFill>
          <a:latin typeface="+mn-lt"/>
        </a:defRPr>
      </a:lvl9pPr>
    </p:bodyStyle>
    <p:otherStyle>
      <a:defPPr>
        <a:defRPr lang="es-E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3" Type="http://schemas.openxmlformats.org/officeDocument/2006/relationships/notesSlide" Target="../notesSlides/notesSlide2.xml"/><Relationship Id="rId7" Type="http://schemas.openxmlformats.org/officeDocument/2006/relationships/image" Target="../media/image17.svg"/><Relationship Id="rId12" Type="http://schemas.openxmlformats.org/officeDocument/2006/relationships/image" Target="../media/image22.svg"/><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10.xml"/><Relationship Id="rId6" Type="http://schemas.openxmlformats.org/officeDocument/2006/relationships/image" Target="../media/image24.svg"/><Relationship Id="rId5" Type="http://schemas.openxmlformats.org/officeDocument/2006/relationships/image" Target="../media/image19.sv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1.xml"/><Relationship Id="rId5" Type="http://schemas.openxmlformats.org/officeDocument/2006/relationships/image" Target="../media/image14.svg"/><Relationship Id="rId4" Type="http://schemas.openxmlformats.org/officeDocument/2006/relationships/image" Target="../media/image24.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5.svg"/><Relationship Id="rId2" Type="http://schemas.openxmlformats.org/officeDocument/2006/relationships/slideLayout" Target="../slideLayouts/slideLayout3.xml"/><Relationship Id="rId1" Type="http://schemas.openxmlformats.org/officeDocument/2006/relationships/tags" Target="../tags/tag13.xml"/><Relationship Id="rId6" Type="http://schemas.openxmlformats.org/officeDocument/2006/relationships/image" Target="../media/image21.svg"/><Relationship Id="rId5" Type="http://schemas.openxmlformats.org/officeDocument/2006/relationships/image" Target="../media/image24.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4.xml"/><Relationship Id="rId5" Type="http://schemas.openxmlformats.org/officeDocument/2006/relationships/image" Target="../media/image24.sv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2.xml"/><Relationship Id="rId4" Type="http://schemas.openxmlformats.org/officeDocument/2006/relationships/image" Target="../media/image28.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8B70-6662-24F6-7780-C3AFE111AF13}"/>
              </a:ext>
            </a:extLst>
          </p:cNvPr>
          <p:cNvSpPr>
            <a:spLocks noGrp="1"/>
          </p:cNvSpPr>
          <p:nvPr>
            <p:ph type="ctrTitle" sz="quarter"/>
          </p:nvPr>
        </p:nvSpPr>
        <p:spPr/>
        <p:txBody>
          <a:bodyPr/>
          <a:lstStyle/>
          <a:p>
            <a:r>
              <a:rPr lang="es-ES_tradnl" sz="3200" b="1"/>
              <a:t>Nueva Solución RNT + ALM + FTP</a:t>
            </a:r>
          </a:p>
        </p:txBody>
      </p:sp>
      <p:sp>
        <p:nvSpPr>
          <p:cNvPr id="3" name="Subtitle 2">
            <a:extLst>
              <a:ext uri="{FF2B5EF4-FFF2-40B4-BE49-F238E27FC236}">
                <a16:creationId xmlns:a16="http://schemas.microsoft.com/office/drawing/2014/main" id="{CB0C0EFA-3AEC-73D9-05F3-0D710719BF36}"/>
              </a:ext>
            </a:extLst>
          </p:cNvPr>
          <p:cNvSpPr>
            <a:spLocks noGrp="1"/>
          </p:cNvSpPr>
          <p:nvPr>
            <p:ph type="subTitle" sz="quarter" idx="1"/>
          </p:nvPr>
        </p:nvSpPr>
        <p:spPr/>
        <p:txBody>
          <a:bodyPr/>
          <a:lstStyle/>
          <a:p>
            <a:r>
              <a:rPr lang="es-ES_tradnl"/>
              <a:t>Diseño Técnico Propuesta MS</a:t>
            </a:r>
          </a:p>
        </p:txBody>
      </p:sp>
      <p:sp>
        <p:nvSpPr>
          <p:cNvPr id="6" name="Rectangle 5">
            <a:extLst>
              <a:ext uri="{FF2B5EF4-FFF2-40B4-BE49-F238E27FC236}">
                <a16:creationId xmlns:a16="http://schemas.microsoft.com/office/drawing/2014/main" id="{22378AA7-CC72-FBBC-00E2-EB8FE9020BF9}"/>
              </a:ext>
            </a:extLst>
          </p:cNvPr>
          <p:cNvSpPr/>
          <p:nvPr/>
        </p:nvSpPr>
        <p:spPr>
          <a:xfrm>
            <a:off x="0" y="6493933"/>
            <a:ext cx="3327400" cy="352800"/>
          </a:xfrm>
          <a:prstGeom prst="rect">
            <a:avLst/>
          </a:prstGeom>
          <a:solidFill>
            <a:srgbClr val="997D00"/>
          </a:solidFill>
          <a:ln w="3175">
            <a:solidFill>
              <a:srgbClr val="997D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0" marR="0" lvl="0" indent="0" algn="ctr" defTabSz="914400" rtl="0" eaLnBrk="1" fontAlgn="auto" latinLnBrk="0" hangingPunct="1">
              <a:lnSpc>
                <a:spcPct val="100000"/>
              </a:lnSpc>
              <a:spcBef>
                <a:spcPts val="600"/>
              </a:spcBef>
              <a:spcAft>
                <a:spcPct val="0"/>
              </a:spcAft>
              <a:buClrTx/>
              <a:buSzTx/>
              <a:buFontTx/>
              <a:buNone/>
              <a:defRPr/>
            </a:pPr>
            <a:r>
              <a:rPr kumimoji="0" lang="es-ES_tradnl" sz="1100" b="1" i="0" u="none" strike="noStrike" kern="1200" cap="none" spc="0" normalizeH="0" baseline="0" noProof="0">
                <a:ln>
                  <a:noFill/>
                </a:ln>
                <a:solidFill>
                  <a:srgbClr val="FFFFFF"/>
                </a:solidFill>
                <a:effectLst/>
                <a:uLnTx/>
                <a:uFillTx/>
                <a:latin typeface="Arial"/>
                <a:ea typeface="+mn-ea"/>
                <a:cs typeface="+mn-cs"/>
              </a:rPr>
              <a:t>Junio 2026</a:t>
            </a:r>
          </a:p>
        </p:txBody>
      </p:sp>
    </p:spTree>
    <p:extLst>
      <p:ext uri="{BB962C8B-B14F-4D97-AF65-F5344CB8AC3E}">
        <p14:creationId xmlns:p14="http://schemas.microsoft.com/office/powerpoint/2010/main" val="293944611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1B762-9AAD-D5F8-FC2E-CDA62EEA8040}"/>
            </a:ext>
          </a:extLst>
        </p:cNvPr>
        <p:cNvGrpSpPr/>
        <p:nvPr/>
      </p:nvGrpSpPr>
      <p:grpSpPr>
        <a:xfrm>
          <a:off x="0" y="0"/>
          <a:ext cx="0" cy="0"/>
          <a:chOff x="0" y="0"/>
          <a:chExt cx="0" cy="0"/>
        </a:xfrm>
      </p:grpSpPr>
      <p:cxnSp>
        <p:nvCxnSpPr>
          <p:cNvPr id="1322" name="Connector: Elbow 1321">
            <a:extLst>
              <a:ext uri="{FF2B5EF4-FFF2-40B4-BE49-F238E27FC236}">
                <a16:creationId xmlns:a16="http://schemas.microsoft.com/office/drawing/2014/main" id="{3E9DD95B-77F1-4B72-DA7A-5793BAA3FD62}"/>
              </a:ext>
            </a:extLst>
          </p:cNvPr>
          <p:cNvCxnSpPr>
            <a:stCxn id="1244" idx="0"/>
          </p:cNvCxnSpPr>
          <p:nvPr/>
        </p:nvCxnSpPr>
        <p:spPr bwMode="auto">
          <a:xfrm rot="5400000" flipH="1" flipV="1">
            <a:off x="4767175" y="2788631"/>
            <a:ext cx="1215322" cy="186928"/>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47" name="Rounded Rectangle 1">
            <a:extLst>
              <a:ext uri="{FF2B5EF4-FFF2-40B4-BE49-F238E27FC236}">
                <a16:creationId xmlns:a16="http://schemas.microsoft.com/office/drawing/2014/main" id="{BECB1363-EB65-9D5A-0309-B86A22179E0F}"/>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21B907FC-F754-6A02-0E6D-17CC7922B877}"/>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lang="es-ES" sz="1600" b="1" kern="0">
                <a:solidFill>
                  <a:srgbClr val="E0D399">
                    <a:lumMod val="75000"/>
                  </a:srgbClr>
                </a:solidFill>
                <a:latin typeface="Segoe UI Light"/>
              </a:rPr>
              <a:t>Proceso Diario Rentabilidad: Diagrama de Flujos de Información</a:t>
            </a: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9247" name="Rectangle 9246">
            <a:extLst>
              <a:ext uri="{FF2B5EF4-FFF2-40B4-BE49-F238E27FC236}">
                <a16:creationId xmlns:a16="http://schemas.microsoft.com/office/drawing/2014/main" id="{D151AE9F-3F86-243B-367C-394D0FE7E5AA}"/>
              </a:ext>
            </a:extLst>
          </p:cNvPr>
          <p:cNvSpPr/>
          <p:nvPr/>
        </p:nvSpPr>
        <p:spPr bwMode="auto">
          <a:xfrm>
            <a:off x="4038028" y="3479697"/>
            <a:ext cx="2514806" cy="1045049"/>
          </a:xfrm>
          <a:prstGeom prst="rect">
            <a:avLst/>
          </a:prstGeom>
          <a:noFill/>
          <a:ln w="9525">
            <a:noFill/>
            <a:round/>
          </a:ln>
        </p:spPr>
        <p:txBody>
          <a:bodyPr wrap="square" rtlCol="0" anchor="ctr">
            <a:noAutofit/>
          </a:bodyPr>
          <a:lstStyle/>
          <a:p>
            <a:pPr algn="ctr"/>
            <a:endParaRPr lang="es-ES_tradnl" sz="800" b="1">
              <a:latin typeface="Arial" pitchFamily="34" charset="0"/>
              <a:cs typeface="Arial" pitchFamily="34" charset="0"/>
            </a:endParaRPr>
          </a:p>
        </p:txBody>
      </p:sp>
      <p:grpSp>
        <p:nvGrpSpPr>
          <p:cNvPr id="9274" name="Group 9273">
            <a:extLst>
              <a:ext uri="{FF2B5EF4-FFF2-40B4-BE49-F238E27FC236}">
                <a16:creationId xmlns:a16="http://schemas.microsoft.com/office/drawing/2014/main" id="{AAFA3C30-0B7B-D7AE-B43E-00E6B6B0A36A}"/>
              </a:ext>
            </a:extLst>
          </p:cNvPr>
          <p:cNvGrpSpPr/>
          <p:nvPr/>
        </p:nvGrpSpPr>
        <p:grpSpPr>
          <a:xfrm>
            <a:off x="1208690" y="3250961"/>
            <a:ext cx="1295547" cy="1718424"/>
            <a:chOff x="1208690" y="1042337"/>
            <a:chExt cx="1295547" cy="1718424"/>
          </a:xfrm>
        </p:grpSpPr>
        <p:grpSp>
          <p:nvGrpSpPr>
            <p:cNvPr id="9260" name="Group 9259">
              <a:extLst>
                <a:ext uri="{FF2B5EF4-FFF2-40B4-BE49-F238E27FC236}">
                  <a16:creationId xmlns:a16="http://schemas.microsoft.com/office/drawing/2014/main" id="{E4E27EE2-5826-94DF-DF39-386E1D54560A}"/>
                </a:ext>
              </a:extLst>
            </p:cNvPr>
            <p:cNvGrpSpPr/>
            <p:nvPr/>
          </p:nvGrpSpPr>
          <p:grpSpPr>
            <a:xfrm>
              <a:off x="1312643" y="1310565"/>
              <a:ext cx="1080000" cy="1411539"/>
              <a:chOff x="1312643" y="1047807"/>
              <a:chExt cx="1080000" cy="1411539"/>
            </a:xfrm>
          </p:grpSpPr>
          <p:sp>
            <p:nvSpPr>
              <p:cNvPr id="9244" name="Rectangle 9243">
                <a:extLst>
                  <a:ext uri="{FF2B5EF4-FFF2-40B4-BE49-F238E27FC236}">
                    <a16:creationId xmlns:a16="http://schemas.microsoft.com/office/drawing/2014/main" id="{9004FBB6-6362-DA30-89C4-8EC0DFB5223A}"/>
                  </a:ext>
                </a:extLst>
              </p:cNvPr>
              <p:cNvSpPr/>
              <p:nvPr/>
            </p:nvSpPr>
            <p:spPr bwMode="auto">
              <a:xfrm>
                <a:off x="1312643" y="1047807"/>
                <a:ext cx="1080000" cy="180000"/>
              </a:xfrm>
              <a:prstGeom prst="rect">
                <a:avLst/>
              </a:prstGeom>
              <a:solidFill>
                <a:schemeClr val="bg1">
                  <a:lumMod val="85000"/>
                </a:schemeClr>
              </a:solidFill>
              <a:ln w="9525">
                <a:noFill/>
                <a:round/>
              </a:ln>
            </p:spPr>
            <p:txBody>
              <a:bodyPr wrap="none" rtlCol="0" anchor="ctr">
                <a:noAutofit/>
              </a:bodyPr>
              <a:lstStyle/>
              <a:p>
                <a:r>
                  <a:rPr lang="es-ES_tradnl" sz="600" b="1">
                    <a:latin typeface="Arial" pitchFamily="34" charset="0"/>
                    <a:cs typeface="Arial" pitchFamily="34" charset="0"/>
                  </a:rPr>
                  <a:t>DIM_CUENTA_CONT</a:t>
                </a:r>
              </a:p>
            </p:txBody>
          </p:sp>
          <p:sp>
            <p:nvSpPr>
              <p:cNvPr id="9249" name="TextBox 9248">
                <a:extLst>
                  <a:ext uri="{FF2B5EF4-FFF2-40B4-BE49-F238E27FC236}">
                    <a16:creationId xmlns:a16="http://schemas.microsoft.com/office/drawing/2014/main" id="{C0932CC5-4C67-860F-5957-91F508703DC3}"/>
                  </a:ext>
                </a:extLst>
              </p:cNvPr>
              <p:cNvSpPr txBox="1"/>
              <p:nvPr/>
            </p:nvSpPr>
            <p:spPr>
              <a:xfrm>
                <a:off x="1312643" y="1250709"/>
                <a:ext cx="1080000" cy="180000"/>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700" b="1">
                    <a:latin typeface="Arial" pitchFamily="34" charset="0"/>
                    <a:cs typeface="Arial" pitchFamily="34" charset="0"/>
                  </a:defRPr>
                </a:lvl1pPr>
              </a:lstStyle>
              <a:p>
                <a:pPr algn="l"/>
                <a:r>
                  <a:rPr lang="es-ES_tradnl" sz="600"/>
                  <a:t>DIM_TIENDA</a:t>
                </a:r>
              </a:p>
            </p:txBody>
          </p:sp>
          <p:sp>
            <p:nvSpPr>
              <p:cNvPr id="9251" name="TextBox 9250">
                <a:extLst>
                  <a:ext uri="{FF2B5EF4-FFF2-40B4-BE49-F238E27FC236}">
                    <a16:creationId xmlns:a16="http://schemas.microsoft.com/office/drawing/2014/main" id="{0027E7AE-ABEB-EA9E-308F-B3C540F44C54}"/>
                  </a:ext>
                </a:extLst>
              </p:cNvPr>
              <p:cNvSpPr txBox="1"/>
              <p:nvPr/>
            </p:nvSpPr>
            <p:spPr>
              <a:xfrm>
                <a:off x="1312643" y="1453611"/>
                <a:ext cx="1080000" cy="180000"/>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700" b="1">
                    <a:latin typeface="Arial" pitchFamily="34" charset="0"/>
                    <a:cs typeface="Arial" pitchFamily="34" charset="0"/>
                  </a:defRPr>
                </a:lvl1pPr>
              </a:lstStyle>
              <a:p>
                <a:pPr algn="l"/>
                <a:r>
                  <a:rPr lang="es-ES_tradnl" sz="600"/>
                  <a:t>DIM_CENTRO_CONTABLE</a:t>
                </a:r>
              </a:p>
            </p:txBody>
          </p:sp>
          <p:sp>
            <p:nvSpPr>
              <p:cNvPr id="9253" name="TextBox 9252">
                <a:extLst>
                  <a:ext uri="{FF2B5EF4-FFF2-40B4-BE49-F238E27FC236}">
                    <a16:creationId xmlns:a16="http://schemas.microsoft.com/office/drawing/2014/main" id="{D404221C-1E90-EC1F-2091-22148EE755D8}"/>
                  </a:ext>
                </a:extLst>
              </p:cNvPr>
              <p:cNvSpPr txBox="1"/>
              <p:nvPr/>
            </p:nvSpPr>
            <p:spPr>
              <a:xfrm>
                <a:off x="1312643" y="1656513"/>
                <a:ext cx="1080000" cy="180000"/>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700" b="1">
                    <a:latin typeface="Arial" pitchFamily="34" charset="0"/>
                    <a:cs typeface="Arial" pitchFamily="34" charset="0"/>
                  </a:defRPr>
                </a:lvl1pPr>
              </a:lstStyle>
              <a:p>
                <a:pPr algn="l"/>
                <a:r>
                  <a:rPr lang="es-ES_tradnl" sz="600"/>
                  <a:t>DIM_SEGMENTO</a:t>
                </a:r>
              </a:p>
            </p:txBody>
          </p:sp>
          <p:sp>
            <p:nvSpPr>
              <p:cNvPr id="9256" name="TextBox 9255">
                <a:extLst>
                  <a:ext uri="{FF2B5EF4-FFF2-40B4-BE49-F238E27FC236}">
                    <a16:creationId xmlns:a16="http://schemas.microsoft.com/office/drawing/2014/main" id="{D49DCAE3-4F0C-C473-4531-8E4E86B710FC}"/>
                  </a:ext>
                </a:extLst>
              </p:cNvPr>
              <p:cNvSpPr txBox="1"/>
              <p:nvPr/>
            </p:nvSpPr>
            <p:spPr>
              <a:xfrm>
                <a:off x="1312643" y="1859415"/>
                <a:ext cx="1080000" cy="180000"/>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700" b="1">
                    <a:latin typeface="Arial" pitchFamily="34" charset="0"/>
                    <a:cs typeface="Arial" pitchFamily="34" charset="0"/>
                  </a:defRPr>
                </a:lvl1pPr>
              </a:lstStyle>
              <a:p>
                <a:pPr algn="l"/>
                <a:r>
                  <a:rPr lang="es-ES_tradnl" sz="600"/>
                  <a:t>DIM_AGRP_CONTABLE</a:t>
                </a:r>
              </a:p>
            </p:txBody>
          </p:sp>
          <p:sp>
            <p:nvSpPr>
              <p:cNvPr id="9258" name="TextBox 9257">
                <a:extLst>
                  <a:ext uri="{FF2B5EF4-FFF2-40B4-BE49-F238E27FC236}">
                    <a16:creationId xmlns:a16="http://schemas.microsoft.com/office/drawing/2014/main" id="{28F7B6B0-678D-0B94-8624-D3E7D301A973}"/>
                  </a:ext>
                </a:extLst>
              </p:cNvPr>
              <p:cNvSpPr txBox="1"/>
              <p:nvPr/>
            </p:nvSpPr>
            <p:spPr>
              <a:xfrm>
                <a:off x="1312643" y="2062318"/>
                <a:ext cx="1080000" cy="180000"/>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700" b="1">
                    <a:latin typeface="Arial" pitchFamily="34" charset="0"/>
                    <a:cs typeface="Arial" pitchFamily="34" charset="0"/>
                  </a:defRPr>
                </a:lvl1pPr>
              </a:lstStyle>
              <a:p>
                <a:pPr algn="l"/>
                <a:r>
                  <a:rPr lang="es-ES_tradnl" sz="600"/>
                  <a:t>DIM_CUENTA_CONT_IFRS</a:t>
                </a:r>
              </a:p>
            </p:txBody>
          </p:sp>
          <p:sp>
            <p:nvSpPr>
              <p:cNvPr id="9259" name="TextBox 9258">
                <a:extLst>
                  <a:ext uri="{FF2B5EF4-FFF2-40B4-BE49-F238E27FC236}">
                    <a16:creationId xmlns:a16="http://schemas.microsoft.com/office/drawing/2014/main" id="{44ED2681-0BE7-5F4A-1929-B5AA276C213A}"/>
                  </a:ext>
                </a:extLst>
              </p:cNvPr>
              <p:cNvSpPr txBox="1"/>
              <p:nvPr/>
            </p:nvSpPr>
            <p:spPr>
              <a:xfrm>
                <a:off x="1312643" y="2279346"/>
                <a:ext cx="1080000" cy="180000"/>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700" b="1">
                    <a:latin typeface="Arial" pitchFamily="34" charset="0"/>
                    <a:cs typeface="Arial" pitchFamily="34" charset="0"/>
                  </a:defRPr>
                </a:lvl1pPr>
              </a:lstStyle>
              <a:p>
                <a:pPr algn="l"/>
                <a:r>
                  <a:rPr lang="es-ES_tradnl" sz="600"/>
                  <a:t>…………</a:t>
                </a:r>
              </a:p>
            </p:txBody>
          </p:sp>
        </p:grpSp>
        <p:sp>
          <p:nvSpPr>
            <p:cNvPr id="9261" name="Rectangle 9260">
              <a:extLst>
                <a:ext uri="{FF2B5EF4-FFF2-40B4-BE49-F238E27FC236}">
                  <a16:creationId xmlns:a16="http://schemas.microsoft.com/office/drawing/2014/main" id="{E9F9B1BD-0777-D477-A74E-386B357309D1}"/>
                </a:ext>
              </a:extLst>
            </p:cNvPr>
            <p:cNvSpPr/>
            <p:nvPr/>
          </p:nvSpPr>
          <p:spPr bwMode="auto">
            <a:xfrm>
              <a:off x="1208690" y="1257781"/>
              <a:ext cx="1261242" cy="1502980"/>
            </a:xfrm>
            <a:prstGeom prst="rect">
              <a:avLst/>
            </a:prstGeom>
            <a:noFill/>
            <a:ln w="9525">
              <a:solidFill>
                <a:schemeClr val="tx1"/>
              </a:solidFill>
              <a:round/>
            </a:ln>
          </p:spPr>
          <p:txBody>
            <a:bodyPr wrap="square" rtlCol="0" anchor="ctr">
              <a:spAutoFit/>
            </a:bodyPr>
            <a:lstStyle/>
            <a:p>
              <a:pPr algn="ctr"/>
              <a:endParaRPr lang="es-ES_tradnl"/>
            </a:p>
          </p:txBody>
        </p:sp>
        <p:sp>
          <p:nvSpPr>
            <p:cNvPr id="9262" name="TextBox 9261">
              <a:extLst>
                <a:ext uri="{FF2B5EF4-FFF2-40B4-BE49-F238E27FC236}">
                  <a16:creationId xmlns:a16="http://schemas.microsoft.com/office/drawing/2014/main" id="{EC6D858D-3A9F-C8F0-4A5C-E7646F8C882C}"/>
                </a:ext>
              </a:extLst>
            </p:cNvPr>
            <p:cNvSpPr txBox="1"/>
            <p:nvPr/>
          </p:nvSpPr>
          <p:spPr>
            <a:xfrm>
              <a:off x="1208690" y="1042337"/>
              <a:ext cx="1295547" cy="215444"/>
            </a:xfrm>
            <a:prstGeom prst="rect">
              <a:avLst/>
            </a:prstGeom>
            <a:noFill/>
          </p:spPr>
          <p:txBody>
            <a:bodyPr wrap="none" rtlCol="0">
              <a:spAutoFit/>
            </a:bodyPr>
            <a:lstStyle/>
            <a:p>
              <a:r>
                <a:rPr lang="es-ES_tradnl" sz="800" b="1">
                  <a:latin typeface="Arial" pitchFamily="34" charset="0"/>
                  <a:cs typeface="Arial" pitchFamily="34" charset="0"/>
                </a:rPr>
                <a:t>Carga de Dimensiones</a:t>
              </a:r>
            </a:p>
          </p:txBody>
        </p:sp>
      </p:grpSp>
      <p:grpSp>
        <p:nvGrpSpPr>
          <p:cNvPr id="9275" name="Group 9274">
            <a:extLst>
              <a:ext uri="{FF2B5EF4-FFF2-40B4-BE49-F238E27FC236}">
                <a16:creationId xmlns:a16="http://schemas.microsoft.com/office/drawing/2014/main" id="{62A214B3-CD68-1FC4-8EA2-12A3DD140DFA}"/>
              </a:ext>
            </a:extLst>
          </p:cNvPr>
          <p:cNvGrpSpPr/>
          <p:nvPr/>
        </p:nvGrpSpPr>
        <p:grpSpPr>
          <a:xfrm>
            <a:off x="2598661" y="3272860"/>
            <a:ext cx="1261242" cy="739258"/>
            <a:chOff x="1208690" y="2879387"/>
            <a:chExt cx="1261242" cy="739258"/>
          </a:xfrm>
        </p:grpSpPr>
        <p:sp>
          <p:nvSpPr>
            <p:cNvPr id="9243" name="Rectangle 9242">
              <a:extLst>
                <a:ext uri="{FF2B5EF4-FFF2-40B4-BE49-F238E27FC236}">
                  <a16:creationId xmlns:a16="http://schemas.microsoft.com/office/drawing/2014/main" id="{8D433DB6-5711-64D8-9BE3-17A8346BF2F6}"/>
                </a:ext>
              </a:extLst>
            </p:cNvPr>
            <p:cNvSpPr/>
            <p:nvPr/>
          </p:nvSpPr>
          <p:spPr bwMode="auto">
            <a:xfrm>
              <a:off x="1299311" y="3152259"/>
              <a:ext cx="1080000" cy="180000"/>
            </a:xfrm>
            <a:prstGeom prst="rect">
              <a:avLst/>
            </a:prstGeom>
            <a:solidFill>
              <a:schemeClr val="bg1">
                <a:lumMod val="85000"/>
              </a:schemeClr>
            </a:solidFill>
            <a:ln w="9525">
              <a:noFill/>
              <a:round/>
            </a:ln>
          </p:spPr>
          <p:txBody>
            <a:bodyPr wrap="none" rtlCol="0" anchor="ctr">
              <a:noAutofit/>
            </a:bodyPr>
            <a:lstStyle/>
            <a:p>
              <a:pPr algn="ctr"/>
              <a:r>
                <a:rPr lang="es-ES_tradnl" sz="600" b="1">
                  <a:latin typeface="Arial" pitchFamily="34" charset="0"/>
                  <a:cs typeface="Arial" pitchFamily="34" charset="0"/>
                </a:rPr>
                <a:t>DT_CLIENTE_DIA</a:t>
              </a:r>
            </a:p>
          </p:txBody>
        </p:sp>
        <p:sp>
          <p:nvSpPr>
            <p:cNvPr id="9271" name="TextBox 9270">
              <a:extLst>
                <a:ext uri="{FF2B5EF4-FFF2-40B4-BE49-F238E27FC236}">
                  <a16:creationId xmlns:a16="http://schemas.microsoft.com/office/drawing/2014/main" id="{3AF80066-5877-6A50-39DA-059AA0D7B566}"/>
                </a:ext>
              </a:extLst>
            </p:cNvPr>
            <p:cNvSpPr txBox="1"/>
            <p:nvPr/>
          </p:nvSpPr>
          <p:spPr>
            <a:xfrm>
              <a:off x="1299311" y="3389687"/>
              <a:ext cx="1080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DIM_PERSONA</a:t>
              </a:r>
            </a:p>
          </p:txBody>
        </p:sp>
        <p:sp>
          <p:nvSpPr>
            <p:cNvPr id="9272" name="Rectangle 9271">
              <a:extLst>
                <a:ext uri="{FF2B5EF4-FFF2-40B4-BE49-F238E27FC236}">
                  <a16:creationId xmlns:a16="http://schemas.microsoft.com/office/drawing/2014/main" id="{D7A03F7C-9F83-59C5-2EDA-50CB7740B322}"/>
                </a:ext>
              </a:extLst>
            </p:cNvPr>
            <p:cNvSpPr/>
            <p:nvPr/>
          </p:nvSpPr>
          <p:spPr bwMode="auto">
            <a:xfrm>
              <a:off x="1208690" y="3068481"/>
              <a:ext cx="1261242" cy="550164"/>
            </a:xfrm>
            <a:prstGeom prst="rect">
              <a:avLst/>
            </a:prstGeom>
            <a:noFill/>
            <a:ln w="9525">
              <a:solidFill>
                <a:schemeClr val="tx1"/>
              </a:solidFill>
              <a:round/>
            </a:ln>
          </p:spPr>
          <p:txBody>
            <a:bodyPr wrap="square" rtlCol="0" anchor="ctr">
              <a:noAutofit/>
            </a:bodyPr>
            <a:lstStyle/>
            <a:p>
              <a:pPr algn="ctr"/>
              <a:endParaRPr lang="es-ES_tradnl"/>
            </a:p>
          </p:txBody>
        </p:sp>
        <p:sp>
          <p:nvSpPr>
            <p:cNvPr id="9273" name="TextBox 9272">
              <a:extLst>
                <a:ext uri="{FF2B5EF4-FFF2-40B4-BE49-F238E27FC236}">
                  <a16:creationId xmlns:a16="http://schemas.microsoft.com/office/drawing/2014/main" id="{00E55E3B-9426-8839-4A76-8364B95D29B1}"/>
                </a:ext>
              </a:extLst>
            </p:cNvPr>
            <p:cNvSpPr txBox="1"/>
            <p:nvPr/>
          </p:nvSpPr>
          <p:spPr>
            <a:xfrm>
              <a:off x="1299311" y="2879387"/>
              <a:ext cx="1055097" cy="215444"/>
            </a:xfrm>
            <a:prstGeom prst="rect">
              <a:avLst/>
            </a:prstGeom>
            <a:noFill/>
          </p:spPr>
          <p:txBody>
            <a:bodyPr wrap="none" rtlCol="0">
              <a:spAutoFit/>
            </a:bodyPr>
            <a:lstStyle/>
            <a:p>
              <a:r>
                <a:rPr lang="es-ES_tradnl" sz="800" b="1">
                  <a:latin typeface="Arial" pitchFamily="34" charset="0"/>
                  <a:cs typeface="Arial" pitchFamily="34" charset="0"/>
                </a:rPr>
                <a:t>Carga de Clientes</a:t>
              </a:r>
            </a:p>
          </p:txBody>
        </p:sp>
      </p:grpSp>
      <p:sp>
        <p:nvSpPr>
          <p:cNvPr id="1231" name="TextBox 1230">
            <a:extLst>
              <a:ext uri="{FF2B5EF4-FFF2-40B4-BE49-F238E27FC236}">
                <a16:creationId xmlns:a16="http://schemas.microsoft.com/office/drawing/2014/main" id="{87FB5548-6498-3FBE-8287-5F0097CDD42F}"/>
              </a:ext>
            </a:extLst>
          </p:cNvPr>
          <p:cNvSpPr txBox="1"/>
          <p:nvPr/>
        </p:nvSpPr>
        <p:spPr>
          <a:xfrm>
            <a:off x="9761925" y="3577262"/>
            <a:ext cx="1506196" cy="1602331"/>
          </a:xfrm>
          <a:prstGeom prst="rect">
            <a:avLst/>
          </a:prstGeom>
          <a:solidFill>
            <a:schemeClr val="bg1">
              <a:lumMod val="85000"/>
            </a:schemeClr>
          </a:solidFill>
          <a:ln w="9525">
            <a:solidFill>
              <a:schemeClr val="tx2"/>
            </a:solid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sz="800"/>
              <a:t>FACT_RENTABILIDAD_DIA</a:t>
            </a:r>
          </a:p>
        </p:txBody>
      </p:sp>
      <p:grpSp>
        <p:nvGrpSpPr>
          <p:cNvPr id="1245" name="Group 1244">
            <a:extLst>
              <a:ext uri="{FF2B5EF4-FFF2-40B4-BE49-F238E27FC236}">
                <a16:creationId xmlns:a16="http://schemas.microsoft.com/office/drawing/2014/main" id="{BD373FCB-18AD-BC55-0697-DBB36A37932C}"/>
              </a:ext>
            </a:extLst>
          </p:cNvPr>
          <p:cNvGrpSpPr/>
          <p:nvPr/>
        </p:nvGrpSpPr>
        <p:grpSpPr>
          <a:xfrm>
            <a:off x="4023969" y="3202697"/>
            <a:ext cx="2514805" cy="1316394"/>
            <a:chOff x="4360296" y="888967"/>
            <a:chExt cx="2514805" cy="1316394"/>
          </a:xfrm>
        </p:grpSpPr>
        <p:sp>
          <p:nvSpPr>
            <p:cNvPr id="1225" name="TextBox 1224">
              <a:extLst>
                <a:ext uri="{FF2B5EF4-FFF2-40B4-BE49-F238E27FC236}">
                  <a16:creationId xmlns:a16="http://schemas.microsoft.com/office/drawing/2014/main" id="{B8A9ED2C-FC3C-A13B-6126-36D48FF649C1}"/>
                </a:ext>
              </a:extLst>
            </p:cNvPr>
            <p:cNvSpPr txBox="1"/>
            <p:nvPr/>
          </p:nvSpPr>
          <p:spPr>
            <a:xfrm>
              <a:off x="5617698" y="1274404"/>
              <a:ext cx="1224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FACT_SALDOS_OPER_DIA</a:t>
              </a:r>
            </a:p>
          </p:txBody>
        </p:sp>
        <p:sp>
          <p:nvSpPr>
            <p:cNvPr id="1235" name="Rectangle 1234">
              <a:extLst>
                <a:ext uri="{FF2B5EF4-FFF2-40B4-BE49-F238E27FC236}">
                  <a16:creationId xmlns:a16="http://schemas.microsoft.com/office/drawing/2014/main" id="{FDA86B21-F23C-94FF-E312-9C116686164C}"/>
                </a:ext>
              </a:extLst>
            </p:cNvPr>
            <p:cNvSpPr/>
            <p:nvPr/>
          </p:nvSpPr>
          <p:spPr bwMode="auto">
            <a:xfrm>
              <a:off x="4429490" y="1651480"/>
              <a:ext cx="1024640" cy="215444"/>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T_APRRINT_XXX</a:t>
              </a:r>
            </a:p>
          </p:txBody>
        </p:sp>
        <p:sp>
          <p:nvSpPr>
            <p:cNvPr id="1236" name="Rectangle 1235">
              <a:extLst>
                <a:ext uri="{FF2B5EF4-FFF2-40B4-BE49-F238E27FC236}">
                  <a16:creationId xmlns:a16="http://schemas.microsoft.com/office/drawing/2014/main" id="{E36144A3-DCEA-C860-322F-8DD165CCA374}"/>
                </a:ext>
              </a:extLst>
            </p:cNvPr>
            <p:cNvSpPr/>
            <p:nvPr/>
          </p:nvSpPr>
          <p:spPr bwMode="auto">
            <a:xfrm>
              <a:off x="5617698" y="1651480"/>
              <a:ext cx="1188000" cy="215444"/>
            </a:xfrm>
            <a:prstGeom prst="rect">
              <a:avLst/>
            </a:prstGeom>
            <a:solidFill>
              <a:schemeClr val="bg1">
                <a:lumMod val="85000"/>
              </a:schemeClr>
            </a:solidFill>
            <a:ln w="9525">
              <a:noFill/>
              <a:round/>
            </a:ln>
          </p:spPr>
          <p:txBody>
            <a:bodyPr wrap="none" rtlCol="0" anchor="ctr">
              <a:noAutofit/>
            </a:bodyPr>
            <a:lstStyle/>
            <a:p>
              <a:pPr algn="ctr"/>
              <a:r>
                <a:rPr lang="es-ES_tradnl" sz="600" b="1">
                  <a:latin typeface="Arial" pitchFamily="34" charset="0"/>
                  <a:cs typeface="Arial" pitchFamily="34" charset="0"/>
                </a:rPr>
                <a:t>DIM_CONTRATO</a:t>
              </a:r>
            </a:p>
          </p:txBody>
        </p:sp>
        <p:sp>
          <p:nvSpPr>
            <p:cNvPr id="1237" name="Rectangle 1236">
              <a:extLst>
                <a:ext uri="{FF2B5EF4-FFF2-40B4-BE49-F238E27FC236}">
                  <a16:creationId xmlns:a16="http://schemas.microsoft.com/office/drawing/2014/main" id="{57199015-1C20-9B76-D308-B1F1DA440DF0}"/>
                </a:ext>
              </a:extLst>
            </p:cNvPr>
            <p:cNvSpPr/>
            <p:nvPr/>
          </p:nvSpPr>
          <p:spPr bwMode="auto">
            <a:xfrm>
              <a:off x="5617698" y="1915149"/>
              <a:ext cx="1188000" cy="215444"/>
            </a:xfrm>
            <a:prstGeom prst="rect">
              <a:avLst/>
            </a:prstGeom>
            <a:solidFill>
              <a:schemeClr val="bg1">
                <a:lumMod val="85000"/>
              </a:schemeClr>
            </a:solidFill>
            <a:ln w="9525">
              <a:noFill/>
              <a:round/>
            </a:ln>
          </p:spPr>
          <p:txBody>
            <a:bodyPr wrap="none" rtlCol="0" anchor="ctr">
              <a:noAutofit/>
            </a:bodyPr>
            <a:lstStyle/>
            <a:p>
              <a:pPr algn="ctr"/>
              <a:r>
                <a:rPr lang="es-ES_tradnl" sz="600" b="1">
                  <a:latin typeface="Arial" pitchFamily="34" charset="0"/>
                  <a:cs typeface="Arial" pitchFamily="34" charset="0"/>
                </a:rPr>
                <a:t>DT_CONTRATO_DIA</a:t>
              </a:r>
            </a:p>
          </p:txBody>
        </p:sp>
        <p:sp>
          <p:nvSpPr>
            <p:cNvPr id="1244" name="Rectangle 1243">
              <a:extLst>
                <a:ext uri="{FF2B5EF4-FFF2-40B4-BE49-F238E27FC236}">
                  <a16:creationId xmlns:a16="http://schemas.microsoft.com/office/drawing/2014/main" id="{943585D4-BDB9-847D-44B3-333E78EB1B2E}"/>
                </a:ext>
              </a:extLst>
            </p:cNvPr>
            <p:cNvSpPr/>
            <p:nvPr/>
          </p:nvSpPr>
          <p:spPr bwMode="auto">
            <a:xfrm>
              <a:off x="4360296" y="1176026"/>
              <a:ext cx="2514805" cy="1029335"/>
            </a:xfrm>
            <a:prstGeom prst="rect">
              <a:avLst/>
            </a:prstGeom>
            <a:noFill/>
            <a:ln w="9525">
              <a:solidFill>
                <a:schemeClr val="tx1"/>
              </a:solidFill>
              <a:round/>
            </a:ln>
          </p:spPr>
          <p:txBody>
            <a:bodyPr wrap="square" rtlCol="0" anchor="ctr">
              <a:noAutofit/>
            </a:bodyPr>
            <a:lstStyle/>
            <a:p>
              <a:pPr algn="ctr"/>
              <a:endParaRPr lang="es-ES_tradnl"/>
            </a:p>
          </p:txBody>
        </p:sp>
        <p:sp>
          <p:nvSpPr>
            <p:cNvPr id="1243" name="TextBox 1242">
              <a:extLst>
                <a:ext uri="{FF2B5EF4-FFF2-40B4-BE49-F238E27FC236}">
                  <a16:creationId xmlns:a16="http://schemas.microsoft.com/office/drawing/2014/main" id="{A7AA3C04-950E-1404-F845-ABFAE3582D35}"/>
                </a:ext>
              </a:extLst>
            </p:cNvPr>
            <p:cNvSpPr txBox="1"/>
            <p:nvPr/>
          </p:nvSpPr>
          <p:spPr>
            <a:xfrm>
              <a:off x="4577734" y="888967"/>
              <a:ext cx="1883849" cy="215444"/>
            </a:xfrm>
            <a:prstGeom prst="rect">
              <a:avLst/>
            </a:prstGeom>
            <a:solidFill>
              <a:schemeClr val="bg1"/>
            </a:solidFill>
          </p:spPr>
          <p:txBody>
            <a:bodyPr wrap="none" rtlCol="0">
              <a:spAutoFit/>
            </a:bodyPr>
            <a:lstStyle/>
            <a:p>
              <a:r>
                <a:rPr lang="es-ES_tradnl" sz="800" b="1">
                  <a:latin typeface="Arial" pitchFamily="34" charset="0"/>
                  <a:cs typeface="Arial" pitchFamily="34" charset="0"/>
                </a:rPr>
                <a:t>Carga de Saldos / Contratos Diario</a:t>
              </a:r>
            </a:p>
          </p:txBody>
        </p:sp>
      </p:grpSp>
      <p:grpSp>
        <p:nvGrpSpPr>
          <p:cNvPr id="1263" name="Group 1262">
            <a:extLst>
              <a:ext uri="{FF2B5EF4-FFF2-40B4-BE49-F238E27FC236}">
                <a16:creationId xmlns:a16="http://schemas.microsoft.com/office/drawing/2014/main" id="{5853E2BF-E8D6-EBA2-12AC-9F267F639D76}"/>
              </a:ext>
            </a:extLst>
          </p:cNvPr>
          <p:cNvGrpSpPr/>
          <p:nvPr/>
        </p:nvGrpSpPr>
        <p:grpSpPr>
          <a:xfrm>
            <a:off x="4023969" y="4594753"/>
            <a:ext cx="2459016" cy="553310"/>
            <a:chOff x="4360296" y="2270512"/>
            <a:chExt cx="2459016" cy="553310"/>
          </a:xfrm>
        </p:grpSpPr>
        <p:sp>
          <p:nvSpPr>
            <p:cNvPr id="1252" name="TextBox 1251">
              <a:extLst>
                <a:ext uri="{FF2B5EF4-FFF2-40B4-BE49-F238E27FC236}">
                  <a16:creationId xmlns:a16="http://schemas.microsoft.com/office/drawing/2014/main" id="{6049F056-B267-C012-12D6-47AAE3074A99}"/>
                </a:ext>
              </a:extLst>
            </p:cNvPr>
            <p:cNvSpPr txBox="1"/>
            <p:nvPr/>
          </p:nvSpPr>
          <p:spPr>
            <a:xfrm>
              <a:off x="5545697" y="2568136"/>
              <a:ext cx="1224000" cy="202232"/>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FACT_MOV_OPER_DIA</a:t>
              </a:r>
            </a:p>
          </p:txBody>
        </p:sp>
        <p:sp>
          <p:nvSpPr>
            <p:cNvPr id="1253" name="Rectangle 1252">
              <a:extLst>
                <a:ext uri="{FF2B5EF4-FFF2-40B4-BE49-F238E27FC236}">
                  <a16:creationId xmlns:a16="http://schemas.microsoft.com/office/drawing/2014/main" id="{8ECE195A-30BA-6E0C-42B4-EEC8876E02D1}"/>
                </a:ext>
              </a:extLst>
            </p:cNvPr>
            <p:cNvSpPr/>
            <p:nvPr/>
          </p:nvSpPr>
          <p:spPr bwMode="auto">
            <a:xfrm>
              <a:off x="4360296" y="2462726"/>
              <a:ext cx="2459016" cy="361096"/>
            </a:xfrm>
            <a:prstGeom prst="rect">
              <a:avLst/>
            </a:prstGeom>
            <a:noFill/>
            <a:ln w="9525">
              <a:solidFill>
                <a:schemeClr val="tx1"/>
              </a:solidFill>
              <a:round/>
            </a:ln>
          </p:spPr>
          <p:txBody>
            <a:bodyPr wrap="square" rtlCol="0" anchor="ctr">
              <a:noAutofit/>
            </a:bodyPr>
            <a:lstStyle/>
            <a:p>
              <a:pPr algn="ctr"/>
              <a:endParaRPr lang="es-ES_tradnl"/>
            </a:p>
          </p:txBody>
        </p:sp>
        <p:sp>
          <p:nvSpPr>
            <p:cNvPr id="1255" name="Rectangle 1254">
              <a:extLst>
                <a:ext uri="{FF2B5EF4-FFF2-40B4-BE49-F238E27FC236}">
                  <a16:creationId xmlns:a16="http://schemas.microsoft.com/office/drawing/2014/main" id="{92572A30-BCB8-BA96-D460-A500EC258310}"/>
                </a:ext>
              </a:extLst>
            </p:cNvPr>
            <p:cNvSpPr/>
            <p:nvPr/>
          </p:nvSpPr>
          <p:spPr bwMode="auto">
            <a:xfrm>
              <a:off x="4470365" y="2554924"/>
              <a:ext cx="942887" cy="215444"/>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INC_FMOVCON</a:t>
              </a:r>
            </a:p>
          </p:txBody>
        </p:sp>
        <p:sp>
          <p:nvSpPr>
            <p:cNvPr id="1257" name="TextBox 1256">
              <a:extLst>
                <a:ext uri="{FF2B5EF4-FFF2-40B4-BE49-F238E27FC236}">
                  <a16:creationId xmlns:a16="http://schemas.microsoft.com/office/drawing/2014/main" id="{E136606D-370F-1E4F-9E16-F3C6452581DC}"/>
                </a:ext>
              </a:extLst>
            </p:cNvPr>
            <p:cNvSpPr txBox="1"/>
            <p:nvPr/>
          </p:nvSpPr>
          <p:spPr>
            <a:xfrm>
              <a:off x="4647879" y="2270512"/>
              <a:ext cx="2021707" cy="215444"/>
            </a:xfrm>
            <a:prstGeom prst="rect">
              <a:avLst/>
            </a:prstGeom>
            <a:noFill/>
          </p:spPr>
          <p:txBody>
            <a:bodyPr wrap="none" rtlCol="0">
              <a:spAutoFit/>
            </a:bodyPr>
            <a:lstStyle/>
            <a:p>
              <a:r>
                <a:rPr lang="es-ES_tradnl" sz="800" b="1">
                  <a:latin typeface="Arial" pitchFamily="34" charset="0"/>
                  <a:cs typeface="Arial" pitchFamily="34" charset="0"/>
                </a:rPr>
                <a:t>Carga Movimientos Operativos Diario</a:t>
              </a:r>
            </a:p>
          </p:txBody>
        </p:sp>
      </p:grpSp>
      <p:grpSp>
        <p:nvGrpSpPr>
          <p:cNvPr id="1264" name="Group 1263">
            <a:extLst>
              <a:ext uri="{FF2B5EF4-FFF2-40B4-BE49-F238E27FC236}">
                <a16:creationId xmlns:a16="http://schemas.microsoft.com/office/drawing/2014/main" id="{E5E93EDC-6C04-8385-B96C-D60E7E332BC0}"/>
              </a:ext>
            </a:extLst>
          </p:cNvPr>
          <p:cNvGrpSpPr/>
          <p:nvPr/>
        </p:nvGrpSpPr>
        <p:grpSpPr>
          <a:xfrm>
            <a:off x="4051863" y="5472416"/>
            <a:ext cx="2459016" cy="569863"/>
            <a:chOff x="4366428" y="2910972"/>
            <a:chExt cx="2459016" cy="569863"/>
          </a:xfrm>
        </p:grpSpPr>
        <p:sp>
          <p:nvSpPr>
            <p:cNvPr id="1223" name="TextBox 1222">
              <a:extLst>
                <a:ext uri="{FF2B5EF4-FFF2-40B4-BE49-F238E27FC236}">
                  <a16:creationId xmlns:a16="http://schemas.microsoft.com/office/drawing/2014/main" id="{D072D2A7-1609-16AD-CFF7-176C2BC6B49F}"/>
                </a:ext>
              </a:extLst>
            </p:cNvPr>
            <p:cNvSpPr txBox="1"/>
            <p:nvPr/>
          </p:nvSpPr>
          <p:spPr>
            <a:xfrm>
              <a:off x="5545697" y="3205638"/>
              <a:ext cx="1224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FACT_SALDOS_CTB_DIA</a:t>
              </a:r>
            </a:p>
          </p:txBody>
        </p:sp>
        <p:sp>
          <p:nvSpPr>
            <p:cNvPr id="1258" name="Rectangle 1257">
              <a:extLst>
                <a:ext uri="{FF2B5EF4-FFF2-40B4-BE49-F238E27FC236}">
                  <a16:creationId xmlns:a16="http://schemas.microsoft.com/office/drawing/2014/main" id="{6D5A64FE-1149-AFC4-451B-70902913A3B3}"/>
                </a:ext>
              </a:extLst>
            </p:cNvPr>
            <p:cNvSpPr/>
            <p:nvPr/>
          </p:nvSpPr>
          <p:spPr bwMode="auto">
            <a:xfrm>
              <a:off x="4366428" y="3119739"/>
              <a:ext cx="2459016" cy="361096"/>
            </a:xfrm>
            <a:prstGeom prst="rect">
              <a:avLst/>
            </a:prstGeom>
            <a:noFill/>
            <a:ln w="9525">
              <a:solidFill>
                <a:schemeClr val="tx1"/>
              </a:solidFill>
              <a:round/>
            </a:ln>
          </p:spPr>
          <p:txBody>
            <a:bodyPr wrap="square" rtlCol="0" anchor="ctr">
              <a:noAutofit/>
            </a:bodyPr>
            <a:lstStyle/>
            <a:p>
              <a:pPr algn="ctr"/>
              <a:endParaRPr lang="es-ES_tradnl"/>
            </a:p>
          </p:txBody>
        </p:sp>
        <p:sp>
          <p:nvSpPr>
            <p:cNvPr id="1259" name="TextBox 1258">
              <a:extLst>
                <a:ext uri="{FF2B5EF4-FFF2-40B4-BE49-F238E27FC236}">
                  <a16:creationId xmlns:a16="http://schemas.microsoft.com/office/drawing/2014/main" id="{2CC27EEE-7E98-C223-F35E-9940C001DAD8}"/>
                </a:ext>
              </a:extLst>
            </p:cNvPr>
            <p:cNvSpPr txBox="1"/>
            <p:nvPr/>
          </p:nvSpPr>
          <p:spPr>
            <a:xfrm>
              <a:off x="4700754" y="2910972"/>
              <a:ext cx="1689886" cy="215444"/>
            </a:xfrm>
            <a:prstGeom prst="rect">
              <a:avLst/>
            </a:prstGeom>
            <a:noFill/>
          </p:spPr>
          <p:txBody>
            <a:bodyPr wrap="none" rtlCol="0">
              <a:spAutoFit/>
            </a:bodyPr>
            <a:lstStyle/>
            <a:p>
              <a:r>
                <a:rPr lang="es-ES_tradnl" sz="800" b="1">
                  <a:latin typeface="Arial" pitchFamily="34" charset="0"/>
                  <a:cs typeface="Arial" pitchFamily="34" charset="0"/>
                </a:rPr>
                <a:t>Carga Saldos Contables Diario</a:t>
              </a:r>
            </a:p>
          </p:txBody>
        </p:sp>
        <p:sp>
          <p:nvSpPr>
            <p:cNvPr id="1260" name="Rectangle 1259">
              <a:extLst>
                <a:ext uri="{FF2B5EF4-FFF2-40B4-BE49-F238E27FC236}">
                  <a16:creationId xmlns:a16="http://schemas.microsoft.com/office/drawing/2014/main" id="{31DCEFF2-3443-7B0C-1137-BBEE259B0976}"/>
                </a:ext>
              </a:extLst>
            </p:cNvPr>
            <p:cNvSpPr/>
            <p:nvPr/>
          </p:nvSpPr>
          <p:spPr bwMode="auto">
            <a:xfrm>
              <a:off x="4470364" y="3190249"/>
              <a:ext cx="942887" cy="200055"/>
            </a:xfrm>
            <a:prstGeom prst="rect">
              <a:avLst/>
            </a:prstGeom>
            <a:solidFill>
              <a:srgbClr val="92D050"/>
            </a:solidFill>
            <a:ln w="9525">
              <a:noFill/>
              <a:round/>
            </a:ln>
          </p:spPr>
          <p:txBody>
            <a:bodyPr wrap="none" rtlCol="0" anchor="ctr">
              <a:noAutofit/>
            </a:bodyPr>
            <a:lstStyle/>
            <a:p>
              <a:pPr algn="ctr"/>
              <a:endParaRPr lang="es-ES_tradnl" sz="800" b="1">
                <a:latin typeface="Arial" pitchFamily="34" charset="0"/>
                <a:cs typeface="Arial" pitchFamily="34" charset="0"/>
              </a:endParaRPr>
            </a:p>
          </p:txBody>
        </p:sp>
      </p:grpSp>
      <p:grpSp>
        <p:nvGrpSpPr>
          <p:cNvPr id="1265" name="Group 1264">
            <a:extLst>
              <a:ext uri="{FF2B5EF4-FFF2-40B4-BE49-F238E27FC236}">
                <a16:creationId xmlns:a16="http://schemas.microsoft.com/office/drawing/2014/main" id="{AEE2D339-879E-A7CB-05C6-02718D0053B7}"/>
              </a:ext>
            </a:extLst>
          </p:cNvPr>
          <p:cNvGrpSpPr/>
          <p:nvPr/>
        </p:nvGrpSpPr>
        <p:grpSpPr>
          <a:xfrm>
            <a:off x="9625585" y="5485932"/>
            <a:ext cx="1831998" cy="554177"/>
            <a:chOff x="7480168" y="2089097"/>
            <a:chExt cx="1831998" cy="554177"/>
          </a:xfrm>
        </p:grpSpPr>
        <p:sp>
          <p:nvSpPr>
            <p:cNvPr id="1227" name="TextBox 1226">
              <a:extLst>
                <a:ext uri="{FF2B5EF4-FFF2-40B4-BE49-F238E27FC236}">
                  <a16:creationId xmlns:a16="http://schemas.microsoft.com/office/drawing/2014/main" id="{1D9D9A7C-6742-2584-0DD3-C373CCDDA95F}"/>
                </a:ext>
              </a:extLst>
            </p:cNvPr>
            <p:cNvSpPr txBox="1"/>
            <p:nvPr/>
          </p:nvSpPr>
          <p:spPr>
            <a:xfrm>
              <a:off x="7782333" y="2369799"/>
              <a:ext cx="1224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FACT_CONCILIACION_DIA</a:t>
              </a:r>
            </a:p>
          </p:txBody>
        </p:sp>
        <p:sp>
          <p:nvSpPr>
            <p:cNvPr id="1261" name="Rectangle 1260">
              <a:extLst>
                <a:ext uri="{FF2B5EF4-FFF2-40B4-BE49-F238E27FC236}">
                  <a16:creationId xmlns:a16="http://schemas.microsoft.com/office/drawing/2014/main" id="{564A9F32-3127-A1E9-860A-F914CF62C84A}"/>
                </a:ext>
              </a:extLst>
            </p:cNvPr>
            <p:cNvSpPr/>
            <p:nvPr/>
          </p:nvSpPr>
          <p:spPr bwMode="auto">
            <a:xfrm>
              <a:off x="7480168" y="2282178"/>
              <a:ext cx="1831998" cy="361096"/>
            </a:xfrm>
            <a:prstGeom prst="rect">
              <a:avLst/>
            </a:prstGeom>
            <a:noFill/>
            <a:ln w="9525">
              <a:solidFill>
                <a:schemeClr val="tx1"/>
              </a:solidFill>
              <a:round/>
            </a:ln>
          </p:spPr>
          <p:txBody>
            <a:bodyPr wrap="square" rtlCol="0" anchor="ctr">
              <a:noAutofit/>
            </a:bodyPr>
            <a:lstStyle/>
            <a:p>
              <a:pPr algn="ctr"/>
              <a:endParaRPr lang="es-ES_tradnl"/>
            </a:p>
          </p:txBody>
        </p:sp>
        <p:sp>
          <p:nvSpPr>
            <p:cNvPr id="1262" name="TextBox 1261">
              <a:extLst>
                <a:ext uri="{FF2B5EF4-FFF2-40B4-BE49-F238E27FC236}">
                  <a16:creationId xmlns:a16="http://schemas.microsoft.com/office/drawing/2014/main" id="{E44AE609-B060-4F21-5EF5-A3E9574EDDA4}"/>
                </a:ext>
              </a:extLst>
            </p:cNvPr>
            <p:cNvSpPr txBox="1"/>
            <p:nvPr/>
          </p:nvSpPr>
          <p:spPr>
            <a:xfrm>
              <a:off x="7778827" y="2089097"/>
              <a:ext cx="1506197" cy="215444"/>
            </a:xfrm>
            <a:prstGeom prst="rect">
              <a:avLst/>
            </a:prstGeom>
            <a:noFill/>
          </p:spPr>
          <p:txBody>
            <a:bodyPr wrap="square" rtlCol="0">
              <a:spAutoFit/>
            </a:bodyPr>
            <a:lstStyle/>
            <a:p>
              <a:r>
                <a:rPr lang="es-ES_tradnl" sz="800" b="1">
                  <a:latin typeface="Arial" pitchFamily="34" charset="0"/>
                  <a:cs typeface="Arial" pitchFamily="34" charset="0"/>
                </a:rPr>
                <a:t>Conciliación Diaria</a:t>
              </a:r>
            </a:p>
          </p:txBody>
        </p:sp>
      </p:grpSp>
      <p:cxnSp>
        <p:nvCxnSpPr>
          <p:cNvPr id="1284" name="Straight Arrow Connector 1283">
            <a:extLst>
              <a:ext uri="{FF2B5EF4-FFF2-40B4-BE49-F238E27FC236}">
                <a16:creationId xmlns:a16="http://schemas.microsoft.com/office/drawing/2014/main" id="{F326AA20-571E-1D4A-B2E7-EC89ECA621BD}"/>
              </a:ext>
            </a:extLst>
          </p:cNvPr>
          <p:cNvCxnSpPr>
            <a:stCxn id="1223" idx="3"/>
            <a:endCxn id="1261" idx="1"/>
          </p:cNvCxnSpPr>
          <p:nvPr/>
        </p:nvCxnSpPr>
        <p:spPr bwMode="auto">
          <a:xfrm>
            <a:off x="6455132" y="5859415"/>
            <a:ext cx="3170453" cy="1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334" name="Group 1333">
            <a:extLst>
              <a:ext uri="{FF2B5EF4-FFF2-40B4-BE49-F238E27FC236}">
                <a16:creationId xmlns:a16="http://schemas.microsoft.com/office/drawing/2014/main" id="{4C5205A1-5261-651B-67FA-8F725B59823D}"/>
              </a:ext>
            </a:extLst>
          </p:cNvPr>
          <p:cNvGrpSpPr/>
          <p:nvPr/>
        </p:nvGrpSpPr>
        <p:grpSpPr>
          <a:xfrm>
            <a:off x="5468300" y="1862633"/>
            <a:ext cx="1689249" cy="883607"/>
            <a:chOff x="5636464" y="978304"/>
            <a:chExt cx="1689249" cy="883607"/>
          </a:xfrm>
        </p:grpSpPr>
        <p:sp>
          <p:nvSpPr>
            <p:cNvPr id="1315" name="Flowchart: Document 1314">
              <a:extLst>
                <a:ext uri="{FF2B5EF4-FFF2-40B4-BE49-F238E27FC236}">
                  <a16:creationId xmlns:a16="http://schemas.microsoft.com/office/drawing/2014/main" id="{512464D1-7FD7-424C-04B0-34CBBEB39964}"/>
                </a:ext>
              </a:extLst>
            </p:cNvPr>
            <p:cNvSpPr/>
            <p:nvPr/>
          </p:nvSpPr>
          <p:spPr>
            <a:xfrm>
              <a:off x="5684464" y="1204352"/>
              <a:ext cx="1584000" cy="144000"/>
            </a:xfrm>
            <a:prstGeom prst="flowChartDocumen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800" b="1">
                  <a:latin typeface="Arial" pitchFamily="34" charset="0"/>
                  <a:cs typeface="Arial" pitchFamily="34" charset="0"/>
                </a:rPr>
                <a:t>STG_ASSET</a:t>
              </a:r>
            </a:p>
          </p:txBody>
        </p:sp>
        <p:sp>
          <p:nvSpPr>
            <p:cNvPr id="1316" name="Flowchart: Document 1315">
              <a:extLst>
                <a:ext uri="{FF2B5EF4-FFF2-40B4-BE49-F238E27FC236}">
                  <a16:creationId xmlns:a16="http://schemas.microsoft.com/office/drawing/2014/main" id="{6C442BB5-2F08-B61C-F400-F149F10016B2}"/>
                </a:ext>
              </a:extLst>
            </p:cNvPr>
            <p:cNvSpPr/>
            <p:nvPr/>
          </p:nvSpPr>
          <p:spPr>
            <a:xfrm>
              <a:off x="5684464" y="1354175"/>
              <a:ext cx="1584000" cy="144000"/>
            </a:xfrm>
            <a:prstGeom prst="flowChartDocumen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800" b="1">
                  <a:latin typeface="Arial" pitchFamily="34" charset="0"/>
                  <a:cs typeface="Arial" pitchFamily="34" charset="0"/>
                </a:rPr>
                <a:t>STG_LIABILITY</a:t>
              </a:r>
            </a:p>
          </p:txBody>
        </p:sp>
        <p:sp>
          <p:nvSpPr>
            <p:cNvPr id="1317" name="Flowchart: Document 1316">
              <a:extLst>
                <a:ext uri="{FF2B5EF4-FFF2-40B4-BE49-F238E27FC236}">
                  <a16:creationId xmlns:a16="http://schemas.microsoft.com/office/drawing/2014/main" id="{13913E2B-7981-80D8-9C1B-1004D1AD3FBA}"/>
                </a:ext>
              </a:extLst>
            </p:cNvPr>
            <p:cNvSpPr/>
            <p:nvPr/>
          </p:nvSpPr>
          <p:spPr>
            <a:xfrm>
              <a:off x="5684464" y="1520902"/>
              <a:ext cx="1584000" cy="144000"/>
            </a:xfrm>
            <a:prstGeom prst="flowChartDocumen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800" b="1">
                  <a:latin typeface="Arial" pitchFamily="34" charset="0"/>
                  <a:cs typeface="Arial" pitchFamily="34" charset="0"/>
                </a:rPr>
                <a:t>STG_PAYMENT_SCHEDULE</a:t>
              </a:r>
            </a:p>
          </p:txBody>
        </p:sp>
        <p:sp>
          <p:nvSpPr>
            <p:cNvPr id="1319" name="Flowchart: Document 1318">
              <a:extLst>
                <a:ext uri="{FF2B5EF4-FFF2-40B4-BE49-F238E27FC236}">
                  <a16:creationId xmlns:a16="http://schemas.microsoft.com/office/drawing/2014/main" id="{1F46BAFD-9528-78A6-B334-2A971F2E298D}"/>
                </a:ext>
              </a:extLst>
            </p:cNvPr>
            <p:cNvSpPr/>
            <p:nvPr/>
          </p:nvSpPr>
          <p:spPr>
            <a:xfrm>
              <a:off x="5684464" y="1686673"/>
              <a:ext cx="1584000" cy="144000"/>
            </a:xfrm>
            <a:prstGeom prst="flowChartDocumen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800" b="1">
                  <a:latin typeface="Arial" pitchFamily="34" charset="0"/>
                  <a:cs typeface="Arial" pitchFamily="34" charset="0"/>
                </a:rPr>
                <a:t>STG_EXCHANGE_RATES</a:t>
              </a:r>
            </a:p>
          </p:txBody>
        </p:sp>
        <p:sp>
          <p:nvSpPr>
            <p:cNvPr id="1320" name="TextBox 1319">
              <a:extLst>
                <a:ext uri="{FF2B5EF4-FFF2-40B4-BE49-F238E27FC236}">
                  <a16:creationId xmlns:a16="http://schemas.microsoft.com/office/drawing/2014/main" id="{F5F9CC5A-D579-AC83-E7C3-9EF94F5D5111}"/>
                </a:ext>
              </a:extLst>
            </p:cNvPr>
            <p:cNvSpPr txBox="1"/>
            <p:nvPr/>
          </p:nvSpPr>
          <p:spPr>
            <a:xfrm>
              <a:off x="5740525" y="978304"/>
              <a:ext cx="1471878" cy="215444"/>
            </a:xfrm>
            <a:prstGeom prst="rect">
              <a:avLst/>
            </a:prstGeom>
            <a:noFill/>
          </p:spPr>
          <p:txBody>
            <a:bodyPr wrap="none" rtlCol="0">
              <a:spAutoFit/>
            </a:bodyPr>
            <a:lstStyle/>
            <a:p>
              <a:r>
                <a:rPr lang="es-ES_tradnl" sz="800" b="1">
                  <a:latin typeface="Arial" pitchFamily="34" charset="0"/>
                  <a:cs typeface="Arial" pitchFamily="34" charset="0"/>
                </a:rPr>
                <a:t>Interfaces Entrada OFSAA</a:t>
              </a:r>
            </a:p>
          </p:txBody>
        </p:sp>
        <p:sp>
          <p:nvSpPr>
            <p:cNvPr id="1321" name="Rectangle 1320">
              <a:extLst>
                <a:ext uri="{FF2B5EF4-FFF2-40B4-BE49-F238E27FC236}">
                  <a16:creationId xmlns:a16="http://schemas.microsoft.com/office/drawing/2014/main" id="{3075C6D8-E8C0-4605-81BD-66BBB3481736}"/>
                </a:ext>
              </a:extLst>
            </p:cNvPr>
            <p:cNvSpPr/>
            <p:nvPr/>
          </p:nvSpPr>
          <p:spPr bwMode="auto">
            <a:xfrm>
              <a:off x="5636464" y="1149527"/>
              <a:ext cx="1689249" cy="712384"/>
            </a:xfrm>
            <a:prstGeom prst="rect">
              <a:avLst/>
            </a:prstGeom>
            <a:noFill/>
            <a:ln w="9525">
              <a:solidFill>
                <a:schemeClr val="tx1"/>
              </a:solidFill>
              <a:round/>
            </a:ln>
          </p:spPr>
          <p:txBody>
            <a:bodyPr wrap="square" rtlCol="0" anchor="ctr">
              <a:noAutofit/>
            </a:bodyPr>
            <a:lstStyle/>
            <a:p>
              <a:pPr algn="ctr"/>
              <a:endParaRPr lang="es-ES_tradnl"/>
            </a:p>
          </p:txBody>
        </p:sp>
      </p:grpSp>
      <p:grpSp>
        <p:nvGrpSpPr>
          <p:cNvPr id="9330" name="Group 9329">
            <a:extLst>
              <a:ext uri="{FF2B5EF4-FFF2-40B4-BE49-F238E27FC236}">
                <a16:creationId xmlns:a16="http://schemas.microsoft.com/office/drawing/2014/main" id="{9827B1D2-27B8-7158-C007-8E35CF36EA59}"/>
              </a:ext>
            </a:extLst>
          </p:cNvPr>
          <p:cNvGrpSpPr/>
          <p:nvPr/>
        </p:nvGrpSpPr>
        <p:grpSpPr>
          <a:xfrm>
            <a:off x="7778019" y="1856310"/>
            <a:ext cx="1689249" cy="915139"/>
            <a:chOff x="7662408" y="1087597"/>
            <a:chExt cx="1689249" cy="915139"/>
          </a:xfrm>
        </p:grpSpPr>
        <p:sp>
          <p:nvSpPr>
            <p:cNvPr id="1329" name="TextBox 1328">
              <a:extLst>
                <a:ext uri="{FF2B5EF4-FFF2-40B4-BE49-F238E27FC236}">
                  <a16:creationId xmlns:a16="http://schemas.microsoft.com/office/drawing/2014/main" id="{5BC04D72-040D-D435-0EAA-21F5CAC0F0CF}"/>
                </a:ext>
              </a:extLst>
            </p:cNvPr>
            <p:cNvSpPr txBox="1"/>
            <p:nvPr/>
          </p:nvSpPr>
          <p:spPr>
            <a:xfrm>
              <a:off x="7766469" y="1087597"/>
              <a:ext cx="1393330" cy="215444"/>
            </a:xfrm>
            <a:prstGeom prst="rect">
              <a:avLst/>
            </a:prstGeom>
            <a:noFill/>
          </p:spPr>
          <p:txBody>
            <a:bodyPr wrap="none" rtlCol="0">
              <a:spAutoFit/>
            </a:bodyPr>
            <a:lstStyle/>
            <a:p>
              <a:r>
                <a:rPr lang="es-ES_tradnl" sz="800" b="1">
                  <a:latin typeface="Arial" pitchFamily="34" charset="0"/>
                  <a:cs typeface="Arial" pitchFamily="34" charset="0"/>
                </a:rPr>
                <a:t>Interfaces Salida OFSAA</a:t>
              </a:r>
            </a:p>
          </p:txBody>
        </p:sp>
        <p:sp>
          <p:nvSpPr>
            <p:cNvPr id="1330" name="Rectangle 1329">
              <a:extLst>
                <a:ext uri="{FF2B5EF4-FFF2-40B4-BE49-F238E27FC236}">
                  <a16:creationId xmlns:a16="http://schemas.microsoft.com/office/drawing/2014/main" id="{67A63E9F-9A61-0271-EB9E-03D47618CC9B}"/>
                </a:ext>
              </a:extLst>
            </p:cNvPr>
            <p:cNvSpPr/>
            <p:nvPr/>
          </p:nvSpPr>
          <p:spPr bwMode="auto">
            <a:xfrm>
              <a:off x="7662408" y="1290352"/>
              <a:ext cx="1689249" cy="712384"/>
            </a:xfrm>
            <a:prstGeom prst="rect">
              <a:avLst/>
            </a:prstGeom>
            <a:noFill/>
            <a:ln w="9525">
              <a:solidFill>
                <a:schemeClr val="tx1"/>
              </a:solidFill>
              <a:round/>
            </a:ln>
          </p:spPr>
          <p:txBody>
            <a:bodyPr wrap="square" rtlCol="0" anchor="ctr">
              <a:noAutofit/>
            </a:bodyPr>
            <a:lstStyle/>
            <a:p>
              <a:pPr algn="ctr"/>
              <a:endParaRPr lang="es-ES_tradnl"/>
            </a:p>
          </p:txBody>
        </p:sp>
        <p:sp>
          <p:nvSpPr>
            <p:cNvPr id="1331" name="Flowchart: Document 1330">
              <a:extLst>
                <a:ext uri="{FF2B5EF4-FFF2-40B4-BE49-F238E27FC236}">
                  <a16:creationId xmlns:a16="http://schemas.microsoft.com/office/drawing/2014/main" id="{BDF439EB-BADD-6AA1-FF79-EA09680923AC}"/>
                </a:ext>
              </a:extLst>
            </p:cNvPr>
            <p:cNvSpPr/>
            <p:nvPr/>
          </p:nvSpPr>
          <p:spPr>
            <a:xfrm>
              <a:off x="7725342" y="1355593"/>
              <a:ext cx="1554132" cy="281424"/>
            </a:xfrm>
            <a:prstGeom prst="flowChartDocumen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latin typeface="Arial" pitchFamily="34" charset="0"/>
                  <a:cs typeface="Arial" pitchFamily="34" charset="0"/>
                </a:rPr>
                <a:t>TP Rate Extract Liability Instrument Dataset</a:t>
              </a:r>
            </a:p>
          </p:txBody>
        </p:sp>
        <p:sp>
          <p:nvSpPr>
            <p:cNvPr id="1332" name="Flowchart: Document 1331">
              <a:extLst>
                <a:ext uri="{FF2B5EF4-FFF2-40B4-BE49-F238E27FC236}">
                  <a16:creationId xmlns:a16="http://schemas.microsoft.com/office/drawing/2014/main" id="{1A0A6667-33C3-9599-AA1B-40493DCA0E53}"/>
                </a:ext>
              </a:extLst>
            </p:cNvPr>
            <p:cNvSpPr/>
            <p:nvPr/>
          </p:nvSpPr>
          <p:spPr>
            <a:xfrm>
              <a:off x="7728473" y="1681629"/>
              <a:ext cx="1588658" cy="269183"/>
            </a:xfrm>
            <a:prstGeom prst="flowChartDocumen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latin typeface="Arial" pitchFamily="34" charset="0"/>
                  <a:cs typeface="Arial" pitchFamily="34" charset="0"/>
                </a:rPr>
                <a:t>TP Rate Extract Asset Instrument Dataset</a:t>
              </a:r>
            </a:p>
          </p:txBody>
        </p:sp>
      </p:grpSp>
      <p:cxnSp>
        <p:nvCxnSpPr>
          <p:cNvPr id="1338" name="Straight Arrow Connector 1337">
            <a:extLst>
              <a:ext uri="{FF2B5EF4-FFF2-40B4-BE49-F238E27FC236}">
                <a16:creationId xmlns:a16="http://schemas.microsoft.com/office/drawing/2014/main" id="{475FCD48-D3D3-183B-7DB0-76146AD7C49C}"/>
              </a:ext>
            </a:extLst>
          </p:cNvPr>
          <p:cNvCxnSpPr>
            <a:stCxn id="1333" idx="2"/>
            <a:endCxn id="1231" idx="0"/>
          </p:cNvCxnSpPr>
          <p:nvPr/>
        </p:nvCxnSpPr>
        <p:spPr bwMode="auto">
          <a:xfrm flipH="1">
            <a:off x="10515023" y="2870807"/>
            <a:ext cx="3730" cy="70645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41" name="Connector: Elbow 1340">
            <a:extLst>
              <a:ext uri="{FF2B5EF4-FFF2-40B4-BE49-F238E27FC236}">
                <a16:creationId xmlns:a16="http://schemas.microsoft.com/office/drawing/2014/main" id="{9847BCA1-CDD1-C0C6-F8B1-57DB667D5807}"/>
              </a:ext>
            </a:extLst>
          </p:cNvPr>
          <p:cNvCxnSpPr>
            <a:stCxn id="1225" idx="0"/>
            <a:endCxn id="1231" idx="0"/>
          </p:cNvCxnSpPr>
          <p:nvPr/>
        </p:nvCxnSpPr>
        <p:spPr bwMode="auto">
          <a:xfrm rot="5400000" flipH="1" flipV="1">
            <a:off x="8198761" y="1271872"/>
            <a:ext cx="10872" cy="4621652"/>
          </a:xfrm>
          <a:prstGeom prst="bentConnector3">
            <a:avLst>
              <a:gd name="adj1" fmla="val 1235918"/>
            </a:avLst>
          </a:prstGeom>
          <a:solidFill>
            <a:schemeClr val="accent1"/>
          </a:solidFill>
          <a:ln w="9525" cap="flat" cmpd="sng" algn="ctr">
            <a:solidFill>
              <a:schemeClr val="tx1"/>
            </a:solidFill>
            <a:prstDash val="solid"/>
            <a:round/>
            <a:headEnd type="none" w="med" len="med"/>
            <a:tailEnd type="triangle"/>
          </a:ln>
          <a:effectLst/>
        </p:spPr>
      </p:cxnSp>
      <p:cxnSp>
        <p:nvCxnSpPr>
          <p:cNvPr id="9290" name="Straight Arrow Connector 9289">
            <a:extLst>
              <a:ext uri="{FF2B5EF4-FFF2-40B4-BE49-F238E27FC236}">
                <a16:creationId xmlns:a16="http://schemas.microsoft.com/office/drawing/2014/main" id="{9D52ED11-ABC0-9E3A-AABF-AF703A73AEAC}"/>
              </a:ext>
            </a:extLst>
          </p:cNvPr>
          <p:cNvCxnSpPr>
            <a:stCxn id="1225" idx="3"/>
          </p:cNvCxnSpPr>
          <p:nvPr/>
        </p:nvCxnSpPr>
        <p:spPr bwMode="auto">
          <a:xfrm>
            <a:off x="6505371" y="3680467"/>
            <a:ext cx="325655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295" name="Straight Arrow Connector 9294">
            <a:extLst>
              <a:ext uri="{FF2B5EF4-FFF2-40B4-BE49-F238E27FC236}">
                <a16:creationId xmlns:a16="http://schemas.microsoft.com/office/drawing/2014/main" id="{22C9D6FF-8D86-3788-8ECF-8F7ED87D7C43}"/>
              </a:ext>
            </a:extLst>
          </p:cNvPr>
          <p:cNvCxnSpPr>
            <a:stCxn id="1252" idx="3"/>
          </p:cNvCxnSpPr>
          <p:nvPr/>
        </p:nvCxnSpPr>
        <p:spPr bwMode="auto">
          <a:xfrm>
            <a:off x="6433370" y="4993493"/>
            <a:ext cx="3328555" cy="238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302" name="Straight Arrow Connector 9301">
            <a:extLst>
              <a:ext uri="{FF2B5EF4-FFF2-40B4-BE49-F238E27FC236}">
                <a16:creationId xmlns:a16="http://schemas.microsoft.com/office/drawing/2014/main" id="{47567184-ABA1-343C-22DF-1DAB80AFE77D}"/>
              </a:ext>
            </a:extLst>
          </p:cNvPr>
          <p:cNvCxnSpPr>
            <a:stCxn id="1330" idx="3"/>
            <a:endCxn id="1333" idx="1"/>
          </p:cNvCxnSpPr>
          <p:nvPr/>
        </p:nvCxnSpPr>
        <p:spPr bwMode="auto">
          <a:xfrm flipV="1">
            <a:off x="9467268" y="2409424"/>
            <a:ext cx="206860" cy="58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9329" name="Group 9328">
            <a:extLst>
              <a:ext uri="{FF2B5EF4-FFF2-40B4-BE49-F238E27FC236}">
                <a16:creationId xmlns:a16="http://schemas.microsoft.com/office/drawing/2014/main" id="{D5B6ECA4-E334-98CC-AF4D-4C9F89249408}"/>
              </a:ext>
            </a:extLst>
          </p:cNvPr>
          <p:cNvGrpSpPr/>
          <p:nvPr/>
        </p:nvGrpSpPr>
        <p:grpSpPr>
          <a:xfrm>
            <a:off x="9674128" y="1747457"/>
            <a:ext cx="1689249" cy="1123350"/>
            <a:chOff x="9674128" y="968234"/>
            <a:chExt cx="1689249" cy="1123350"/>
          </a:xfrm>
        </p:grpSpPr>
        <p:sp>
          <p:nvSpPr>
            <p:cNvPr id="1301" name="TextBox 1300">
              <a:extLst>
                <a:ext uri="{FF2B5EF4-FFF2-40B4-BE49-F238E27FC236}">
                  <a16:creationId xmlns:a16="http://schemas.microsoft.com/office/drawing/2014/main" id="{00313109-D351-DF7F-8474-4D3AE161325C}"/>
                </a:ext>
              </a:extLst>
            </p:cNvPr>
            <p:cNvSpPr txBox="1"/>
            <p:nvPr/>
          </p:nvSpPr>
          <p:spPr>
            <a:xfrm>
              <a:off x="9761925" y="1257992"/>
              <a:ext cx="1512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DT_TASA_TRANSF_CTO_DIA</a:t>
              </a:r>
            </a:p>
          </p:txBody>
        </p:sp>
        <p:sp>
          <p:nvSpPr>
            <p:cNvPr id="1303" name="TextBox 1302">
              <a:extLst>
                <a:ext uri="{FF2B5EF4-FFF2-40B4-BE49-F238E27FC236}">
                  <a16:creationId xmlns:a16="http://schemas.microsoft.com/office/drawing/2014/main" id="{E2373AB2-15DC-A3BF-01B1-CFAF7E0BB3BF}"/>
                </a:ext>
              </a:extLst>
            </p:cNvPr>
            <p:cNvSpPr txBox="1"/>
            <p:nvPr/>
          </p:nvSpPr>
          <p:spPr>
            <a:xfrm>
              <a:off x="9761925" y="1501962"/>
              <a:ext cx="1512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DT_TASA_TRANSF_BUCKET_DIA</a:t>
              </a:r>
            </a:p>
          </p:txBody>
        </p:sp>
        <p:sp>
          <p:nvSpPr>
            <p:cNvPr id="1333" name="Rectangle 1332">
              <a:extLst>
                <a:ext uri="{FF2B5EF4-FFF2-40B4-BE49-F238E27FC236}">
                  <a16:creationId xmlns:a16="http://schemas.microsoft.com/office/drawing/2014/main" id="{2D262E1C-BB1F-EAC3-FC37-38C4DC00A501}"/>
                </a:ext>
              </a:extLst>
            </p:cNvPr>
            <p:cNvSpPr/>
            <p:nvPr/>
          </p:nvSpPr>
          <p:spPr bwMode="auto">
            <a:xfrm>
              <a:off x="9674128" y="1168818"/>
              <a:ext cx="1689249" cy="922766"/>
            </a:xfrm>
            <a:prstGeom prst="rect">
              <a:avLst/>
            </a:prstGeom>
            <a:noFill/>
            <a:ln w="9525">
              <a:solidFill>
                <a:schemeClr val="tx1"/>
              </a:solidFill>
              <a:round/>
            </a:ln>
          </p:spPr>
          <p:txBody>
            <a:bodyPr wrap="square" rtlCol="0" anchor="ctr">
              <a:noAutofit/>
            </a:bodyPr>
            <a:lstStyle/>
            <a:p>
              <a:pPr algn="ctr"/>
              <a:endParaRPr lang="es-ES_tradnl"/>
            </a:p>
          </p:txBody>
        </p:sp>
        <p:sp>
          <p:nvSpPr>
            <p:cNvPr id="9301" name="TextBox 9300">
              <a:extLst>
                <a:ext uri="{FF2B5EF4-FFF2-40B4-BE49-F238E27FC236}">
                  <a16:creationId xmlns:a16="http://schemas.microsoft.com/office/drawing/2014/main" id="{75B8A899-0A30-3B50-3FE3-815D3A0425A4}"/>
                </a:ext>
              </a:extLst>
            </p:cNvPr>
            <p:cNvSpPr txBox="1"/>
            <p:nvPr/>
          </p:nvSpPr>
          <p:spPr>
            <a:xfrm>
              <a:off x="10150794" y="968234"/>
              <a:ext cx="659155" cy="215444"/>
            </a:xfrm>
            <a:prstGeom prst="rect">
              <a:avLst/>
            </a:prstGeom>
            <a:noFill/>
          </p:spPr>
          <p:txBody>
            <a:bodyPr wrap="none" rtlCol="0">
              <a:spAutoFit/>
            </a:bodyPr>
            <a:lstStyle/>
            <a:p>
              <a:r>
                <a:rPr lang="es-ES_tradnl" sz="800" b="1">
                  <a:latin typeface="Arial" pitchFamily="34" charset="0"/>
                  <a:cs typeface="Arial" pitchFamily="34" charset="0"/>
                </a:rPr>
                <a:t>Carga TTI</a:t>
              </a:r>
            </a:p>
          </p:txBody>
        </p:sp>
        <p:sp>
          <p:nvSpPr>
            <p:cNvPr id="9305" name="TextBox 9304">
              <a:extLst>
                <a:ext uri="{FF2B5EF4-FFF2-40B4-BE49-F238E27FC236}">
                  <a16:creationId xmlns:a16="http://schemas.microsoft.com/office/drawing/2014/main" id="{50B8AF55-5E7A-B7B2-A379-61D8D64FD2AD}"/>
                </a:ext>
              </a:extLst>
            </p:cNvPr>
            <p:cNvSpPr txBox="1"/>
            <p:nvPr/>
          </p:nvSpPr>
          <p:spPr>
            <a:xfrm>
              <a:off x="9761925" y="1845352"/>
              <a:ext cx="1506196" cy="203829"/>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DT_TASA_TRANSF_ESPECIAL</a:t>
              </a:r>
            </a:p>
          </p:txBody>
        </p:sp>
      </p:grpSp>
      <p:grpSp>
        <p:nvGrpSpPr>
          <p:cNvPr id="9323" name="Group 9322">
            <a:extLst>
              <a:ext uri="{FF2B5EF4-FFF2-40B4-BE49-F238E27FC236}">
                <a16:creationId xmlns:a16="http://schemas.microsoft.com/office/drawing/2014/main" id="{6D51D75F-A838-2345-4445-6DEC867BDE34}"/>
              </a:ext>
            </a:extLst>
          </p:cNvPr>
          <p:cNvGrpSpPr/>
          <p:nvPr/>
        </p:nvGrpSpPr>
        <p:grpSpPr>
          <a:xfrm>
            <a:off x="1225392" y="2231618"/>
            <a:ext cx="1244540" cy="758887"/>
            <a:chOff x="1225392" y="1504943"/>
            <a:chExt cx="1244540" cy="758887"/>
          </a:xfrm>
        </p:grpSpPr>
        <p:sp>
          <p:nvSpPr>
            <p:cNvPr id="9278" name="TextBox 9277">
              <a:extLst>
                <a:ext uri="{FF2B5EF4-FFF2-40B4-BE49-F238E27FC236}">
                  <a16:creationId xmlns:a16="http://schemas.microsoft.com/office/drawing/2014/main" id="{48EB8B13-B339-41B8-9F6B-2CBA869678C5}"/>
                </a:ext>
              </a:extLst>
            </p:cNvPr>
            <p:cNvSpPr txBox="1"/>
            <p:nvPr/>
          </p:nvSpPr>
          <p:spPr>
            <a:xfrm>
              <a:off x="1285255" y="1814607"/>
              <a:ext cx="1116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DT_CUADRO_PAGO_MES</a:t>
              </a:r>
            </a:p>
          </p:txBody>
        </p:sp>
        <p:sp>
          <p:nvSpPr>
            <p:cNvPr id="1216" name="TextBox 1215">
              <a:extLst>
                <a:ext uri="{FF2B5EF4-FFF2-40B4-BE49-F238E27FC236}">
                  <a16:creationId xmlns:a16="http://schemas.microsoft.com/office/drawing/2014/main" id="{EFB84220-51B4-0D78-BB33-1581FFBFF597}"/>
                </a:ext>
              </a:extLst>
            </p:cNvPr>
            <p:cNvSpPr txBox="1"/>
            <p:nvPr/>
          </p:nvSpPr>
          <p:spPr>
            <a:xfrm>
              <a:off x="1287153" y="1583830"/>
              <a:ext cx="1116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DT_TIPO_CAMBIO_DIA</a:t>
              </a:r>
            </a:p>
          </p:txBody>
        </p:sp>
        <p:sp>
          <p:nvSpPr>
            <p:cNvPr id="1219" name="TextBox 1218">
              <a:extLst>
                <a:ext uri="{FF2B5EF4-FFF2-40B4-BE49-F238E27FC236}">
                  <a16:creationId xmlns:a16="http://schemas.microsoft.com/office/drawing/2014/main" id="{F44B194B-7207-9687-132E-9E0D4BE3F6DC}"/>
                </a:ext>
              </a:extLst>
            </p:cNvPr>
            <p:cNvSpPr txBox="1"/>
            <p:nvPr/>
          </p:nvSpPr>
          <p:spPr>
            <a:xfrm>
              <a:off x="1285255" y="2048572"/>
              <a:ext cx="1116000" cy="184666"/>
            </a:xfrm>
            <a:prstGeom prst="rect">
              <a:avLst/>
            </a:prstGeom>
            <a:solidFill>
              <a:schemeClr val="bg1">
                <a:lumMod val="85000"/>
              </a:schemeClr>
            </a:solidFill>
            <a:ln w="9525">
              <a:noFill/>
              <a:round/>
            </a:ln>
          </p:spPr>
          <p:txBody>
            <a:bodyPr wrap="none" rtlCol="0" anchor="ctr">
              <a:noAutofit/>
            </a:bodyPr>
            <a:lstStyle>
              <a:defPPr>
                <a:defRPr lang="es-ES_tradnl"/>
              </a:defPPr>
              <a:lvl1pPr algn="ctr">
                <a:defRPr sz="600" b="1">
                  <a:latin typeface="Arial" pitchFamily="34" charset="0"/>
                  <a:cs typeface="Arial" pitchFamily="34" charset="0"/>
                </a:defRPr>
              </a:lvl1pPr>
            </a:lstStyle>
            <a:p>
              <a:r>
                <a:rPr lang="es-ES_tradnl"/>
                <a:t>DT_CURVA_DIA</a:t>
              </a:r>
            </a:p>
          </p:txBody>
        </p:sp>
        <p:sp>
          <p:nvSpPr>
            <p:cNvPr id="9321" name="Rectangle 9320">
              <a:extLst>
                <a:ext uri="{FF2B5EF4-FFF2-40B4-BE49-F238E27FC236}">
                  <a16:creationId xmlns:a16="http://schemas.microsoft.com/office/drawing/2014/main" id="{06AB6DF5-4C98-A0DD-67CC-51B0F876EF5D}"/>
                </a:ext>
              </a:extLst>
            </p:cNvPr>
            <p:cNvSpPr/>
            <p:nvPr/>
          </p:nvSpPr>
          <p:spPr bwMode="auto">
            <a:xfrm>
              <a:off x="1225392" y="1504943"/>
              <a:ext cx="1244540" cy="758887"/>
            </a:xfrm>
            <a:prstGeom prst="rect">
              <a:avLst/>
            </a:prstGeom>
            <a:noFill/>
            <a:ln w="9525">
              <a:solidFill>
                <a:schemeClr val="tx1"/>
              </a:solidFill>
              <a:round/>
            </a:ln>
          </p:spPr>
          <p:txBody>
            <a:bodyPr wrap="square" rtlCol="0" anchor="ctr">
              <a:noAutofit/>
            </a:bodyPr>
            <a:lstStyle/>
            <a:p>
              <a:pPr algn="ctr"/>
              <a:endParaRPr lang="es-ES_tradnl"/>
            </a:p>
          </p:txBody>
        </p:sp>
      </p:grpSp>
      <p:cxnSp>
        <p:nvCxnSpPr>
          <p:cNvPr id="9324" name="Straight Arrow Connector 9323">
            <a:extLst>
              <a:ext uri="{FF2B5EF4-FFF2-40B4-BE49-F238E27FC236}">
                <a16:creationId xmlns:a16="http://schemas.microsoft.com/office/drawing/2014/main" id="{29D21B4A-1E2E-1911-F294-6E6CABF96AE9}"/>
              </a:ext>
            </a:extLst>
          </p:cNvPr>
          <p:cNvCxnSpPr>
            <a:stCxn id="9321" idx="3"/>
          </p:cNvCxnSpPr>
          <p:nvPr/>
        </p:nvCxnSpPr>
        <p:spPr bwMode="auto">
          <a:xfrm>
            <a:off x="2469932" y="2611062"/>
            <a:ext cx="2811439" cy="1641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331" name="Flowchart: Terminator 9330">
            <a:extLst>
              <a:ext uri="{FF2B5EF4-FFF2-40B4-BE49-F238E27FC236}">
                <a16:creationId xmlns:a16="http://schemas.microsoft.com/office/drawing/2014/main" id="{9C94A5EC-4B3D-1CC7-0043-567D30AC4035}"/>
              </a:ext>
            </a:extLst>
          </p:cNvPr>
          <p:cNvSpPr/>
          <p:nvPr/>
        </p:nvSpPr>
        <p:spPr bwMode="auto">
          <a:xfrm>
            <a:off x="7023199" y="2913652"/>
            <a:ext cx="870578" cy="389513"/>
          </a:xfrm>
          <a:prstGeom prst="flowChartTerminator">
            <a:avLst/>
          </a:prstGeom>
          <a:solidFill>
            <a:srgbClr val="FF0000"/>
          </a:solidFill>
          <a:ln w="9525">
            <a:noFill/>
            <a:round/>
          </a:ln>
        </p:spPr>
        <p:txBody>
          <a:bodyPr wrap="square" rtlCol="0" anchor="ctr">
            <a:spAutoFit/>
          </a:bodyPr>
          <a:lstStyle/>
          <a:p>
            <a:pPr algn="ctr"/>
            <a:r>
              <a:rPr lang="es-ES_tradnl" sz="1200">
                <a:solidFill>
                  <a:schemeClr val="bg1"/>
                </a:solidFill>
                <a:latin typeface="Arial" pitchFamily="34" charset="0"/>
                <a:cs typeface="Arial" pitchFamily="34" charset="0"/>
              </a:rPr>
              <a:t>OFSAA</a:t>
            </a:r>
          </a:p>
        </p:txBody>
      </p:sp>
      <p:cxnSp>
        <p:nvCxnSpPr>
          <p:cNvPr id="9334" name="Connector: Elbow 9333">
            <a:extLst>
              <a:ext uri="{FF2B5EF4-FFF2-40B4-BE49-F238E27FC236}">
                <a16:creationId xmlns:a16="http://schemas.microsoft.com/office/drawing/2014/main" id="{2556CE1B-9BFB-3C1C-6240-9578B420AC27}"/>
              </a:ext>
            </a:extLst>
          </p:cNvPr>
          <p:cNvCxnSpPr>
            <a:stCxn id="1321" idx="2"/>
            <a:endCxn id="9331" idx="1"/>
          </p:cNvCxnSpPr>
          <p:nvPr/>
        </p:nvCxnSpPr>
        <p:spPr bwMode="auto">
          <a:xfrm rot="16200000" flipH="1">
            <a:off x="6486978" y="2572187"/>
            <a:ext cx="362169" cy="710274"/>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9338" name="Connector: Elbow 9337">
            <a:extLst>
              <a:ext uri="{FF2B5EF4-FFF2-40B4-BE49-F238E27FC236}">
                <a16:creationId xmlns:a16="http://schemas.microsoft.com/office/drawing/2014/main" id="{D55060ED-E00A-DB56-CAC7-E0E337D2D997}"/>
              </a:ext>
            </a:extLst>
          </p:cNvPr>
          <p:cNvCxnSpPr>
            <a:stCxn id="9331" idx="3"/>
            <a:endCxn id="1330" idx="2"/>
          </p:cNvCxnSpPr>
          <p:nvPr/>
        </p:nvCxnSpPr>
        <p:spPr bwMode="auto">
          <a:xfrm flipV="1">
            <a:off x="7893777" y="2771449"/>
            <a:ext cx="728867" cy="33696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9350" name="Straight Arrow Connector 9349">
            <a:extLst>
              <a:ext uri="{FF2B5EF4-FFF2-40B4-BE49-F238E27FC236}">
                <a16:creationId xmlns:a16="http://schemas.microsoft.com/office/drawing/2014/main" id="{515E9778-BA59-EAEA-DA4E-3CCD82922275}"/>
              </a:ext>
            </a:extLst>
          </p:cNvPr>
          <p:cNvCxnSpPr/>
          <p:nvPr/>
        </p:nvCxnSpPr>
        <p:spPr bwMode="auto">
          <a:xfrm flipH="1">
            <a:off x="9911651" y="5195571"/>
            <a:ext cx="0" cy="48112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354" name="Straight Arrow Connector 9353">
            <a:extLst>
              <a:ext uri="{FF2B5EF4-FFF2-40B4-BE49-F238E27FC236}">
                <a16:creationId xmlns:a16="http://schemas.microsoft.com/office/drawing/2014/main" id="{567B9CE5-A868-05DF-C0C4-F1015F8BA4FC}"/>
              </a:ext>
            </a:extLst>
          </p:cNvPr>
          <p:cNvCxnSpPr/>
          <p:nvPr/>
        </p:nvCxnSpPr>
        <p:spPr bwMode="auto">
          <a:xfrm flipH="1" flipV="1">
            <a:off x="11131488" y="5195571"/>
            <a:ext cx="0" cy="48112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357" name="TextBox 9356">
            <a:extLst>
              <a:ext uri="{FF2B5EF4-FFF2-40B4-BE49-F238E27FC236}">
                <a16:creationId xmlns:a16="http://schemas.microsoft.com/office/drawing/2014/main" id="{64E7C45D-3B0B-B2D9-0BCF-ECA852AD949C}"/>
              </a:ext>
            </a:extLst>
          </p:cNvPr>
          <p:cNvSpPr txBox="1"/>
          <p:nvPr/>
        </p:nvSpPr>
        <p:spPr>
          <a:xfrm>
            <a:off x="9375371" y="3259532"/>
            <a:ext cx="1202573" cy="215444"/>
          </a:xfrm>
          <a:prstGeom prst="rect">
            <a:avLst/>
          </a:prstGeom>
          <a:noFill/>
        </p:spPr>
        <p:txBody>
          <a:bodyPr wrap="none" rtlCol="0">
            <a:spAutoFit/>
          </a:bodyPr>
          <a:lstStyle/>
          <a:p>
            <a:r>
              <a:rPr lang="es-ES_tradnl" sz="800" b="1">
                <a:latin typeface="Arial" pitchFamily="34" charset="0"/>
                <a:cs typeface="Arial" pitchFamily="34" charset="0"/>
              </a:rPr>
              <a:t>Cálculo de Asignado</a:t>
            </a:r>
          </a:p>
        </p:txBody>
      </p:sp>
      <p:sp>
        <p:nvSpPr>
          <p:cNvPr id="9358" name="TextBox 9357">
            <a:extLst>
              <a:ext uri="{FF2B5EF4-FFF2-40B4-BE49-F238E27FC236}">
                <a16:creationId xmlns:a16="http://schemas.microsoft.com/office/drawing/2014/main" id="{829E6374-5AC1-0AA1-7909-4ED4B48500AA}"/>
              </a:ext>
            </a:extLst>
          </p:cNvPr>
          <p:cNvSpPr txBox="1"/>
          <p:nvPr/>
        </p:nvSpPr>
        <p:spPr>
          <a:xfrm>
            <a:off x="8544451" y="3747615"/>
            <a:ext cx="1148071" cy="215444"/>
          </a:xfrm>
          <a:prstGeom prst="rect">
            <a:avLst/>
          </a:prstGeom>
          <a:noFill/>
        </p:spPr>
        <p:txBody>
          <a:bodyPr wrap="none" rtlCol="0">
            <a:spAutoFit/>
          </a:bodyPr>
          <a:lstStyle/>
          <a:p>
            <a:r>
              <a:rPr lang="es-ES_tradnl" sz="800" b="1">
                <a:latin typeface="Arial" pitchFamily="34" charset="0"/>
                <a:cs typeface="Arial" pitchFamily="34" charset="0"/>
              </a:rPr>
              <a:t>Saldos x Operación</a:t>
            </a:r>
          </a:p>
        </p:txBody>
      </p:sp>
      <p:sp>
        <p:nvSpPr>
          <p:cNvPr id="9359" name="TextBox 9358">
            <a:extLst>
              <a:ext uri="{FF2B5EF4-FFF2-40B4-BE49-F238E27FC236}">
                <a16:creationId xmlns:a16="http://schemas.microsoft.com/office/drawing/2014/main" id="{3B796953-85A9-AA4F-630F-6ADA912E89B7}"/>
              </a:ext>
            </a:extLst>
          </p:cNvPr>
          <p:cNvSpPr txBox="1"/>
          <p:nvPr/>
        </p:nvSpPr>
        <p:spPr>
          <a:xfrm>
            <a:off x="8436248" y="4732808"/>
            <a:ext cx="1364476" cy="215444"/>
          </a:xfrm>
          <a:prstGeom prst="rect">
            <a:avLst/>
          </a:prstGeom>
          <a:noFill/>
        </p:spPr>
        <p:txBody>
          <a:bodyPr wrap="none" rtlCol="0">
            <a:spAutoFit/>
          </a:bodyPr>
          <a:lstStyle/>
          <a:p>
            <a:r>
              <a:rPr lang="es-ES_tradnl" sz="800" b="1">
                <a:latin typeface="Arial" pitchFamily="34" charset="0"/>
                <a:cs typeface="Arial" pitchFamily="34" charset="0"/>
              </a:rPr>
              <a:t>Resultados x Operación</a:t>
            </a:r>
          </a:p>
        </p:txBody>
      </p:sp>
      <p:sp>
        <p:nvSpPr>
          <p:cNvPr id="9360" name="TextBox 9359">
            <a:extLst>
              <a:ext uri="{FF2B5EF4-FFF2-40B4-BE49-F238E27FC236}">
                <a16:creationId xmlns:a16="http://schemas.microsoft.com/office/drawing/2014/main" id="{BC611121-E119-48C5-D577-7CCB328D3710}"/>
              </a:ext>
            </a:extLst>
          </p:cNvPr>
          <p:cNvSpPr txBox="1"/>
          <p:nvPr/>
        </p:nvSpPr>
        <p:spPr>
          <a:xfrm>
            <a:off x="11151750" y="5281670"/>
            <a:ext cx="1024639" cy="338554"/>
          </a:xfrm>
          <a:prstGeom prst="rect">
            <a:avLst/>
          </a:prstGeom>
          <a:noFill/>
        </p:spPr>
        <p:txBody>
          <a:bodyPr wrap="none" rtlCol="0">
            <a:spAutoFit/>
          </a:bodyPr>
          <a:lstStyle/>
          <a:p>
            <a:r>
              <a:rPr lang="es-ES_tradnl" sz="800" b="1">
                <a:latin typeface="Arial" pitchFamily="34" charset="0"/>
                <a:cs typeface="Arial" pitchFamily="34" charset="0"/>
              </a:rPr>
              <a:t>Resto Contable y</a:t>
            </a:r>
          </a:p>
          <a:p>
            <a:r>
              <a:rPr lang="es-ES_tradnl" sz="800" b="1">
                <a:latin typeface="Arial" pitchFamily="34" charset="0"/>
                <a:cs typeface="Arial" pitchFamily="34" charset="0"/>
              </a:rPr>
              <a:t>Conciliación</a:t>
            </a:r>
          </a:p>
        </p:txBody>
      </p:sp>
      <p:sp>
        <p:nvSpPr>
          <p:cNvPr id="3" name="Flowchart: Terminator 2">
            <a:extLst>
              <a:ext uri="{FF2B5EF4-FFF2-40B4-BE49-F238E27FC236}">
                <a16:creationId xmlns:a16="http://schemas.microsoft.com/office/drawing/2014/main" id="{DC78F784-F1DE-74B3-169B-63231542C06D}"/>
              </a:ext>
            </a:extLst>
          </p:cNvPr>
          <p:cNvSpPr/>
          <p:nvPr/>
        </p:nvSpPr>
        <p:spPr bwMode="auto">
          <a:xfrm>
            <a:off x="207817" y="2418666"/>
            <a:ext cx="870578" cy="389513"/>
          </a:xfrm>
          <a:prstGeom prst="flowChartTerminator">
            <a:avLst/>
          </a:prstGeom>
          <a:solidFill>
            <a:srgbClr val="002060"/>
          </a:solidFill>
          <a:ln w="9525">
            <a:noFill/>
            <a:round/>
          </a:ln>
        </p:spPr>
        <p:txBody>
          <a:bodyPr wrap="square" rtlCol="0" anchor="ctr">
            <a:spAutoFit/>
          </a:bodyPr>
          <a:lstStyle/>
          <a:p>
            <a:pPr algn="ctr"/>
            <a:r>
              <a:rPr lang="es-ES_tradnl" sz="1200">
                <a:solidFill>
                  <a:schemeClr val="bg1"/>
                </a:solidFill>
                <a:latin typeface="Arial" pitchFamily="34" charset="0"/>
                <a:cs typeface="Arial" pitchFamily="34" charset="0"/>
              </a:rPr>
              <a:t>Inicio</a:t>
            </a:r>
          </a:p>
        </p:txBody>
      </p:sp>
      <p:sp>
        <p:nvSpPr>
          <p:cNvPr id="5" name="Google Shape;72;p7">
            <a:extLst>
              <a:ext uri="{FF2B5EF4-FFF2-40B4-BE49-F238E27FC236}">
                <a16:creationId xmlns:a16="http://schemas.microsoft.com/office/drawing/2014/main" id="{942C2243-FB5F-DF8E-6B71-3422A326F1F9}"/>
              </a:ext>
            </a:extLst>
          </p:cNvPr>
          <p:cNvSpPr txBox="1"/>
          <p:nvPr/>
        </p:nvSpPr>
        <p:spPr>
          <a:xfrm>
            <a:off x="380373" y="1119653"/>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A continuación se muestra un diagrama a alto nivel de todo el flujo de información centrado en el proceso diario de rentabilidad:</a:t>
            </a:r>
          </a:p>
        </p:txBody>
      </p:sp>
      <p:sp>
        <p:nvSpPr>
          <p:cNvPr id="13" name="Rectangle 12">
            <a:extLst>
              <a:ext uri="{FF2B5EF4-FFF2-40B4-BE49-F238E27FC236}">
                <a16:creationId xmlns:a16="http://schemas.microsoft.com/office/drawing/2014/main" id="{80C8D4DD-6B76-630C-BF99-BEFA5875C159}"/>
              </a:ext>
            </a:extLst>
          </p:cNvPr>
          <p:cNvSpPr/>
          <p:nvPr/>
        </p:nvSpPr>
        <p:spPr bwMode="auto">
          <a:xfrm>
            <a:off x="483848" y="3744796"/>
            <a:ext cx="636713"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Maestros</a:t>
            </a:r>
          </a:p>
        </p:txBody>
      </p:sp>
      <p:sp>
        <p:nvSpPr>
          <p:cNvPr id="15" name="Rectangle 14">
            <a:extLst>
              <a:ext uri="{FF2B5EF4-FFF2-40B4-BE49-F238E27FC236}">
                <a16:creationId xmlns:a16="http://schemas.microsoft.com/office/drawing/2014/main" id="{D3A855FC-3BE5-0D6A-AD39-2CEBBC05D65C}"/>
              </a:ext>
            </a:extLst>
          </p:cNvPr>
          <p:cNvSpPr/>
          <p:nvPr/>
        </p:nvSpPr>
        <p:spPr bwMode="auto">
          <a:xfrm>
            <a:off x="473785" y="3938770"/>
            <a:ext cx="636713"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Maestros</a:t>
            </a:r>
          </a:p>
        </p:txBody>
      </p:sp>
      <p:sp>
        <p:nvSpPr>
          <p:cNvPr id="17" name="Rectangle 16">
            <a:extLst>
              <a:ext uri="{FF2B5EF4-FFF2-40B4-BE49-F238E27FC236}">
                <a16:creationId xmlns:a16="http://schemas.microsoft.com/office/drawing/2014/main" id="{A02A2F1C-A85F-4D1E-6CF1-299346EE17DD}"/>
              </a:ext>
            </a:extLst>
          </p:cNvPr>
          <p:cNvSpPr/>
          <p:nvPr/>
        </p:nvSpPr>
        <p:spPr bwMode="auto">
          <a:xfrm>
            <a:off x="473785" y="4135253"/>
            <a:ext cx="636713"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Maestros</a:t>
            </a:r>
          </a:p>
        </p:txBody>
      </p:sp>
      <p:sp>
        <p:nvSpPr>
          <p:cNvPr id="19" name="Rectangle 18">
            <a:extLst>
              <a:ext uri="{FF2B5EF4-FFF2-40B4-BE49-F238E27FC236}">
                <a16:creationId xmlns:a16="http://schemas.microsoft.com/office/drawing/2014/main" id="{C7250575-C875-A938-39A9-6C4E44D22AE1}"/>
              </a:ext>
            </a:extLst>
          </p:cNvPr>
          <p:cNvSpPr/>
          <p:nvPr/>
        </p:nvSpPr>
        <p:spPr bwMode="auto">
          <a:xfrm>
            <a:off x="473785" y="4551700"/>
            <a:ext cx="636713"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Maestros</a:t>
            </a:r>
          </a:p>
        </p:txBody>
      </p:sp>
      <p:sp>
        <p:nvSpPr>
          <p:cNvPr id="21" name="Rectangle 20">
            <a:extLst>
              <a:ext uri="{FF2B5EF4-FFF2-40B4-BE49-F238E27FC236}">
                <a16:creationId xmlns:a16="http://schemas.microsoft.com/office/drawing/2014/main" id="{939623E4-E7E8-8BD1-442E-53D44E40A659}"/>
              </a:ext>
            </a:extLst>
          </p:cNvPr>
          <p:cNvSpPr/>
          <p:nvPr/>
        </p:nvSpPr>
        <p:spPr bwMode="auto">
          <a:xfrm>
            <a:off x="473785" y="4765689"/>
            <a:ext cx="636713" cy="144000"/>
          </a:xfrm>
          <a:prstGeom prst="rect">
            <a:avLst/>
          </a:prstGeom>
          <a:solidFill>
            <a:srgbClr val="92D050"/>
          </a:solidFill>
          <a:ln w="9525">
            <a:noFill/>
            <a:round/>
          </a:ln>
        </p:spPr>
        <p:txBody>
          <a:bodyPr wrap="square" rtlCol="0" anchor="ctr">
            <a:spAutoFit/>
          </a:bodyPr>
          <a:lstStyle/>
          <a:p>
            <a:pPr algn="ctr"/>
            <a:r>
              <a:rPr lang="es-ES_tradnl" sz="800" b="1">
                <a:latin typeface="Arial" pitchFamily="34" charset="0"/>
                <a:cs typeface="Arial" pitchFamily="34" charset="0"/>
              </a:rPr>
              <a:t>………</a:t>
            </a:r>
          </a:p>
        </p:txBody>
      </p:sp>
    </p:spTree>
    <p:extLst>
      <p:ext uri="{BB962C8B-B14F-4D97-AF65-F5344CB8AC3E}">
        <p14:creationId xmlns:p14="http://schemas.microsoft.com/office/powerpoint/2010/main" val="7610711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26445-E89B-A176-3342-97B121506A91}"/>
            </a:ext>
          </a:extLst>
        </p:cNvPr>
        <p:cNvGrpSpPr/>
        <p:nvPr/>
      </p:nvGrpSpPr>
      <p:grpSpPr>
        <a:xfrm>
          <a:off x="0" y="0"/>
          <a:ext cx="0" cy="0"/>
          <a:chOff x="0" y="0"/>
          <a:chExt cx="0" cy="0"/>
        </a:xfrm>
      </p:grpSpPr>
      <p:sp>
        <p:nvSpPr>
          <p:cNvPr id="47" name="Rounded Rectangle 1">
            <a:extLst>
              <a:ext uri="{FF2B5EF4-FFF2-40B4-BE49-F238E27FC236}">
                <a16:creationId xmlns:a16="http://schemas.microsoft.com/office/drawing/2014/main" id="{5D51DD57-B2A4-A878-E8D6-C3F0BC0A1D26}"/>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B689038F-4F88-9EE2-5134-70EDAC1C56E2}"/>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7" name="Rectangle 6">
            <a:extLst>
              <a:ext uri="{FF2B5EF4-FFF2-40B4-BE49-F238E27FC236}">
                <a16:creationId xmlns:a16="http://schemas.microsoft.com/office/drawing/2014/main" id="{FE04ACA8-5606-7A77-38B8-6CF0250C180F}"/>
              </a:ext>
            </a:extLst>
          </p:cNvPr>
          <p:cNvSpPr/>
          <p:nvPr/>
        </p:nvSpPr>
        <p:spPr bwMode="auto">
          <a:xfrm>
            <a:off x="125883" y="894222"/>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T_APRRINT_WBC</a:t>
            </a:r>
          </a:p>
        </p:txBody>
      </p:sp>
      <p:sp>
        <p:nvSpPr>
          <p:cNvPr id="8" name="Rectangle 7">
            <a:extLst>
              <a:ext uri="{FF2B5EF4-FFF2-40B4-BE49-F238E27FC236}">
                <a16:creationId xmlns:a16="http://schemas.microsoft.com/office/drawing/2014/main" id="{FECFCAB7-D302-394C-79D2-58560E3D4F5B}"/>
              </a:ext>
            </a:extLst>
          </p:cNvPr>
          <p:cNvSpPr/>
          <p:nvPr/>
        </p:nvSpPr>
        <p:spPr bwMode="auto">
          <a:xfrm>
            <a:off x="125883" y="1112675"/>
            <a:ext cx="972000" cy="144000"/>
          </a:xfrm>
          <a:prstGeom prst="rect">
            <a:avLst/>
          </a:prstGeom>
          <a:solidFill>
            <a:srgbClr val="FF0000"/>
          </a:solidFill>
          <a:ln w="9525">
            <a:noFill/>
            <a:round/>
          </a:ln>
        </p:spPr>
        <p:txBody>
          <a:bodyPr wrap="none" rtlCol="0" anchor="ctr">
            <a:spAutoFit/>
          </a:bodyPr>
          <a:lstStyle/>
          <a:p>
            <a:pPr algn="ctr"/>
            <a:r>
              <a:rPr lang="es-ES_tradnl" sz="800" b="1">
                <a:latin typeface="Arial" pitchFamily="34" charset="0"/>
                <a:cs typeface="Arial" pitchFamily="34" charset="0"/>
              </a:rPr>
              <a:t>T_APRRINT_TLD</a:t>
            </a:r>
          </a:p>
        </p:txBody>
      </p:sp>
      <p:sp>
        <p:nvSpPr>
          <p:cNvPr id="28" name="Rectangle 27">
            <a:extLst>
              <a:ext uri="{FF2B5EF4-FFF2-40B4-BE49-F238E27FC236}">
                <a16:creationId xmlns:a16="http://schemas.microsoft.com/office/drawing/2014/main" id="{A280B728-CE07-9E25-F071-A83F9F2597BC}"/>
              </a:ext>
            </a:extLst>
          </p:cNvPr>
          <p:cNvSpPr/>
          <p:nvPr/>
        </p:nvSpPr>
        <p:spPr bwMode="auto">
          <a:xfrm>
            <a:off x="125883" y="1331128"/>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T_APRRINT_WBC</a:t>
            </a:r>
          </a:p>
        </p:txBody>
      </p:sp>
      <p:sp>
        <p:nvSpPr>
          <p:cNvPr id="41" name="Rectangle 40">
            <a:extLst>
              <a:ext uri="{FF2B5EF4-FFF2-40B4-BE49-F238E27FC236}">
                <a16:creationId xmlns:a16="http://schemas.microsoft.com/office/drawing/2014/main" id="{99A12C51-C018-68AF-76F1-D0AA2058EBDF}"/>
              </a:ext>
            </a:extLst>
          </p:cNvPr>
          <p:cNvSpPr/>
          <p:nvPr/>
        </p:nvSpPr>
        <p:spPr bwMode="auto">
          <a:xfrm>
            <a:off x="125883" y="1549581"/>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T_APRRINT_$ST</a:t>
            </a:r>
          </a:p>
        </p:txBody>
      </p:sp>
      <p:sp>
        <p:nvSpPr>
          <p:cNvPr id="43" name="Rectangle 42">
            <a:extLst>
              <a:ext uri="{FF2B5EF4-FFF2-40B4-BE49-F238E27FC236}">
                <a16:creationId xmlns:a16="http://schemas.microsoft.com/office/drawing/2014/main" id="{81F6351C-50F7-9AA5-7FF1-A535FF22FFA3}"/>
              </a:ext>
            </a:extLst>
          </p:cNvPr>
          <p:cNvSpPr/>
          <p:nvPr/>
        </p:nvSpPr>
        <p:spPr bwMode="auto">
          <a:xfrm>
            <a:off x="125883" y="1768034"/>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T_APRRINT_$IM</a:t>
            </a:r>
          </a:p>
        </p:txBody>
      </p:sp>
      <p:sp>
        <p:nvSpPr>
          <p:cNvPr id="44" name="Rectangle 43">
            <a:extLst>
              <a:ext uri="{FF2B5EF4-FFF2-40B4-BE49-F238E27FC236}">
                <a16:creationId xmlns:a16="http://schemas.microsoft.com/office/drawing/2014/main" id="{CC6D5D85-C965-FF9A-965D-578B44E05D9A}"/>
              </a:ext>
            </a:extLst>
          </p:cNvPr>
          <p:cNvSpPr/>
          <p:nvPr/>
        </p:nvSpPr>
        <p:spPr bwMode="auto">
          <a:xfrm>
            <a:off x="125883" y="1986487"/>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T_APRRINT_SCF</a:t>
            </a:r>
          </a:p>
        </p:txBody>
      </p:sp>
      <p:sp>
        <p:nvSpPr>
          <p:cNvPr id="45" name="Rectangle 44">
            <a:extLst>
              <a:ext uri="{FF2B5EF4-FFF2-40B4-BE49-F238E27FC236}">
                <a16:creationId xmlns:a16="http://schemas.microsoft.com/office/drawing/2014/main" id="{A26AAF49-BEC3-506E-053C-69E4476D28B3}"/>
              </a:ext>
            </a:extLst>
          </p:cNvPr>
          <p:cNvSpPr/>
          <p:nvPr/>
        </p:nvSpPr>
        <p:spPr bwMode="auto">
          <a:xfrm>
            <a:off x="125883" y="2204940"/>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T_APRRINT_PRO</a:t>
            </a:r>
          </a:p>
        </p:txBody>
      </p:sp>
      <p:sp>
        <p:nvSpPr>
          <p:cNvPr id="1351" name="Rectangle 1350">
            <a:extLst>
              <a:ext uri="{FF2B5EF4-FFF2-40B4-BE49-F238E27FC236}">
                <a16:creationId xmlns:a16="http://schemas.microsoft.com/office/drawing/2014/main" id="{88C42449-A2FC-8E6D-577C-E0035B7F9A29}"/>
              </a:ext>
            </a:extLst>
          </p:cNvPr>
          <p:cNvSpPr/>
          <p:nvPr/>
        </p:nvSpPr>
        <p:spPr bwMode="auto">
          <a:xfrm>
            <a:off x="125883" y="2423393"/>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T_APRRINT_PPA</a:t>
            </a:r>
          </a:p>
        </p:txBody>
      </p:sp>
      <p:sp>
        <p:nvSpPr>
          <p:cNvPr id="1355" name="Rectangle 1354">
            <a:extLst>
              <a:ext uri="{FF2B5EF4-FFF2-40B4-BE49-F238E27FC236}">
                <a16:creationId xmlns:a16="http://schemas.microsoft.com/office/drawing/2014/main" id="{407AF3D1-53C8-8A2C-3E84-B8CB2A04A848}"/>
              </a:ext>
            </a:extLst>
          </p:cNvPr>
          <p:cNvSpPr/>
          <p:nvPr/>
        </p:nvSpPr>
        <p:spPr bwMode="auto">
          <a:xfrm>
            <a:off x="125883" y="2641846"/>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T_APRRINT_MYP</a:t>
            </a:r>
          </a:p>
        </p:txBody>
      </p:sp>
      <p:sp>
        <p:nvSpPr>
          <p:cNvPr id="1368" name="Rectangle 1367">
            <a:extLst>
              <a:ext uri="{FF2B5EF4-FFF2-40B4-BE49-F238E27FC236}">
                <a16:creationId xmlns:a16="http://schemas.microsoft.com/office/drawing/2014/main" id="{B8D691B7-AF25-9050-267A-3DF5915D16A8}"/>
              </a:ext>
            </a:extLst>
          </p:cNvPr>
          <p:cNvSpPr/>
          <p:nvPr/>
        </p:nvSpPr>
        <p:spPr bwMode="auto">
          <a:xfrm>
            <a:off x="125883" y="2860299"/>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T_APRRINT_MDC</a:t>
            </a:r>
          </a:p>
        </p:txBody>
      </p:sp>
      <p:sp>
        <p:nvSpPr>
          <p:cNvPr id="1369" name="Rectangle 1368">
            <a:extLst>
              <a:ext uri="{FF2B5EF4-FFF2-40B4-BE49-F238E27FC236}">
                <a16:creationId xmlns:a16="http://schemas.microsoft.com/office/drawing/2014/main" id="{BD92711B-8329-C434-3C51-760C0AA6E02F}"/>
              </a:ext>
            </a:extLst>
          </p:cNvPr>
          <p:cNvSpPr/>
          <p:nvPr/>
        </p:nvSpPr>
        <p:spPr bwMode="auto">
          <a:xfrm>
            <a:off x="125883" y="3078752"/>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T_APRRINT_LPC</a:t>
            </a:r>
          </a:p>
        </p:txBody>
      </p:sp>
      <p:sp>
        <p:nvSpPr>
          <p:cNvPr id="1388" name="Rectangle 1387">
            <a:extLst>
              <a:ext uri="{FF2B5EF4-FFF2-40B4-BE49-F238E27FC236}">
                <a16:creationId xmlns:a16="http://schemas.microsoft.com/office/drawing/2014/main" id="{BCB1B796-1456-030A-D9A0-9BE90CC5E430}"/>
              </a:ext>
            </a:extLst>
          </p:cNvPr>
          <p:cNvSpPr/>
          <p:nvPr/>
        </p:nvSpPr>
        <p:spPr bwMode="auto">
          <a:xfrm>
            <a:off x="125883" y="3297205"/>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T_APRRINT_LID</a:t>
            </a:r>
          </a:p>
        </p:txBody>
      </p:sp>
      <p:sp>
        <p:nvSpPr>
          <p:cNvPr id="1389" name="Rectangle 1388">
            <a:extLst>
              <a:ext uri="{FF2B5EF4-FFF2-40B4-BE49-F238E27FC236}">
                <a16:creationId xmlns:a16="http://schemas.microsoft.com/office/drawing/2014/main" id="{E84B7804-0414-A44E-0396-3F6C6A4B922C}"/>
              </a:ext>
            </a:extLst>
          </p:cNvPr>
          <p:cNvSpPr/>
          <p:nvPr/>
        </p:nvSpPr>
        <p:spPr bwMode="auto">
          <a:xfrm>
            <a:off x="125883" y="3515658"/>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T_APRRINT_LPC</a:t>
            </a:r>
          </a:p>
        </p:txBody>
      </p:sp>
      <p:sp>
        <p:nvSpPr>
          <p:cNvPr id="1390" name="Rectangle 1389">
            <a:extLst>
              <a:ext uri="{FF2B5EF4-FFF2-40B4-BE49-F238E27FC236}">
                <a16:creationId xmlns:a16="http://schemas.microsoft.com/office/drawing/2014/main" id="{371E4775-0656-FA3A-41F1-2138BA5EC613}"/>
              </a:ext>
            </a:extLst>
          </p:cNvPr>
          <p:cNvSpPr/>
          <p:nvPr/>
        </p:nvSpPr>
        <p:spPr bwMode="auto">
          <a:xfrm>
            <a:off x="125883" y="3734111"/>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T_APRRINT_LIC</a:t>
            </a:r>
          </a:p>
        </p:txBody>
      </p:sp>
      <p:sp>
        <p:nvSpPr>
          <p:cNvPr id="1398" name="Rectangle 1397">
            <a:extLst>
              <a:ext uri="{FF2B5EF4-FFF2-40B4-BE49-F238E27FC236}">
                <a16:creationId xmlns:a16="http://schemas.microsoft.com/office/drawing/2014/main" id="{C3CD9AAE-073C-080E-09E5-788D8E54C64D}"/>
              </a:ext>
            </a:extLst>
          </p:cNvPr>
          <p:cNvSpPr/>
          <p:nvPr/>
        </p:nvSpPr>
        <p:spPr bwMode="auto">
          <a:xfrm>
            <a:off x="125883" y="3952564"/>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T_APRRINT_JCC</a:t>
            </a:r>
          </a:p>
        </p:txBody>
      </p:sp>
      <p:sp>
        <p:nvSpPr>
          <p:cNvPr id="1399" name="Rectangle 1398">
            <a:extLst>
              <a:ext uri="{FF2B5EF4-FFF2-40B4-BE49-F238E27FC236}">
                <a16:creationId xmlns:a16="http://schemas.microsoft.com/office/drawing/2014/main" id="{128572A3-91D0-0C52-0172-721FAB1877D8}"/>
              </a:ext>
            </a:extLst>
          </p:cNvPr>
          <p:cNvSpPr/>
          <p:nvPr/>
        </p:nvSpPr>
        <p:spPr bwMode="auto">
          <a:xfrm>
            <a:off x="125883" y="4171017"/>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T_APRRINT_HIP</a:t>
            </a:r>
          </a:p>
        </p:txBody>
      </p:sp>
      <p:sp>
        <p:nvSpPr>
          <p:cNvPr id="1410" name="Rectangle 1409">
            <a:extLst>
              <a:ext uri="{FF2B5EF4-FFF2-40B4-BE49-F238E27FC236}">
                <a16:creationId xmlns:a16="http://schemas.microsoft.com/office/drawing/2014/main" id="{6B37C95D-4EBB-17FE-2B14-53B2C486FE62}"/>
              </a:ext>
            </a:extLst>
          </p:cNvPr>
          <p:cNvSpPr/>
          <p:nvPr/>
        </p:nvSpPr>
        <p:spPr bwMode="auto">
          <a:xfrm>
            <a:off x="125883" y="4389470"/>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T_APRRINT_GAC</a:t>
            </a:r>
          </a:p>
        </p:txBody>
      </p:sp>
      <p:sp>
        <p:nvSpPr>
          <p:cNvPr id="1414" name="Rectangle 1413">
            <a:extLst>
              <a:ext uri="{FF2B5EF4-FFF2-40B4-BE49-F238E27FC236}">
                <a16:creationId xmlns:a16="http://schemas.microsoft.com/office/drawing/2014/main" id="{F6B02F0A-C02F-F98B-C1F0-3E5B0BC1049C}"/>
              </a:ext>
            </a:extLst>
          </p:cNvPr>
          <p:cNvSpPr/>
          <p:nvPr/>
        </p:nvSpPr>
        <p:spPr bwMode="auto">
          <a:xfrm>
            <a:off x="125883" y="4607923"/>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T_APRRINT_FMU</a:t>
            </a:r>
          </a:p>
        </p:txBody>
      </p:sp>
      <p:sp>
        <p:nvSpPr>
          <p:cNvPr id="1415" name="Rectangle 1414">
            <a:extLst>
              <a:ext uri="{FF2B5EF4-FFF2-40B4-BE49-F238E27FC236}">
                <a16:creationId xmlns:a16="http://schemas.microsoft.com/office/drawing/2014/main" id="{9AB7DF3A-01AC-6762-A153-D30BFCDCB9AF}"/>
              </a:ext>
            </a:extLst>
          </p:cNvPr>
          <p:cNvSpPr/>
          <p:nvPr/>
        </p:nvSpPr>
        <p:spPr bwMode="auto">
          <a:xfrm>
            <a:off x="125883" y="4826376"/>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T_APRRINT_FCD</a:t>
            </a:r>
          </a:p>
        </p:txBody>
      </p:sp>
      <p:sp>
        <p:nvSpPr>
          <p:cNvPr id="1417" name="Rectangle 1416">
            <a:extLst>
              <a:ext uri="{FF2B5EF4-FFF2-40B4-BE49-F238E27FC236}">
                <a16:creationId xmlns:a16="http://schemas.microsoft.com/office/drawing/2014/main" id="{47C9773E-42D5-BA50-CA3D-840544C8D8D1}"/>
              </a:ext>
            </a:extLst>
          </p:cNvPr>
          <p:cNvSpPr/>
          <p:nvPr/>
        </p:nvSpPr>
        <p:spPr bwMode="auto">
          <a:xfrm>
            <a:off x="125883" y="5044829"/>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T_APRRINT_CNS</a:t>
            </a:r>
          </a:p>
        </p:txBody>
      </p:sp>
      <p:sp>
        <p:nvSpPr>
          <p:cNvPr id="1438" name="Rectangle 1437">
            <a:extLst>
              <a:ext uri="{FF2B5EF4-FFF2-40B4-BE49-F238E27FC236}">
                <a16:creationId xmlns:a16="http://schemas.microsoft.com/office/drawing/2014/main" id="{6EF23C59-2E83-2CE6-DCF6-B20E7EEB888E}"/>
              </a:ext>
            </a:extLst>
          </p:cNvPr>
          <p:cNvSpPr/>
          <p:nvPr/>
        </p:nvSpPr>
        <p:spPr bwMode="auto">
          <a:xfrm>
            <a:off x="125883" y="5263282"/>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T_APRRINT_CDO</a:t>
            </a:r>
          </a:p>
        </p:txBody>
      </p:sp>
      <p:sp>
        <p:nvSpPr>
          <p:cNvPr id="1439" name="Rectangle 1438">
            <a:extLst>
              <a:ext uri="{FF2B5EF4-FFF2-40B4-BE49-F238E27FC236}">
                <a16:creationId xmlns:a16="http://schemas.microsoft.com/office/drawing/2014/main" id="{6F474C67-A6FF-56BA-3FDA-43C52C19A209}"/>
              </a:ext>
            </a:extLst>
          </p:cNvPr>
          <p:cNvSpPr/>
          <p:nvPr/>
        </p:nvSpPr>
        <p:spPr bwMode="auto">
          <a:xfrm>
            <a:off x="125883" y="5481735"/>
            <a:ext cx="972000" cy="144000"/>
          </a:xfrm>
          <a:prstGeom prst="rect">
            <a:avLst/>
          </a:prstGeom>
          <a:solidFill>
            <a:srgbClr val="92D050"/>
          </a:solidFill>
          <a:ln w="9525">
            <a:noFill/>
            <a:round/>
          </a:ln>
        </p:spPr>
        <p:txBody>
          <a:bodyPr wrap="none" rtlCol="0" anchor="ctr">
            <a:spAutoFit/>
          </a:bodyPr>
          <a:lstStyle/>
          <a:p>
            <a:pPr algn="ctr"/>
            <a:r>
              <a:rPr lang="es-ES_tradnl" sz="800" b="1">
                <a:latin typeface="Arial" pitchFamily="34" charset="0"/>
                <a:cs typeface="Arial" pitchFamily="34" charset="0"/>
              </a:rPr>
              <a:t>T_APRRINT_BKT</a:t>
            </a:r>
          </a:p>
        </p:txBody>
      </p:sp>
      <p:sp>
        <p:nvSpPr>
          <p:cNvPr id="1441" name="Rectangle 1440">
            <a:extLst>
              <a:ext uri="{FF2B5EF4-FFF2-40B4-BE49-F238E27FC236}">
                <a16:creationId xmlns:a16="http://schemas.microsoft.com/office/drawing/2014/main" id="{1455E076-B1F1-3E61-CF88-2F98F4AB7768}"/>
              </a:ext>
            </a:extLst>
          </p:cNvPr>
          <p:cNvSpPr/>
          <p:nvPr/>
        </p:nvSpPr>
        <p:spPr bwMode="auto">
          <a:xfrm>
            <a:off x="125883" y="5700178"/>
            <a:ext cx="972000" cy="144000"/>
          </a:xfrm>
          <a:prstGeom prst="rect">
            <a:avLst/>
          </a:prstGeom>
          <a:solidFill>
            <a:srgbClr val="FF0000"/>
          </a:solidFill>
          <a:ln w="9525">
            <a:noFill/>
            <a:round/>
          </a:ln>
        </p:spPr>
        <p:txBody>
          <a:bodyPr wrap="none" rtlCol="0" anchor="ctr">
            <a:spAutoFit/>
          </a:bodyPr>
          <a:lstStyle/>
          <a:p>
            <a:pPr algn="ctr"/>
            <a:r>
              <a:rPr lang="es-ES_tradnl" sz="800" b="1">
                <a:latin typeface="Arial" pitchFamily="34" charset="0"/>
                <a:cs typeface="Arial" pitchFamily="34" charset="0"/>
              </a:rPr>
              <a:t>T_APRRINT_ADJ</a:t>
            </a:r>
          </a:p>
        </p:txBody>
      </p:sp>
      <p:sp>
        <p:nvSpPr>
          <p:cNvPr id="1459" name="Rectangle: Rounded Corners 1458">
            <a:extLst>
              <a:ext uri="{FF2B5EF4-FFF2-40B4-BE49-F238E27FC236}">
                <a16:creationId xmlns:a16="http://schemas.microsoft.com/office/drawing/2014/main" id="{95C7E6F5-0B4C-7EC1-D329-C3327B3A9424}"/>
              </a:ext>
            </a:extLst>
          </p:cNvPr>
          <p:cNvSpPr/>
          <p:nvPr/>
        </p:nvSpPr>
        <p:spPr bwMode="auto">
          <a:xfrm>
            <a:off x="1734852" y="2727192"/>
            <a:ext cx="769446" cy="63808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Extracción</a:t>
            </a:r>
          </a:p>
        </p:txBody>
      </p:sp>
      <p:sp>
        <p:nvSpPr>
          <p:cNvPr id="4105" name="Rectangle: Rounded Corners 4104">
            <a:extLst>
              <a:ext uri="{FF2B5EF4-FFF2-40B4-BE49-F238E27FC236}">
                <a16:creationId xmlns:a16="http://schemas.microsoft.com/office/drawing/2014/main" id="{A9405467-BEF1-4797-7C24-28E3C211904E}"/>
              </a:ext>
            </a:extLst>
          </p:cNvPr>
          <p:cNvSpPr/>
          <p:nvPr/>
        </p:nvSpPr>
        <p:spPr bwMode="auto">
          <a:xfrm>
            <a:off x="2516339" y="2727192"/>
            <a:ext cx="1015091" cy="63808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Homologación</a:t>
            </a:r>
          </a:p>
        </p:txBody>
      </p:sp>
      <p:sp>
        <p:nvSpPr>
          <p:cNvPr id="4106" name="Rectangle: Rounded Corners 4105">
            <a:extLst>
              <a:ext uri="{FF2B5EF4-FFF2-40B4-BE49-F238E27FC236}">
                <a16:creationId xmlns:a16="http://schemas.microsoft.com/office/drawing/2014/main" id="{3EDFD640-10CB-AB15-B60F-607A54CE736A}"/>
              </a:ext>
            </a:extLst>
          </p:cNvPr>
          <p:cNvSpPr/>
          <p:nvPr/>
        </p:nvSpPr>
        <p:spPr bwMode="auto">
          <a:xfrm>
            <a:off x="3552721" y="2727192"/>
            <a:ext cx="820613" cy="63808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Generación</a:t>
            </a:r>
          </a:p>
          <a:p>
            <a:pPr algn="ctr"/>
            <a:r>
              <a:rPr lang="es-ES_tradnl" sz="800" b="1">
                <a:solidFill>
                  <a:schemeClr val="bg1"/>
                </a:solidFill>
                <a:latin typeface="Arial" pitchFamily="34" charset="0"/>
                <a:cs typeface="Arial" pitchFamily="34" charset="0"/>
              </a:rPr>
              <a:t>ID Contrato</a:t>
            </a:r>
          </a:p>
        </p:txBody>
      </p:sp>
      <p:sp>
        <p:nvSpPr>
          <p:cNvPr id="4107" name="Rectangle: Rounded Corners 4106">
            <a:extLst>
              <a:ext uri="{FF2B5EF4-FFF2-40B4-BE49-F238E27FC236}">
                <a16:creationId xmlns:a16="http://schemas.microsoft.com/office/drawing/2014/main" id="{D73CD5EA-3288-DC00-AACE-2E8CA20AA219}"/>
              </a:ext>
            </a:extLst>
          </p:cNvPr>
          <p:cNvSpPr/>
          <p:nvPr/>
        </p:nvSpPr>
        <p:spPr bwMode="auto">
          <a:xfrm>
            <a:off x="8353667" y="1294703"/>
            <a:ext cx="771785" cy="65801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Contra</a:t>
            </a:r>
          </a:p>
          <a:p>
            <a:pPr algn="ctr"/>
            <a:r>
              <a:rPr lang="es-ES_tradnl" sz="800" b="1">
                <a:solidFill>
                  <a:schemeClr val="bg1"/>
                </a:solidFill>
                <a:latin typeface="Arial" pitchFamily="34" charset="0"/>
                <a:cs typeface="Arial" pitchFamily="34" charset="0"/>
              </a:rPr>
              <a:t>valoración</a:t>
            </a:r>
          </a:p>
        </p:txBody>
      </p:sp>
      <p:sp>
        <p:nvSpPr>
          <p:cNvPr id="4109" name="Rectangle: Rounded Corners 4108">
            <a:extLst>
              <a:ext uri="{FF2B5EF4-FFF2-40B4-BE49-F238E27FC236}">
                <a16:creationId xmlns:a16="http://schemas.microsoft.com/office/drawing/2014/main" id="{FE8FC75C-69DE-F78A-3D6D-80F4133961F5}"/>
              </a:ext>
            </a:extLst>
          </p:cNvPr>
          <p:cNvSpPr/>
          <p:nvPr/>
        </p:nvSpPr>
        <p:spPr bwMode="auto">
          <a:xfrm>
            <a:off x="4560604" y="1314421"/>
            <a:ext cx="2772000" cy="21146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Asignación Dimensiones</a:t>
            </a:r>
          </a:p>
        </p:txBody>
      </p:sp>
      <p:sp>
        <p:nvSpPr>
          <p:cNvPr id="4110" name="Rectangle: Rounded Corners 4109">
            <a:extLst>
              <a:ext uri="{FF2B5EF4-FFF2-40B4-BE49-F238E27FC236}">
                <a16:creationId xmlns:a16="http://schemas.microsoft.com/office/drawing/2014/main" id="{946CD791-CD76-4CFC-B25E-EA83BAFEB656}"/>
              </a:ext>
            </a:extLst>
          </p:cNvPr>
          <p:cNvSpPr/>
          <p:nvPr/>
        </p:nvSpPr>
        <p:spPr bwMode="auto">
          <a:xfrm>
            <a:off x="4546311" y="1552252"/>
            <a:ext cx="720000" cy="398130"/>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Segmento</a:t>
            </a:r>
          </a:p>
        </p:txBody>
      </p:sp>
      <p:sp>
        <p:nvSpPr>
          <p:cNvPr id="4111" name="Rectangle: Rounded Corners 4110">
            <a:extLst>
              <a:ext uri="{FF2B5EF4-FFF2-40B4-BE49-F238E27FC236}">
                <a16:creationId xmlns:a16="http://schemas.microsoft.com/office/drawing/2014/main" id="{20135B31-30D6-47FF-7B56-2422DAEB29D6}"/>
              </a:ext>
            </a:extLst>
          </p:cNvPr>
          <p:cNvSpPr/>
          <p:nvPr/>
        </p:nvSpPr>
        <p:spPr bwMode="auto">
          <a:xfrm>
            <a:off x="5294395" y="1552252"/>
            <a:ext cx="684000" cy="398130"/>
          </a:xfrm>
          <a:prstGeom prst="roundRect">
            <a:avLst/>
          </a:prstGeom>
          <a:solidFill>
            <a:schemeClr val="tx2"/>
          </a:solidFill>
          <a:ln w="9525">
            <a:noFill/>
            <a:round/>
          </a:ln>
        </p:spPr>
        <p:txBody>
          <a:bodyPr wrap="square" rtlCol="0" anchor="ctr">
            <a:noAutofit/>
          </a:bodyPr>
          <a:lstStyle/>
          <a:p>
            <a:pPr algn="ctr"/>
            <a:r>
              <a:rPr lang="es-ES_tradnl" sz="800" b="1" err="1">
                <a:solidFill>
                  <a:schemeClr val="bg1"/>
                </a:solidFill>
                <a:latin typeface="Arial" pitchFamily="34" charset="0"/>
                <a:cs typeface="Arial" pitchFamily="34" charset="0"/>
              </a:rPr>
              <a:t>Agrp. Contable</a:t>
            </a:r>
          </a:p>
        </p:txBody>
      </p:sp>
      <p:sp>
        <p:nvSpPr>
          <p:cNvPr id="4113" name="Rectangle: Rounded Corners 4112">
            <a:extLst>
              <a:ext uri="{FF2B5EF4-FFF2-40B4-BE49-F238E27FC236}">
                <a16:creationId xmlns:a16="http://schemas.microsoft.com/office/drawing/2014/main" id="{A60FD35F-20EF-A452-C7E4-5626B657579F}"/>
              </a:ext>
            </a:extLst>
          </p:cNvPr>
          <p:cNvSpPr/>
          <p:nvPr/>
        </p:nvSpPr>
        <p:spPr bwMode="auto">
          <a:xfrm>
            <a:off x="5995587" y="1552252"/>
            <a:ext cx="684000" cy="398130"/>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Producto</a:t>
            </a:r>
          </a:p>
          <a:p>
            <a:pPr algn="ctr"/>
            <a:r>
              <a:rPr lang="es-ES_tradnl" sz="800" b="1">
                <a:solidFill>
                  <a:schemeClr val="bg1"/>
                </a:solidFill>
                <a:latin typeface="Arial" pitchFamily="34" charset="0"/>
                <a:cs typeface="Arial" pitchFamily="34" charset="0"/>
              </a:rPr>
              <a:t>Gestión</a:t>
            </a:r>
          </a:p>
        </p:txBody>
      </p:sp>
      <p:sp>
        <p:nvSpPr>
          <p:cNvPr id="4114" name="Rectangle: Rounded Corners 4113">
            <a:extLst>
              <a:ext uri="{FF2B5EF4-FFF2-40B4-BE49-F238E27FC236}">
                <a16:creationId xmlns:a16="http://schemas.microsoft.com/office/drawing/2014/main" id="{5A0F099F-B188-2BB5-66D4-8B23E72DDAE9}"/>
              </a:ext>
            </a:extLst>
          </p:cNvPr>
          <p:cNvSpPr/>
          <p:nvPr/>
        </p:nvSpPr>
        <p:spPr bwMode="auto">
          <a:xfrm>
            <a:off x="6708502" y="1552252"/>
            <a:ext cx="648000" cy="398130"/>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Área de</a:t>
            </a:r>
          </a:p>
          <a:p>
            <a:pPr algn="ctr"/>
            <a:r>
              <a:rPr lang="es-ES_tradnl" sz="800" b="1">
                <a:solidFill>
                  <a:schemeClr val="bg1"/>
                </a:solidFill>
                <a:latin typeface="Arial" pitchFamily="34" charset="0"/>
                <a:cs typeface="Arial" pitchFamily="34" charset="0"/>
              </a:rPr>
              <a:t>Negocio</a:t>
            </a:r>
          </a:p>
        </p:txBody>
      </p:sp>
      <p:sp>
        <p:nvSpPr>
          <p:cNvPr id="4116" name="Rectangle: Rounded Corners 4115">
            <a:extLst>
              <a:ext uri="{FF2B5EF4-FFF2-40B4-BE49-F238E27FC236}">
                <a16:creationId xmlns:a16="http://schemas.microsoft.com/office/drawing/2014/main" id="{F23FF86A-B8B5-8867-12AF-AA692EA7B73F}"/>
              </a:ext>
            </a:extLst>
          </p:cNvPr>
          <p:cNvSpPr/>
          <p:nvPr/>
        </p:nvSpPr>
        <p:spPr bwMode="auto">
          <a:xfrm>
            <a:off x="7384260" y="1290795"/>
            <a:ext cx="942925" cy="661919"/>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Data</a:t>
            </a:r>
          </a:p>
          <a:p>
            <a:pPr algn="ctr"/>
            <a:r>
              <a:rPr lang="es-ES_tradnl" sz="800" b="1" err="1">
                <a:solidFill>
                  <a:schemeClr val="bg1"/>
                </a:solidFill>
                <a:latin typeface="Arial" pitchFamily="34" charset="0"/>
                <a:cs typeface="Arial" pitchFamily="34" charset="0"/>
              </a:rPr>
              <a:t>Quality</a:t>
            </a:r>
            <a:endParaRPr lang="es-ES_tradnl" sz="800" b="1">
              <a:solidFill>
                <a:schemeClr val="bg1"/>
              </a:solidFill>
              <a:latin typeface="Arial" pitchFamily="34" charset="0"/>
              <a:cs typeface="Arial" pitchFamily="34" charset="0"/>
            </a:endParaRPr>
          </a:p>
        </p:txBody>
      </p:sp>
      <p:sp>
        <p:nvSpPr>
          <p:cNvPr id="4117" name="Rectangle: Rounded Corners 4116">
            <a:extLst>
              <a:ext uri="{FF2B5EF4-FFF2-40B4-BE49-F238E27FC236}">
                <a16:creationId xmlns:a16="http://schemas.microsoft.com/office/drawing/2014/main" id="{EE9C4134-5BD3-DAA1-7A21-7DC48BEEE70E}"/>
              </a:ext>
            </a:extLst>
          </p:cNvPr>
          <p:cNvSpPr/>
          <p:nvPr/>
        </p:nvSpPr>
        <p:spPr bwMode="auto">
          <a:xfrm>
            <a:off x="9152377" y="1290795"/>
            <a:ext cx="720000" cy="661919"/>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Saldo</a:t>
            </a:r>
          </a:p>
          <a:p>
            <a:pPr algn="ctr"/>
            <a:r>
              <a:rPr lang="es-ES_tradnl" sz="800" b="1">
                <a:solidFill>
                  <a:schemeClr val="bg1"/>
                </a:solidFill>
                <a:latin typeface="Arial" pitchFamily="34" charset="0"/>
                <a:cs typeface="Arial" pitchFamily="34" charset="0"/>
              </a:rPr>
              <a:t>Medio</a:t>
            </a:r>
          </a:p>
        </p:txBody>
      </p:sp>
      <p:sp>
        <p:nvSpPr>
          <p:cNvPr id="4121" name="Rectangle 4120">
            <a:extLst>
              <a:ext uri="{FF2B5EF4-FFF2-40B4-BE49-F238E27FC236}">
                <a16:creationId xmlns:a16="http://schemas.microsoft.com/office/drawing/2014/main" id="{F53F5E26-5E1C-6E3F-C9F7-F2334151CA03}"/>
              </a:ext>
            </a:extLst>
          </p:cNvPr>
          <p:cNvSpPr/>
          <p:nvPr/>
        </p:nvSpPr>
        <p:spPr bwMode="auto">
          <a:xfrm>
            <a:off x="10695050" y="1512078"/>
            <a:ext cx="1368000" cy="215444"/>
          </a:xfrm>
          <a:prstGeom prst="rect">
            <a:avLst/>
          </a:prstGeom>
          <a:solidFill>
            <a:schemeClr val="bg1">
              <a:lumMod val="85000"/>
            </a:schemeClr>
          </a:solidFill>
          <a:ln w="9525">
            <a:noFill/>
            <a:round/>
          </a:ln>
        </p:spPr>
        <p:txBody>
          <a:bodyPr wrap="none" rtlCol="0" anchor="ctr">
            <a:spAutoFit/>
          </a:bodyPr>
          <a:lstStyle/>
          <a:p>
            <a:pPr algn="ctr"/>
            <a:r>
              <a:rPr lang="es-ES_tradnl" sz="800" b="1">
                <a:latin typeface="Arial" pitchFamily="34" charset="0"/>
                <a:cs typeface="Arial" pitchFamily="34" charset="0"/>
              </a:rPr>
              <a:t>FACT_SALDOS_OPER_DIA</a:t>
            </a:r>
          </a:p>
        </p:txBody>
      </p:sp>
      <p:pic>
        <p:nvPicPr>
          <p:cNvPr id="4120" name="Graphic 23" descr="Amazon Redshift service icon.">
            <a:extLst>
              <a:ext uri="{FF2B5EF4-FFF2-40B4-BE49-F238E27FC236}">
                <a16:creationId xmlns:a16="http://schemas.microsoft.com/office/drawing/2014/main" id="{FF62E685-C5E3-1821-BB21-E68DFCFDD2C8}"/>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11949426" y="1693581"/>
            <a:ext cx="217766" cy="21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3" name="Rectangle: Rounded Corners 4122">
            <a:extLst>
              <a:ext uri="{FF2B5EF4-FFF2-40B4-BE49-F238E27FC236}">
                <a16:creationId xmlns:a16="http://schemas.microsoft.com/office/drawing/2014/main" id="{266D1928-933D-C47B-A760-4903280DF440}"/>
              </a:ext>
            </a:extLst>
          </p:cNvPr>
          <p:cNvSpPr/>
          <p:nvPr/>
        </p:nvSpPr>
        <p:spPr bwMode="auto">
          <a:xfrm>
            <a:off x="5758636" y="4308820"/>
            <a:ext cx="706228" cy="661919"/>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Data</a:t>
            </a:r>
          </a:p>
          <a:p>
            <a:pPr algn="ctr"/>
            <a:r>
              <a:rPr lang="es-ES_tradnl" sz="800" b="1" err="1">
                <a:solidFill>
                  <a:schemeClr val="bg1"/>
                </a:solidFill>
                <a:latin typeface="Arial" pitchFamily="34" charset="0"/>
                <a:cs typeface="Arial" pitchFamily="34" charset="0"/>
              </a:rPr>
              <a:t>Quality</a:t>
            </a:r>
            <a:endParaRPr lang="es-ES_tradnl" sz="800" b="1">
              <a:solidFill>
                <a:schemeClr val="bg1"/>
              </a:solidFill>
              <a:latin typeface="Arial" pitchFamily="34" charset="0"/>
              <a:cs typeface="Arial" pitchFamily="34" charset="0"/>
            </a:endParaRPr>
          </a:p>
        </p:txBody>
      </p:sp>
      <p:sp>
        <p:nvSpPr>
          <p:cNvPr id="4124" name="Rectangle 4123">
            <a:extLst>
              <a:ext uri="{FF2B5EF4-FFF2-40B4-BE49-F238E27FC236}">
                <a16:creationId xmlns:a16="http://schemas.microsoft.com/office/drawing/2014/main" id="{F42CC3DC-4F0D-A881-8CFA-659673A53265}"/>
              </a:ext>
            </a:extLst>
          </p:cNvPr>
          <p:cNvSpPr/>
          <p:nvPr/>
        </p:nvSpPr>
        <p:spPr bwMode="auto">
          <a:xfrm>
            <a:off x="7371530" y="4389451"/>
            <a:ext cx="1188000" cy="215444"/>
          </a:xfrm>
          <a:prstGeom prst="rect">
            <a:avLst/>
          </a:prstGeom>
          <a:solidFill>
            <a:schemeClr val="bg1">
              <a:lumMod val="85000"/>
            </a:schemeClr>
          </a:solidFill>
          <a:ln w="9525">
            <a:noFill/>
            <a:round/>
          </a:ln>
        </p:spPr>
        <p:txBody>
          <a:bodyPr wrap="none" rtlCol="0" anchor="ctr">
            <a:noAutofit/>
          </a:bodyPr>
          <a:lstStyle/>
          <a:p>
            <a:r>
              <a:rPr lang="es-ES_tradnl" sz="800" b="1">
                <a:latin typeface="Arial" pitchFamily="34" charset="0"/>
                <a:cs typeface="Arial" pitchFamily="34" charset="0"/>
              </a:rPr>
              <a:t>DIM_CONTRATO</a:t>
            </a:r>
          </a:p>
        </p:txBody>
      </p:sp>
      <p:sp>
        <p:nvSpPr>
          <p:cNvPr id="4127" name="Rectangle 4126">
            <a:extLst>
              <a:ext uri="{FF2B5EF4-FFF2-40B4-BE49-F238E27FC236}">
                <a16:creationId xmlns:a16="http://schemas.microsoft.com/office/drawing/2014/main" id="{6F3DAB91-6F9B-56F0-EB59-6B27072BA803}"/>
              </a:ext>
            </a:extLst>
          </p:cNvPr>
          <p:cNvSpPr/>
          <p:nvPr/>
        </p:nvSpPr>
        <p:spPr bwMode="auto">
          <a:xfrm>
            <a:off x="7371530" y="4675129"/>
            <a:ext cx="1188000" cy="215444"/>
          </a:xfrm>
          <a:prstGeom prst="rect">
            <a:avLst/>
          </a:prstGeom>
          <a:solidFill>
            <a:schemeClr val="bg1">
              <a:lumMod val="85000"/>
            </a:schemeClr>
          </a:solidFill>
          <a:ln w="9525">
            <a:noFill/>
            <a:round/>
          </a:ln>
        </p:spPr>
        <p:txBody>
          <a:bodyPr wrap="none" rtlCol="0" anchor="ctr">
            <a:noAutofit/>
          </a:bodyPr>
          <a:lstStyle/>
          <a:p>
            <a:r>
              <a:rPr lang="es-ES_tradnl" sz="800" b="1">
                <a:latin typeface="Arial" pitchFamily="34" charset="0"/>
                <a:cs typeface="Arial" pitchFamily="34" charset="0"/>
              </a:rPr>
              <a:t>DT_CONTRATO_DIA</a:t>
            </a:r>
          </a:p>
        </p:txBody>
      </p:sp>
      <p:pic>
        <p:nvPicPr>
          <p:cNvPr id="4128" name="Graphic 23" descr="Amazon Redshift service icon.">
            <a:extLst>
              <a:ext uri="{FF2B5EF4-FFF2-40B4-BE49-F238E27FC236}">
                <a16:creationId xmlns:a16="http://schemas.microsoft.com/office/drawing/2014/main" id="{4620D565-A12F-A0ED-B977-C8F28D88FBE9}"/>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8532262" y="4781690"/>
            <a:ext cx="217766" cy="21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5" name="Graphic 23" descr="Amazon Redshift service icon.">
            <a:extLst>
              <a:ext uri="{FF2B5EF4-FFF2-40B4-BE49-F238E27FC236}">
                <a16:creationId xmlns:a16="http://schemas.microsoft.com/office/drawing/2014/main" id="{1BE83AB8-E182-A62E-B167-BC5F35891191}"/>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8531293" y="4442685"/>
            <a:ext cx="217766" cy="21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30" name="Connector: Elbow 4129">
            <a:extLst>
              <a:ext uri="{FF2B5EF4-FFF2-40B4-BE49-F238E27FC236}">
                <a16:creationId xmlns:a16="http://schemas.microsoft.com/office/drawing/2014/main" id="{54591A16-EF9B-7CCE-78C4-58D19A4D20EB}"/>
              </a:ext>
            </a:extLst>
          </p:cNvPr>
          <p:cNvCxnSpPr>
            <a:endCxn id="4110" idx="1"/>
          </p:cNvCxnSpPr>
          <p:nvPr/>
        </p:nvCxnSpPr>
        <p:spPr bwMode="auto">
          <a:xfrm flipV="1">
            <a:off x="4340382" y="1751317"/>
            <a:ext cx="205929" cy="1294919"/>
          </a:xfrm>
          <a:prstGeom prst="bentConnector3">
            <a:avLst>
              <a:gd name="adj1" fmla="val 37999"/>
            </a:avLst>
          </a:prstGeom>
          <a:solidFill>
            <a:schemeClr val="accent1"/>
          </a:solidFill>
          <a:ln w="9525" cap="flat" cmpd="sng" algn="ctr">
            <a:solidFill>
              <a:schemeClr val="tx1"/>
            </a:solidFill>
            <a:prstDash val="solid"/>
            <a:round/>
            <a:headEnd type="none" w="med" len="med"/>
            <a:tailEnd type="triangle"/>
          </a:ln>
          <a:effectLst/>
        </p:spPr>
      </p:cxnSp>
      <p:cxnSp>
        <p:nvCxnSpPr>
          <p:cNvPr id="4134" name="Connector: Elbow 4133">
            <a:extLst>
              <a:ext uri="{FF2B5EF4-FFF2-40B4-BE49-F238E27FC236}">
                <a16:creationId xmlns:a16="http://schemas.microsoft.com/office/drawing/2014/main" id="{0650EEF9-3B8C-9A55-CF19-6A77671BA7E4}"/>
              </a:ext>
            </a:extLst>
          </p:cNvPr>
          <p:cNvCxnSpPr>
            <a:endCxn id="1085" idx="1"/>
          </p:cNvCxnSpPr>
          <p:nvPr/>
        </p:nvCxnSpPr>
        <p:spPr bwMode="auto">
          <a:xfrm>
            <a:off x="4340382" y="3046236"/>
            <a:ext cx="510446" cy="1593544"/>
          </a:xfrm>
          <a:prstGeom prst="bentConnector3">
            <a:avLst>
              <a:gd name="adj1" fmla="val 16109"/>
            </a:avLst>
          </a:prstGeom>
          <a:solidFill>
            <a:schemeClr val="accent1"/>
          </a:solidFill>
          <a:ln w="9525" cap="flat" cmpd="sng" algn="ctr">
            <a:solidFill>
              <a:schemeClr val="tx1"/>
            </a:solidFill>
            <a:prstDash val="solid"/>
            <a:round/>
            <a:headEnd type="none" w="med" len="med"/>
            <a:tailEnd type="triangle"/>
          </a:ln>
          <a:effectLst/>
        </p:spPr>
      </p:cxnSp>
      <p:grpSp>
        <p:nvGrpSpPr>
          <p:cNvPr id="4147" name="Group 4146">
            <a:extLst>
              <a:ext uri="{FF2B5EF4-FFF2-40B4-BE49-F238E27FC236}">
                <a16:creationId xmlns:a16="http://schemas.microsoft.com/office/drawing/2014/main" id="{0A7E684D-B0D3-ABBC-BBF6-93CA31D26973}"/>
              </a:ext>
            </a:extLst>
          </p:cNvPr>
          <p:cNvGrpSpPr/>
          <p:nvPr/>
        </p:nvGrpSpPr>
        <p:grpSpPr>
          <a:xfrm>
            <a:off x="7473070" y="1986487"/>
            <a:ext cx="969407" cy="344089"/>
            <a:chOff x="7927962" y="2476770"/>
            <a:chExt cx="969407" cy="344089"/>
          </a:xfrm>
        </p:grpSpPr>
        <p:pic>
          <p:nvPicPr>
            <p:cNvPr id="4145" name="Graphic 4144" descr="AWS Glue Data Quality resource icon for the AWS Glue service.">
              <a:extLst>
                <a:ext uri="{FF2B5EF4-FFF2-40B4-BE49-F238E27FC236}">
                  <a16:creationId xmlns:a16="http://schemas.microsoft.com/office/drawing/2014/main" id="{891A0A8D-7659-930D-5614-DEB92EABD8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27962" y="2488894"/>
              <a:ext cx="272358" cy="272358"/>
            </a:xfrm>
            <a:prstGeom prst="rect">
              <a:avLst/>
            </a:prstGeom>
          </p:spPr>
        </p:pic>
        <p:sp>
          <p:nvSpPr>
            <p:cNvPr id="4146" name="TextBox 24">
              <a:extLst>
                <a:ext uri="{FF2B5EF4-FFF2-40B4-BE49-F238E27FC236}">
                  <a16:creationId xmlns:a16="http://schemas.microsoft.com/office/drawing/2014/main" id="{427904A7-EC39-6E5C-E687-C724E2D65943}"/>
                </a:ext>
              </a:extLst>
            </p:cNvPr>
            <p:cNvSpPr txBox="1">
              <a:spLocks noChangeArrowheads="1"/>
            </p:cNvSpPr>
            <p:nvPr/>
          </p:nvSpPr>
          <p:spPr bwMode="auto">
            <a:xfrm>
              <a:off x="8073752" y="2476770"/>
              <a:ext cx="823617" cy="34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 Data Quality</a:t>
              </a:r>
            </a:p>
          </p:txBody>
        </p:sp>
      </p:grpSp>
      <p:grpSp>
        <p:nvGrpSpPr>
          <p:cNvPr id="4149" name="Group 4148">
            <a:extLst>
              <a:ext uri="{FF2B5EF4-FFF2-40B4-BE49-F238E27FC236}">
                <a16:creationId xmlns:a16="http://schemas.microsoft.com/office/drawing/2014/main" id="{272B7A36-3F4A-0129-D66D-5D8A98CBF8F9}"/>
              </a:ext>
            </a:extLst>
          </p:cNvPr>
          <p:cNvGrpSpPr/>
          <p:nvPr/>
        </p:nvGrpSpPr>
        <p:grpSpPr>
          <a:xfrm>
            <a:off x="5834976" y="5057675"/>
            <a:ext cx="969407" cy="344089"/>
            <a:chOff x="7927962" y="2476770"/>
            <a:chExt cx="969407" cy="344089"/>
          </a:xfrm>
        </p:grpSpPr>
        <p:pic>
          <p:nvPicPr>
            <p:cNvPr id="4150" name="Graphic 4149" descr="AWS Glue Data Quality resource icon for the AWS Glue service.">
              <a:extLst>
                <a:ext uri="{FF2B5EF4-FFF2-40B4-BE49-F238E27FC236}">
                  <a16:creationId xmlns:a16="http://schemas.microsoft.com/office/drawing/2014/main" id="{6584204F-6098-D70A-0F7C-73AEF8231A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27962" y="2488894"/>
              <a:ext cx="291576" cy="291576"/>
            </a:xfrm>
            <a:prstGeom prst="rect">
              <a:avLst/>
            </a:prstGeom>
          </p:spPr>
        </p:pic>
        <p:sp>
          <p:nvSpPr>
            <p:cNvPr id="4151" name="TextBox 24">
              <a:extLst>
                <a:ext uri="{FF2B5EF4-FFF2-40B4-BE49-F238E27FC236}">
                  <a16:creationId xmlns:a16="http://schemas.microsoft.com/office/drawing/2014/main" id="{5407A2B5-C838-3CA2-0E4C-E90BACAEF6B6}"/>
                </a:ext>
              </a:extLst>
            </p:cNvPr>
            <p:cNvSpPr txBox="1">
              <a:spLocks noChangeArrowheads="1"/>
            </p:cNvSpPr>
            <p:nvPr/>
          </p:nvSpPr>
          <p:spPr bwMode="auto">
            <a:xfrm>
              <a:off x="8073752" y="2476770"/>
              <a:ext cx="823617" cy="34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 Data Quality</a:t>
              </a:r>
            </a:p>
          </p:txBody>
        </p:sp>
      </p:grpSp>
      <p:grpSp>
        <p:nvGrpSpPr>
          <p:cNvPr id="4154" name="Group 4153">
            <a:extLst>
              <a:ext uri="{FF2B5EF4-FFF2-40B4-BE49-F238E27FC236}">
                <a16:creationId xmlns:a16="http://schemas.microsoft.com/office/drawing/2014/main" id="{2A32BDF4-3EFD-5CBE-F695-A303AC2F1A5C}"/>
              </a:ext>
            </a:extLst>
          </p:cNvPr>
          <p:cNvGrpSpPr/>
          <p:nvPr/>
        </p:nvGrpSpPr>
        <p:grpSpPr>
          <a:xfrm>
            <a:off x="2450550" y="3624587"/>
            <a:ext cx="962930" cy="283618"/>
            <a:chOff x="2127933" y="3933232"/>
            <a:chExt cx="962930" cy="283618"/>
          </a:xfrm>
        </p:grpSpPr>
        <p:pic>
          <p:nvPicPr>
            <p:cNvPr id="4152" name="Graphic 6" descr="AWS Glue service icon.">
              <a:extLst>
                <a:ext uri="{FF2B5EF4-FFF2-40B4-BE49-F238E27FC236}">
                  <a16:creationId xmlns:a16="http://schemas.microsoft.com/office/drawing/2014/main" id="{91414AD7-A502-7C5D-113E-3497AC5C31B3}"/>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2127933" y="3933232"/>
              <a:ext cx="283618" cy="28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53" name="TextBox 10">
              <a:extLst>
                <a:ext uri="{FF2B5EF4-FFF2-40B4-BE49-F238E27FC236}">
                  <a16:creationId xmlns:a16="http://schemas.microsoft.com/office/drawing/2014/main" id="{ADFF7CDC-0A05-A69E-141D-DBED12966D77}"/>
                </a:ext>
              </a:extLst>
            </p:cNvPr>
            <p:cNvSpPr txBox="1">
              <a:spLocks noChangeArrowheads="1"/>
            </p:cNvSpPr>
            <p:nvPr/>
          </p:nvSpPr>
          <p:spPr bwMode="auto">
            <a:xfrm>
              <a:off x="2318242" y="3998433"/>
              <a:ext cx="7726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a:t>
              </a:r>
            </a:p>
          </p:txBody>
        </p:sp>
      </p:grpSp>
      <p:grpSp>
        <p:nvGrpSpPr>
          <p:cNvPr id="4155" name="Group 4154">
            <a:extLst>
              <a:ext uri="{FF2B5EF4-FFF2-40B4-BE49-F238E27FC236}">
                <a16:creationId xmlns:a16="http://schemas.microsoft.com/office/drawing/2014/main" id="{CD5E4C17-E1E2-D90D-9468-68AC6EAE3536}"/>
              </a:ext>
            </a:extLst>
          </p:cNvPr>
          <p:cNvGrpSpPr/>
          <p:nvPr/>
        </p:nvGrpSpPr>
        <p:grpSpPr>
          <a:xfrm>
            <a:off x="5441927" y="2655140"/>
            <a:ext cx="962930" cy="283618"/>
            <a:chOff x="2127933" y="3933232"/>
            <a:chExt cx="962930" cy="283618"/>
          </a:xfrm>
        </p:grpSpPr>
        <p:pic>
          <p:nvPicPr>
            <p:cNvPr id="4156" name="Graphic 6" descr="AWS Glue service icon.">
              <a:extLst>
                <a:ext uri="{FF2B5EF4-FFF2-40B4-BE49-F238E27FC236}">
                  <a16:creationId xmlns:a16="http://schemas.microsoft.com/office/drawing/2014/main" id="{230183F1-67BA-1758-4084-683967BECAD2}"/>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2127933" y="3933232"/>
              <a:ext cx="283618" cy="28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57" name="TextBox 10">
              <a:extLst>
                <a:ext uri="{FF2B5EF4-FFF2-40B4-BE49-F238E27FC236}">
                  <a16:creationId xmlns:a16="http://schemas.microsoft.com/office/drawing/2014/main" id="{49F572C8-97A6-503D-82BC-DBEAF62F38AF}"/>
                </a:ext>
              </a:extLst>
            </p:cNvPr>
            <p:cNvSpPr txBox="1">
              <a:spLocks noChangeArrowheads="1"/>
            </p:cNvSpPr>
            <p:nvPr/>
          </p:nvSpPr>
          <p:spPr bwMode="auto">
            <a:xfrm>
              <a:off x="2318242" y="3998433"/>
              <a:ext cx="7726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a:t>
              </a:r>
            </a:p>
          </p:txBody>
        </p:sp>
      </p:grpSp>
      <p:grpSp>
        <p:nvGrpSpPr>
          <p:cNvPr id="4158" name="Group 4157">
            <a:extLst>
              <a:ext uri="{FF2B5EF4-FFF2-40B4-BE49-F238E27FC236}">
                <a16:creationId xmlns:a16="http://schemas.microsoft.com/office/drawing/2014/main" id="{5BFA070D-E29C-E770-BFC1-9DBE91A155E1}"/>
              </a:ext>
            </a:extLst>
          </p:cNvPr>
          <p:cNvGrpSpPr/>
          <p:nvPr/>
        </p:nvGrpSpPr>
        <p:grpSpPr>
          <a:xfrm>
            <a:off x="9039950" y="2048271"/>
            <a:ext cx="978027" cy="283618"/>
            <a:chOff x="1922527" y="4600363"/>
            <a:chExt cx="978027" cy="283618"/>
          </a:xfrm>
        </p:grpSpPr>
        <p:pic>
          <p:nvPicPr>
            <p:cNvPr id="4159" name="Graphic 6" descr="AWS Glue service icon.">
              <a:extLst>
                <a:ext uri="{FF2B5EF4-FFF2-40B4-BE49-F238E27FC236}">
                  <a16:creationId xmlns:a16="http://schemas.microsoft.com/office/drawing/2014/main" id="{CCC60B68-6402-9B5C-9692-61DA44A3B554}"/>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1922527" y="4600363"/>
              <a:ext cx="283618" cy="28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 name="TextBox 10">
              <a:extLst>
                <a:ext uri="{FF2B5EF4-FFF2-40B4-BE49-F238E27FC236}">
                  <a16:creationId xmlns:a16="http://schemas.microsoft.com/office/drawing/2014/main" id="{DE0F0641-AC36-BB1A-3D4C-D3BF412C6DC3}"/>
                </a:ext>
              </a:extLst>
            </p:cNvPr>
            <p:cNvSpPr txBox="1">
              <a:spLocks noChangeArrowheads="1"/>
            </p:cNvSpPr>
            <p:nvPr/>
          </p:nvSpPr>
          <p:spPr bwMode="auto">
            <a:xfrm>
              <a:off x="2127933" y="4615906"/>
              <a:ext cx="7726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a:t>
              </a:r>
            </a:p>
          </p:txBody>
        </p:sp>
      </p:grpSp>
      <p:grpSp>
        <p:nvGrpSpPr>
          <p:cNvPr id="1031" name="Group 1030">
            <a:extLst>
              <a:ext uri="{FF2B5EF4-FFF2-40B4-BE49-F238E27FC236}">
                <a16:creationId xmlns:a16="http://schemas.microsoft.com/office/drawing/2014/main" id="{10637A09-C286-ABAA-BBDF-EFDAF5164A08}"/>
              </a:ext>
            </a:extLst>
          </p:cNvPr>
          <p:cNvGrpSpPr/>
          <p:nvPr/>
        </p:nvGrpSpPr>
        <p:grpSpPr>
          <a:xfrm>
            <a:off x="1004868" y="894221"/>
            <a:ext cx="830910" cy="4946167"/>
            <a:chOff x="1219056" y="1186829"/>
            <a:chExt cx="830910" cy="4946167"/>
          </a:xfrm>
        </p:grpSpPr>
        <p:sp>
          <p:nvSpPr>
            <p:cNvPr id="1442" name="Rectangle 1441">
              <a:extLst>
                <a:ext uri="{FF2B5EF4-FFF2-40B4-BE49-F238E27FC236}">
                  <a16:creationId xmlns:a16="http://schemas.microsoft.com/office/drawing/2014/main" id="{87584A8C-CD64-5888-19DF-C953119B0410}"/>
                </a:ext>
              </a:extLst>
            </p:cNvPr>
            <p:cNvSpPr/>
            <p:nvPr/>
          </p:nvSpPr>
          <p:spPr bwMode="auto">
            <a:xfrm>
              <a:off x="1337243" y="1186829"/>
              <a:ext cx="588467" cy="4946167"/>
            </a:xfrm>
            <a:prstGeom prst="rect">
              <a:avLst/>
            </a:prstGeom>
            <a:solidFill>
              <a:schemeClr val="bg1">
                <a:alpha val="71000"/>
              </a:schemeClr>
            </a:solidFill>
            <a:ln w="9525">
              <a:solidFill>
                <a:schemeClr val="tx1"/>
              </a:solidFill>
              <a:round/>
            </a:ln>
          </p:spPr>
          <p:txBody>
            <a:bodyPr wrap="none" rtlCol="0" anchor="ctr">
              <a:noAutofit/>
            </a:bodyPr>
            <a:lstStyle/>
            <a:p>
              <a:pPr algn="ctr"/>
              <a:endParaRPr lang="en-US" altLang="en-US" sz="800" b="1">
                <a:latin typeface="Arial" pitchFamily="34" charset="0"/>
                <a:ea typeface="Amazon Ember" panose="020B0603020204020204" pitchFamily="34" charset="0"/>
                <a:cs typeface="Arial" pitchFamily="34" charset="0"/>
              </a:endParaRPr>
            </a:p>
          </p:txBody>
        </p:sp>
        <p:pic>
          <p:nvPicPr>
            <p:cNvPr id="1447" name="Graphic 1446" descr="AWS Glue Data Catalog resource icon for the AWS Glue service.">
              <a:extLst>
                <a:ext uri="{FF2B5EF4-FFF2-40B4-BE49-F238E27FC236}">
                  <a16:creationId xmlns:a16="http://schemas.microsoft.com/office/drawing/2014/main" id="{7DCE0CBC-7DDC-86EB-6B15-0F16B7ECE2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62368" y="3629186"/>
              <a:ext cx="383843" cy="421601"/>
            </a:xfrm>
            <a:prstGeom prst="rect">
              <a:avLst/>
            </a:prstGeom>
          </p:spPr>
        </p:pic>
        <p:pic>
          <p:nvPicPr>
            <p:cNvPr id="1027" name="Graphic 14" descr="Amazon Athena service icon.">
              <a:extLst>
                <a:ext uri="{FF2B5EF4-FFF2-40B4-BE49-F238E27FC236}">
                  <a16:creationId xmlns:a16="http://schemas.microsoft.com/office/drawing/2014/main" id="{5E705708-681E-6768-BB89-832BE60C48F2}"/>
                </a:ext>
              </a:extLst>
            </p:cNvPr>
            <p:cNvPicPr>
              <a:picLocks noChangeAspect="1" noChangeArrowheads="1"/>
            </p:cNvPicPr>
            <p:nvPr/>
          </p:nvPicPr>
          <p:blipFill>
            <a:blip>
              <a:extLst>
                <a:ext uri="{96DAC541-7B7A-43D3-8B79-37D633B846F1}">
                  <asvg:svgBlip xmlns:asvg="http://schemas.microsoft.com/office/drawing/2016/SVG/main" r:embed="rId8"/>
                </a:ext>
              </a:extLst>
            </a:blip>
            <a:stretch>
              <a:fillRect/>
            </a:stretch>
          </p:blipFill>
          <p:spPr bwMode="auto">
            <a:xfrm>
              <a:off x="1493647" y="2220260"/>
              <a:ext cx="294763" cy="29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TextBox 17">
              <a:extLst>
                <a:ext uri="{FF2B5EF4-FFF2-40B4-BE49-F238E27FC236}">
                  <a16:creationId xmlns:a16="http://schemas.microsoft.com/office/drawing/2014/main" id="{7EDAA956-E522-0EB7-A394-3BD880C439A7}"/>
                </a:ext>
              </a:extLst>
            </p:cNvPr>
            <p:cNvSpPr txBox="1">
              <a:spLocks noChangeArrowheads="1"/>
            </p:cNvSpPr>
            <p:nvPr/>
          </p:nvSpPr>
          <p:spPr bwMode="auto">
            <a:xfrm>
              <a:off x="1219056" y="2599091"/>
              <a:ext cx="8309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Amazon Athena</a:t>
              </a:r>
            </a:p>
          </p:txBody>
        </p:sp>
        <p:sp>
          <p:nvSpPr>
            <p:cNvPr id="1030" name="TextBox 1029">
              <a:extLst>
                <a:ext uri="{FF2B5EF4-FFF2-40B4-BE49-F238E27FC236}">
                  <a16:creationId xmlns:a16="http://schemas.microsoft.com/office/drawing/2014/main" id="{B9F1DF11-8FF9-4F54-919B-C0CF2C45FA66}"/>
                </a:ext>
              </a:extLst>
            </p:cNvPr>
            <p:cNvSpPr txBox="1"/>
            <p:nvPr/>
          </p:nvSpPr>
          <p:spPr>
            <a:xfrm>
              <a:off x="1260233" y="4090807"/>
              <a:ext cx="7580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Glue</a:t>
              </a:r>
              <a:br>
                <a:rPr lang="en-US" altLang="en-US"/>
              </a:br>
              <a:r>
                <a:rPr lang="en-US" altLang="en-US"/>
                <a:t>Data Catalog</a:t>
              </a:r>
            </a:p>
          </p:txBody>
        </p:sp>
      </p:grpSp>
      <p:grpSp>
        <p:nvGrpSpPr>
          <p:cNvPr id="9242" name="Group 9241">
            <a:extLst>
              <a:ext uri="{FF2B5EF4-FFF2-40B4-BE49-F238E27FC236}">
                <a16:creationId xmlns:a16="http://schemas.microsoft.com/office/drawing/2014/main" id="{F4480478-54E0-C030-9479-5384B5AA1CCB}"/>
              </a:ext>
            </a:extLst>
          </p:cNvPr>
          <p:cNvGrpSpPr/>
          <p:nvPr/>
        </p:nvGrpSpPr>
        <p:grpSpPr>
          <a:xfrm>
            <a:off x="1784281" y="5953750"/>
            <a:ext cx="10080000" cy="261610"/>
            <a:chOff x="1784281" y="5889742"/>
            <a:chExt cx="10080000" cy="261610"/>
          </a:xfrm>
        </p:grpSpPr>
        <p:sp>
          <p:nvSpPr>
            <p:cNvPr id="4144" name="Arrow: Pentagon 4143">
              <a:extLst>
                <a:ext uri="{FF2B5EF4-FFF2-40B4-BE49-F238E27FC236}">
                  <a16:creationId xmlns:a16="http://schemas.microsoft.com/office/drawing/2014/main" id="{DE393A7C-5D2C-7CB6-DE95-52776FFCB298}"/>
                </a:ext>
              </a:extLst>
            </p:cNvPr>
            <p:cNvSpPr/>
            <p:nvPr/>
          </p:nvSpPr>
          <p:spPr bwMode="auto">
            <a:xfrm>
              <a:off x="1784281" y="5925328"/>
              <a:ext cx="10080000" cy="211458"/>
            </a:xfrm>
            <a:prstGeom prst="homePlate">
              <a:avLst/>
            </a:prstGeom>
            <a:solidFill>
              <a:schemeClr val="accent2">
                <a:lumMod val="75000"/>
              </a:schemeClr>
            </a:solidFill>
            <a:ln w="9525">
              <a:noFill/>
              <a:round/>
            </a:ln>
          </p:spPr>
          <p:txBody>
            <a:bodyPr wrap="square" rtlCol="0" anchor="ctr">
              <a:noAutofit/>
            </a:bodyPr>
            <a:lstStyle/>
            <a:p>
              <a:pPr algn="ctr"/>
              <a:endParaRPr lang="es-ES_tradnl" sz="800" b="1">
                <a:solidFill>
                  <a:schemeClr val="bg1"/>
                </a:solidFill>
                <a:latin typeface="Arial" pitchFamily="34" charset="0"/>
                <a:cs typeface="Arial" pitchFamily="34" charset="0"/>
              </a:endParaRPr>
            </a:p>
          </p:txBody>
        </p:sp>
        <p:sp>
          <p:nvSpPr>
            <p:cNvPr id="1042" name="TextBox 1041">
              <a:extLst>
                <a:ext uri="{FF2B5EF4-FFF2-40B4-BE49-F238E27FC236}">
                  <a16:creationId xmlns:a16="http://schemas.microsoft.com/office/drawing/2014/main" id="{75CDE199-A0EE-54DF-5B7A-6CDB4D46FCD2}"/>
                </a:ext>
              </a:extLst>
            </p:cNvPr>
            <p:cNvSpPr txBox="1"/>
            <p:nvPr/>
          </p:nvSpPr>
          <p:spPr>
            <a:xfrm>
              <a:off x="3159412" y="5889742"/>
              <a:ext cx="8449695" cy="261610"/>
            </a:xfrm>
            <a:prstGeom prst="rect">
              <a:avLst/>
            </a:prstGeom>
            <a:noFill/>
          </p:spPr>
          <p:txBody>
            <a:bodyPr wrap="square" rtlCol="0">
              <a:spAutoFit/>
            </a:bodyPr>
            <a:lstStyle/>
            <a:p>
              <a:r>
                <a:rPr lang="es-ES_tradnl" sz="1100" b="1">
                  <a:solidFill>
                    <a:schemeClr val="bg1"/>
                  </a:solidFill>
                  <a:latin typeface="Arial" pitchFamily="34" charset="0"/>
                  <a:cs typeface="Arial" pitchFamily="34" charset="0"/>
                </a:rPr>
                <a:t>Pipeline único, la particularidades de cada sistema se gestionan mediante ficheros de configuración.</a:t>
              </a:r>
            </a:p>
          </p:txBody>
        </p:sp>
      </p:grpSp>
      <p:sp>
        <p:nvSpPr>
          <p:cNvPr id="1044" name="TextBox 1043">
            <a:extLst>
              <a:ext uri="{FF2B5EF4-FFF2-40B4-BE49-F238E27FC236}">
                <a16:creationId xmlns:a16="http://schemas.microsoft.com/office/drawing/2014/main" id="{B9E58043-3086-D465-4736-BD8C40F66F42}"/>
              </a:ext>
            </a:extLst>
          </p:cNvPr>
          <p:cNvSpPr txBox="1"/>
          <p:nvPr/>
        </p:nvSpPr>
        <p:spPr>
          <a:xfrm>
            <a:off x="1893784" y="4131948"/>
            <a:ext cx="2383028" cy="461665"/>
          </a:xfrm>
          <a:prstGeom prst="rect">
            <a:avLst/>
          </a:prstGeom>
          <a:noFill/>
          <a:ln>
            <a:solidFill>
              <a:schemeClr val="tx1"/>
            </a:solidFill>
            <a:prstDash val="dash"/>
          </a:ln>
        </p:spPr>
        <p:txBody>
          <a:bodyPr wrap="square" rtlCol="0">
            <a:spAutoFit/>
          </a:bodyPr>
          <a:lstStyle/>
          <a:p>
            <a:pPr algn="ctr"/>
            <a:r>
              <a:rPr lang="es-ES_tradnl" sz="800" b="1">
                <a:latin typeface="Arial" pitchFamily="34" charset="0"/>
                <a:cs typeface="Arial" pitchFamily="34" charset="0"/>
              </a:rPr>
              <a:t>La configuración del Pipeline se realiza en un fichero de configuración json que tiene las especificidades por sistema</a:t>
            </a:r>
          </a:p>
        </p:txBody>
      </p:sp>
      <p:sp>
        <p:nvSpPr>
          <p:cNvPr id="1048" name="Rectangle 1047">
            <a:extLst>
              <a:ext uri="{FF2B5EF4-FFF2-40B4-BE49-F238E27FC236}">
                <a16:creationId xmlns:a16="http://schemas.microsoft.com/office/drawing/2014/main" id="{67B02F20-3DC5-3B2F-7C22-BFA08336898B}"/>
              </a:ext>
            </a:extLst>
          </p:cNvPr>
          <p:cNvSpPr/>
          <p:nvPr/>
        </p:nvSpPr>
        <p:spPr bwMode="auto">
          <a:xfrm>
            <a:off x="4591646" y="2137362"/>
            <a:ext cx="648000" cy="143489"/>
          </a:xfrm>
          <a:prstGeom prst="rect">
            <a:avLst/>
          </a:prstGeom>
          <a:solidFill>
            <a:schemeClr val="bg1">
              <a:lumMod val="85000"/>
            </a:schemeClr>
          </a:solidFill>
          <a:ln w="9525">
            <a:noFill/>
            <a:round/>
          </a:ln>
        </p:spPr>
        <p:txBody>
          <a:bodyPr wrap="none" rtlCol="0" anchor="ctr">
            <a:noAutofit/>
          </a:bodyPr>
          <a:lstStyle/>
          <a:p>
            <a:pPr algn="ctr"/>
            <a:r>
              <a:rPr lang="es-ES_tradnl" sz="500" b="1">
                <a:latin typeface="Arial" pitchFamily="34" charset="0"/>
                <a:cs typeface="Arial" pitchFamily="34" charset="0"/>
              </a:rPr>
              <a:t>DT_CLIENTE_DIA</a:t>
            </a:r>
          </a:p>
        </p:txBody>
      </p:sp>
      <p:pic>
        <p:nvPicPr>
          <p:cNvPr id="1045" name="Graphic 23" descr="Amazon Redshift service icon.">
            <a:extLst>
              <a:ext uri="{FF2B5EF4-FFF2-40B4-BE49-F238E27FC236}">
                <a16:creationId xmlns:a16="http://schemas.microsoft.com/office/drawing/2014/main" id="{2B7F3DB2-30FE-B3EF-E64F-5A253496E487}"/>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5109748" y="2246425"/>
            <a:ext cx="153156" cy="153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6" name="Arrow: Up 1055">
            <a:extLst>
              <a:ext uri="{FF2B5EF4-FFF2-40B4-BE49-F238E27FC236}">
                <a16:creationId xmlns:a16="http://schemas.microsoft.com/office/drawing/2014/main" id="{8DF24461-5624-C5A9-8A20-41EF60987B42}"/>
              </a:ext>
            </a:extLst>
          </p:cNvPr>
          <p:cNvSpPr/>
          <p:nvPr/>
        </p:nvSpPr>
        <p:spPr bwMode="auto">
          <a:xfrm>
            <a:off x="4785904" y="1956721"/>
            <a:ext cx="215788" cy="143489"/>
          </a:xfrm>
          <a:prstGeom prst="upArrow">
            <a:avLst/>
          </a:prstGeom>
          <a:noFill/>
          <a:ln w="9525">
            <a:solidFill>
              <a:schemeClr val="tx1"/>
            </a:solidFill>
            <a:round/>
          </a:ln>
        </p:spPr>
        <p:txBody>
          <a:bodyPr wrap="square" rtlCol="0" anchor="ctr">
            <a:spAutoFit/>
          </a:bodyPr>
          <a:lstStyle/>
          <a:p>
            <a:pPr algn="ctr"/>
            <a:endParaRPr lang="es-ES_tradnl"/>
          </a:p>
        </p:txBody>
      </p:sp>
      <p:sp>
        <p:nvSpPr>
          <p:cNvPr id="1057" name="Rectangle 1056">
            <a:extLst>
              <a:ext uri="{FF2B5EF4-FFF2-40B4-BE49-F238E27FC236}">
                <a16:creationId xmlns:a16="http://schemas.microsoft.com/office/drawing/2014/main" id="{B2D3E824-DE4D-0924-F283-6FD5EC0B180C}"/>
              </a:ext>
            </a:extLst>
          </p:cNvPr>
          <p:cNvSpPr/>
          <p:nvPr/>
        </p:nvSpPr>
        <p:spPr bwMode="auto">
          <a:xfrm>
            <a:off x="5327596" y="2137362"/>
            <a:ext cx="705150" cy="126169"/>
          </a:xfrm>
          <a:prstGeom prst="rect">
            <a:avLst/>
          </a:prstGeom>
          <a:solidFill>
            <a:schemeClr val="bg1">
              <a:lumMod val="85000"/>
            </a:schemeClr>
          </a:solidFill>
          <a:ln w="9525">
            <a:noFill/>
            <a:round/>
          </a:ln>
        </p:spPr>
        <p:txBody>
          <a:bodyPr wrap="none" rtlCol="0" anchor="ctr">
            <a:noAutofit/>
          </a:bodyPr>
          <a:lstStyle/>
          <a:p>
            <a:pPr algn="ctr"/>
            <a:r>
              <a:rPr lang="es-ES_tradnl" sz="500" b="1">
                <a:latin typeface="Arial" pitchFamily="34" charset="0"/>
                <a:cs typeface="Arial" pitchFamily="34" charset="0"/>
              </a:rPr>
              <a:t>DIM_CUENTA_CONT</a:t>
            </a:r>
          </a:p>
        </p:txBody>
      </p:sp>
      <p:pic>
        <p:nvPicPr>
          <p:cNvPr id="1059" name="Graphic 23" descr="Amazon Redshift service icon.">
            <a:extLst>
              <a:ext uri="{FF2B5EF4-FFF2-40B4-BE49-F238E27FC236}">
                <a16:creationId xmlns:a16="http://schemas.microsoft.com/office/drawing/2014/main" id="{61F832BC-2F57-E90A-CF6B-0C856875CDD6}"/>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5903300" y="2246425"/>
            <a:ext cx="153156" cy="153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0" name="Rectangle 1059">
            <a:extLst>
              <a:ext uri="{FF2B5EF4-FFF2-40B4-BE49-F238E27FC236}">
                <a16:creationId xmlns:a16="http://schemas.microsoft.com/office/drawing/2014/main" id="{107F42B4-1034-1FA1-90A2-325040314F03}"/>
              </a:ext>
            </a:extLst>
          </p:cNvPr>
          <p:cNvSpPr/>
          <p:nvPr/>
        </p:nvSpPr>
        <p:spPr bwMode="auto">
          <a:xfrm>
            <a:off x="6111301" y="2137362"/>
            <a:ext cx="576000" cy="126169"/>
          </a:xfrm>
          <a:prstGeom prst="rect">
            <a:avLst/>
          </a:prstGeom>
          <a:solidFill>
            <a:schemeClr val="bg1">
              <a:lumMod val="85000"/>
            </a:schemeClr>
          </a:solidFill>
          <a:ln w="9525">
            <a:noFill/>
            <a:round/>
          </a:ln>
        </p:spPr>
        <p:txBody>
          <a:bodyPr wrap="none" rtlCol="0" anchor="ctr">
            <a:noAutofit/>
          </a:bodyPr>
          <a:lstStyle/>
          <a:p>
            <a:pPr algn="ctr"/>
            <a:r>
              <a:rPr lang="es-ES_tradnl" sz="500" b="1">
                <a:latin typeface="Arial" pitchFamily="34" charset="0"/>
                <a:cs typeface="Arial" pitchFamily="34" charset="0"/>
              </a:rPr>
              <a:t>PARAM_ASIG_PG</a:t>
            </a:r>
          </a:p>
        </p:txBody>
      </p:sp>
      <p:sp>
        <p:nvSpPr>
          <p:cNvPr id="1062" name="Rectangle 1061">
            <a:extLst>
              <a:ext uri="{FF2B5EF4-FFF2-40B4-BE49-F238E27FC236}">
                <a16:creationId xmlns:a16="http://schemas.microsoft.com/office/drawing/2014/main" id="{96879467-6DD4-EB82-445D-D44C16F67499}"/>
              </a:ext>
            </a:extLst>
          </p:cNvPr>
          <p:cNvSpPr/>
          <p:nvPr/>
        </p:nvSpPr>
        <p:spPr bwMode="auto">
          <a:xfrm>
            <a:off x="6732856" y="2137362"/>
            <a:ext cx="612000" cy="126169"/>
          </a:xfrm>
          <a:prstGeom prst="rect">
            <a:avLst/>
          </a:prstGeom>
          <a:solidFill>
            <a:schemeClr val="bg1">
              <a:lumMod val="85000"/>
            </a:schemeClr>
          </a:solidFill>
          <a:ln w="9525">
            <a:noFill/>
            <a:round/>
          </a:ln>
        </p:spPr>
        <p:txBody>
          <a:bodyPr wrap="none" rtlCol="0" anchor="ctr">
            <a:noAutofit/>
          </a:bodyPr>
          <a:lstStyle/>
          <a:p>
            <a:pPr algn="ctr"/>
            <a:r>
              <a:rPr lang="es-ES_tradnl" sz="500" b="1">
                <a:latin typeface="Arial" pitchFamily="34" charset="0"/>
                <a:cs typeface="Arial" pitchFamily="34" charset="0"/>
              </a:rPr>
              <a:t>PARAM_ASIG_ADN</a:t>
            </a:r>
          </a:p>
        </p:txBody>
      </p:sp>
      <p:sp>
        <p:nvSpPr>
          <p:cNvPr id="1063" name="Arrow: Up 1062">
            <a:extLst>
              <a:ext uri="{FF2B5EF4-FFF2-40B4-BE49-F238E27FC236}">
                <a16:creationId xmlns:a16="http://schemas.microsoft.com/office/drawing/2014/main" id="{306D92E9-C7CE-8E97-0A17-AB101801790E}"/>
              </a:ext>
            </a:extLst>
          </p:cNvPr>
          <p:cNvSpPr/>
          <p:nvPr/>
        </p:nvSpPr>
        <p:spPr bwMode="auto">
          <a:xfrm>
            <a:off x="5556144" y="1952599"/>
            <a:ext cx="215788" cy="143489"/>
          </a:xfrm>
          <a:prstGeom prst="upArrow">
            <a:avLst/>
          </a:prstGeom>
          <a:noFill/>
          <a:ln w="9525">
            <a:solidFill>
              <a:schemeClr val="tx1"/>
            </a:solidFill>
            <a:round/>
          </a:ln>
        </p:spPr>
        <p:txBody>
          <a:bodyPr wrap="square" rtlCol="0" anchor="ctr">
            <a:spAutoFit/>
          </a:bodyPr>
          <a:lstStyle/>
          <a:p>
            <a:pPr algn="ctr"/>
            <a:endParaRPr lang="es-ES_tradnl"/>
          </a:p>
        </p:txBody>
      </p:sp>
      <p:sp>
        <p:nvSpPr>
          <p:cNvPr id="1064" name="Arrow: Up 1063">
            <a:extLst>
              <a:ext uri="{FF2B5EF4-FFF2-40B4-BE49-F238E27FC236}">
                <a16:creationId xmlns:a16="http://schemas.microsoft.com/office/drawing/2014/main" id="{1F4D8DE0-EEEE-FEDC-AC63-B023EB69A28F}"/>
              </a:ext>
            </a:extLst>
          </p:cNvPr>
          <p:cNvSpPr/>
          <p:nvPr/>
        </p:nvSpPr>
        <p:spPr bwMode="auto">
          <a:xfrm>
            <a:off x="6256356" y="1952600"/>
            <a:ext cx="215788" cy="143489"/>
          </a:xfrm>
          <a:prstGeom prst="upArrow">
            <a:avLst/>
          </a:prstGeom>
          <a:noFill/>
          <a:ln w="9525">
            <a:solidFill>
              <a:schemeClr val="tx1"/>
            </a:solidFill>
            <a:round/>
          </a:ln>
        </p:spPr>
        <p:txBody>
          <a:bodyPr wrap="square" rtlCol="0" anchor="ctr">
            <a:spAutoFit/>
          </a:bodyPr>
          <a:lstStyle/>
          <a:p>
            <a:pPr algn="ctr"/>
            <a:endParaRPr lang="es-ES_tradnl"/>
          </a:p>
        </p:txBody>
      </p:sp>
      <p:sp>
        <p:nvSpPr>
          <p:cNvPr id="1066" name="Arrow: Up 1065">
            <a:extLst>
              <a:ext uri="{FF2B5EF4-FFF2-40B4-BE49-F238E27FC236}">
                <a16:creationId xmlns:a16="http://schemas.microsoft.com/office/drawing/2014/main" id="{ACCF6322-B280-85FB-F275-EB9BCE740A17}"/>
              </a:ext>
            </a:extLst>
          </p:cNvPr>
          <p:cNvSpPr/>
          <p:nvPr/>
        </p:nvSpPr>
        <p:spPr bwMode="auto">
          <a:xfrm>
            <a:off x="6890672" y="1952600"/>
            <a:ext cx="215788" cy="143489"/>
          </a:xfrm>
          <a:prstGeom prst="upArrow">
            <a:avLst/>
          </a:prstGeom>
          <a:noFill/>
          <a:ln w="9525">
            <a:solidFill>
              <a:schemeClr val="tx1"/>
            </a:solidFill>
            <a:round/>
          </a:ln>
        </p:spPr>
        <p:txBody>
          <a:bodyPr wrap="square" rtlCol="0" anchor="ctr">
            <a:spAutoFit/>
          </a:bodyPr>
          <a:lstStyle/>
          <a:p>
            <a:pPr algn="ctr"/>
            <a:endParaRPr lang="es-ES_tradnl"/>
          </a:p>
        </p:txBody>
      </p:sp>
      <p:pic>
        <p:nvPicPr>
          <p:cNvPr id="1067" name="Graphic 23" descr="Amazon Redshift service icon.">
            <a:extLst>
              <a:ext uri="{FF2B5EF4-FFF2-40B4-BE49-F238E27FC236}">
                <a16:creationId xmlns:a16="http://schemas.microsoft.com/office/drawing/2014/main" id="{1107D46C-51F5-506C-DF71-5B6671EA43FC}"/>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6541732" y="2246425"/>
            <a:ext cx="153156" cy="153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9" name="Graphic 23" descr="Amazon Redshift service icon.">
            <a:extLst>
              <a:ext uri="{FF2B5EF4-FFF2-40B4-BE49-F238E27FC236}">
                <a16:creationId xmlns:a16="http://schemas.microsoft.com/office/drawing/2014/main" id="{956FBFB0-FFF6-3AD2-426A-1568AE015843}"/>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7274900" y="2246425"/>
            <a:ext cx="153156" cy="153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4" name="Arrow: Up 1073">
            <a:extLst>
              <a:ext uri="{FF2B5EF4-FFF2-40B4-BE49-F238E27FC236}">
                <a16:creationId xmlns:a16="http://schemas.microsoft.com/office/drawing/2014/main" id="{802091AD-B3CF-9658-9329-674E273774D0}"/>
              </a:ext>
            </a:extLst>
          </p:cNvPr>
          <p:cNvSpPr/>
          <p:nvPr/>
        </p:nvSpPr>
        <p:spPr bwMode="auto">
          <a:xfrm rot="5400000">
            <a:off x="10444868" y="1559669"/>
            <a:ext cx="215788" cy="143489"/>
          </a:xfrm>
          <a:prstGeom prst="upArrow">
            <a:avLst/>
          </a:prstGeom>
          <a:noFill/>
          <a:ln w="9525">
            <a:solidFill>
              <a:schemeClr val="tx1"/>
            </a:solidFill>
            <a:round/>
          </a:ln>
        </p:spPr>
        <p:txBody>
          <a:bodyPr wrap="square" rtlCol="0" anchor="ctr">
            <a:spAutoFit/>
          </a:bodyPr>
          <a:lstStyle/>
          <a:p>
            <a:pPr algn="ctr"/>
            <a:endParaRPr lang="es-ES_tradnl"/>
          </a:p>
        </p:txBody>
      </p:sp>
      <p:sp>
        <p:nvSpPr>
          <p:cNvPr id="1076" name="Arrow: Up 1075">
            <a:extLst>
              <a:ext uri="{FF2B5EF4-FFF2-40B4-BE49-F238E27FC236}">
                <a16:creationId xmlns:a16="http://schemas.microsoft.com/office/drawing/2014/main" id="{33D1D8D5-497F-383B-FF3A-D09D2C0CA608}"/>
              </a:ext>
            </a:extLst>
          </p:cNvPr>
          <p:cNvSpPr/>
          <p:nvPr/>
        </p:nvSpPr>
        <p:spPr bwMode="auto">
          <a:xfrm rot="5400000">
            <a:off x="7128320" y="4452391"/>
            <a:ext cx="215788" cy="143489"/>
          </a:xfrm>
          <a:prstGeom prst="upArrow">
            <a:avLst/>
          </a:prstGeom>
          <a:noFill/>
          <a:ln w="9525">
            <a:solidFill>
              <a:schemeClr val="tx1"/>
            </a:solidFill>
            <a:round/>
          </a:ln>
        </p:spPr>
        <p:txBody>
          <a:bodyPr wrap="square" rtlCol="0" anchor="ctr">
            <a:spAutoFit/>
          </a:bodyPr>
          <a:lstStyle/>
          <a:p>
            <a:pPr algn="ctr"/>
            <a:endParaRPr lang="es-ES_tradnl"/>
          </a:p>
        </p:txBody>
      </p:sp>
      <p:sp>
        <p:nvSpPr>
          <p:cNvPr id="1077" name="Arrow: Up 1076">
            <a:extLst>
              <a:ext uri="{FF2B5EF4-FFF2-40B4-BE49-F238E27FC236}">
                <a16:creationId xmlns:a16="http://schemas.microsoft.com/office/drawing/2014/main" id="{17A4E47F-8D5B-435F-CA8C-B5F2B9989918}"/>
              </a:ext>
            </a:extLst>
          </p:cNvPr>
          <p:cNvSpPr/>
          <p:nvPr/>
        </p:nvSpPr>
        <p:spPr bwMode="auto">
          <a:xfrm rot="5400000">
            <a:off x="7128320" y="4716608"/>
            <a:ext cx="215788" cy="143489"/>
          </a:xfrm>
          <a:prstGeom prst="upArrow">
            <a:avLst/>
          </a:prstGeom>
          <a:noFill/>
          <a:ln w="9525">
            <a:solidFill>
              <a:schemeClr val="tx1"/>
            </a:solidFill>
            <a:round/>
          </a:ln>
        </p:spPr>
        <p:txBody>
          <a:bodyPr wrap="square" rtlCol="0" anchor="ctr">
            <a:spAutoFit/>
          </a:bodyPr>
          <a:lstStyle/>
          <a:p>
            <a:pPr algn="ctr"/>
            <a:endParaRPr lang="es-ES_tradnl"/>
          </a:p>
        </p:txBody>
      </p:sp>
      <p:sp>
        <p:nvSpPr>
          <p:cNvPr id="1085" name="Rectangle: Rounded Corners 1084">
            <a:extLst>
              <a:ext uri="{FF2B5EF4-FFF2-40B4-BE49-F238E27FC236}">
                <a16:creationId xmlns:a16="http://schemas.microsoft.com/office/drawing/2014/main" id="{0F55657A-DAC4-67B4-D0B6-9EC571104F53}"/>
              </a:ext>
            </a:extLst>
          </p:cNvPr>
          <p:cNvSpPr/>
          <p:nvPr/>
        </p:nvSpPr>
        <p:spPr bwMode="auto">
          <a:xfrm>
            <a:off x="4850828" y="4308820"/>
            <a:ext cx="883094" cy="661919"/>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Eliminación</a:t>
            </a:r>
          </a:p>
          <a:p>
            <a:pPr algn="ctr"/>
            <a:r>
              <a:rPr lang="es-ES_tradnl" sz="800" b="1">
                <a:solidFill>
                  <a:schemeClr val="bg1"/>
                </a:solidFill>
                <a:latin typeface="Arial" pitchFamily="34" charset="0"/>
                <a:cs typeface="Arial" pitchFamily="34" charset="0"/>
              </a:rPr>
              <a:t>Duplicados</a:t>
            </a:r>
          </a:p>
        </p:txBody>
      </p:sp>
      <p:sp>
        <p:nvSpPr>
          <p:cNvPr id="5130" name="Rectangle: Rounded Corners 5129">
            <a:extLst>
              <a:ext uri="{FF2B5EF4-FFF2-40B4-BE49-F238E27FC236}">
                <a16:creationId xmlns:a16="http://schemas.microsoft.com/office/drawing/2014/main" id="{0790B906-AB8C-F960-34AC-69A374DEB6DD}"/>
              </a:ext>
            </a:extLst>
          </p:cNvPr>
          <p:cNvSpPr/>
          <p:nvPr/>
        </p:nvSpPr>
        <p:spPr bwMode="auto">
          <a:xfrm>
            <a:off x="9888545" y="1290795"/>
            <a:ext cx="580846" cy="661919"/>
          </a:xfrm>
          <a:prstGeom prst="roundRect">
            <a:avLst/>
          </a:prstGeom>
          <a:solidFill>
            <a:schemeClr val="tx2"/>
          </a:solidFill>
          <a:ln w="9525">
            <a:noFill/>
            <a:round/>
          </a:ln>
        </p:spPr>
        <p:txBody>
          <a:bodyPr wrap="square" rtlCol="0" anchor="ctr">
            <a:noAutofit/>
          </a:bodyPr>
          <a:lstStyle/>
          <a:p>
            <a:pPr algn="ctr"/>
            <a:r>
              <a:rPr lang="es-ES_tradnl" sz="800" b="1" err="1">
                <a:solidFill>
                  <a:schemeClr val="bg1"/>
                </a:solidFill>
                <a:latin typeface="Arial" pitchFamily="34" charset="0"/>
                <a:cs typeface="Arial" pitchFamily="34" charset="0"/>
              </a:rPr>
              <a:t>Act.</a:t>
            </a:r>
          </a:p>
          <a:p>
            <a:pPr algn="ctr"/>
            <a:r>
              <a:rPr lang="es-ES_tradnl" sz="800" b="1">
                <a:solidFill>
                  <a:schemeClr val="bg1"/>
                </a:solidFill>
                <a:latin typeface="Arial" pitchFamily="34" charset="0"/>
                <a:cs typeface="Arial" pitchFamily="34" charset="0"/>
              </a:rPr>
              <a:t>BBDD</a:t>
            </a:r>
          </a:p>
        </p:txBody>
      </p:sp>
      <p:sp>
        <p:nvSpPr>
          <p:cNvPr id="5131" name="Rectangle: Rounded Corners 5130">
            <a:extLst>
              <a:ext uri="{FF2B5EF4-FFF2-40B4-BE49-F238E27FC236}">
                <a16:creationId xmlns:a16="http://schemas.microsoft.com/office/drawing/2014/main" id="{DB2B8692-3342-6DCB-9A1C-BB46F6C165A4}"/>
              </a:ext>
            </a:extLst>
          </p:cNvPr>
          <p:cNvSpPr/>
          <p:nvPr/>
        </p:nvSpPr>
        <p:spPr bwMode="auto">
          <a:xfrm>
            <a:off x="6521629" y="4308457"/>
            <a:ext cx="580846" cy="661919"/>
          </a:xfrm>
          <a:prstGeom prst="roundRect">
            <a:avLst/>
          </a:prstGeom>
          <a:solidFill>
            <a:schemeClr val="tx2"/>
          </a:solidFill>
          <a:ln w="9525">
            <a:noFill/>
            <a:round/>
          </a:ln>
        </p:spPr>
        <p:txBody>
          <a:bodyPr wrap="square" rtlCol="0" anchor="ctr">
            <a:noAutofit/>
          </a:bodyPr>
          <a:lstStyle/>
          <a:p>
            <a:pPr algn="ctr"/>
            <a:r>
              <a:rPr lang="es-ES_tradnl" sz="800" b="1" err="1">
                <a:solidFill>
                  <a:schemeClr val="bg1"/>
                </a:solidFill>
                <a:latin typeface="Arial" pitchFamily="34" charset="0"/>
                <a:cs typeface="Arial" pitchFamily="34" charset="0"/>
              </a:rPr>
              <a:t>Act.</a:t>
            </a:r>
          </a:p>
          <a:p>
            <a:pPr algn="ctr"/>
            <a:r>
              <a:rPr lang="es-ES_tradnl" sz="800" b="1">
                <a:solidFill>
                  <a:schemeClr val="bg1"/>
                </a:solidFill>
                <a:latin typeface="Arial" pitchFamily="34" charset="0"/>
                <a:cs typeface="Arial" pitchFamily="34" charset="0"/>
              </a:rPr>
              <a:t>BBDD</a:t>
            </a:r>
          </a:p>
        </p:txBody>
      </p:sp>
      <p:grpSp>
        <p:nvGrpSpPr>
          <p:cNvPr id="5132" name="Group 5131">
            <a:extLst>
              <a:ext uri="{FF2B5EF4-FFF2-40B4-BE49-F238E27FC236}">
                <a16:creationId xmlns:a16="http://schemas.microsoft.com/office/drawing/2014/main" id="{C62E313A-9FE6-5BF0-93F1-083319ED45B7}"/>
              </a:ext>
            </a:extLst>
          </p:cNvPr>
          <p:cNvGrpSpPr/>
          <p:nvPr/>
        </p:nvGrpSpPr>
        <p:grpSpPr>
          <a:xfrm>
            <a:off x="4850828" y="5068497"/>
            <a:ext cx="978027" cy="283618"/>
            <a:chOff x="1922527" y="4600363"/>
            <a:chExt cx="978027" cy="283618"/>
          </a:xfrm>
        </p:grpSpPr>
        <p:pic>
          <p:nvPicPr>
            <p:cNvPr id="5133" name="Graphic 6" descr="AWS Glue service icon.">
              <a:extLst>
                <a:ext uri="{FF2B5EF4-FFF2-40B4-BE49-F238E27FC236}">
                  <a16:creationId xmlns:a16="http://schemas.microsoft.com/office/drawing/2014/main" id="{55F4A1FF-C9F4-7EC0-E7EF-872A6C9BB1CF}"/>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1922527" y="4600363"/>
              <a:ext cx="283618" cy="28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4" name="TextBox 10">
              <a:extLst>
                <a:ext uri="{FF2B5EF4-FFF2-40B4-BE49-F238E27FC236}">
                  <a16:creationId xmlns:a16="http://schemas.microsoft.com/office/drawing/2014/main" id="{CD6DC726-743F-BF4B-AF8B-C168ED9F427C}"/>
                </a:ext>
              </a:extLst>
            </p:cNvPr>
            <p:cNvSpPr txBox="1">
              <a:spLocks noChangeArrowheads="1"/>
            </p:cNvSpPr>
            <p:nvPr/>
          </p:nvSpPr>
          <p:spPr bwMode="auto">
            <a:xfrm>
              <a:off x="2127933" y="4615906"/>
              <a:ext cx="7726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a:t>
              </a:r>
            </a:p>
          </p:txBody>
        </p:sp>
      </p:grpSp>
      <p:sp>
        <p:nvSpPr>
          <p:cNvPr id="5135" name="Rectangle: Rounded Corners 5134">
            <a:extLst>
              <a:ext uri="{FF2B5EF4-FFF2-40B4-BE49-F238E27FC236}">
                <a16:creationId xmlns:a16="http://schemas.microsoft.com/office/drawing/2014/main" id="{49F984EE-3A67-BA4F-4933-961C8A510A5D}"/>
              </a:ext>
            </a:extLst>
          </p:cNvPr>
          <p:cNvSpPr/>
          <p:nvPr/>
        </p:nvSpPr>
        <p:spPr bwMode="auto">
          <a:xfrm>
            <a:off x="11067417" y="2860299"/>
            <a:ext cx="849057" cy="63808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Limpieza</a:t>
            </a:r>
          </a:p>
          <a:p>
            <a:pPr algn="ctr"/>
            <a:r>
              <a:rPr lang="es-ES_tradnl" sz="800" b="1">
                <a:solidFill>
                  <a:schemeClr val="bg1"/>
                </a:solidFill>
                <a:latin typeface="Arial" pitchFamily="34" charset="0"/>
                <a:cs typeface="Arial" pitchFamily="34" charset="0"/>
              </a:rPr>
              <a:t>Temporales</a:t>
            </a:r>
          </a:p>
        </p:txBody>
      </p:sp>
      <p:cxnSp>
        <p:nvCxnSpPr>
          <p:cNvPr id="5136" name="Connector: Elbow 5135">
            <a:extLst>
              <a:ext uri="{FF2B5EF4-FFF2-40B4-BE49-F238E27FC236}">
                <a16:creationId xmlns:a16="http://schemas.microsoft.com/office/drawing/2014/main" id="{46017582-E0F2-9D5F-1CD6-987F5B3ED9A1}"/>
              </a:ext>
            </a:extLst>
          </p:cNvPr>
          <p:cNvCxnSpPr>
            <a:stCxn id="5131" idx="2"/>
            <a:endCxn id="9221" idx="1"/>
          </p:cNvCxnSpPr>
          <p:nvPr/>
        </p:nvCxnSpPr>
        <p:spPr bwMode="auto">
          <a:xfrm rot="5400000" flipH="1" flipV="1">
            <a:off x="7659157" y="2332237"/>
            <a:ext cx="1791033" cy="3485245"/>
          </a:xfrm>
          <a:prstGeom prst="bentConnector4">
            <a:avLst>
              <a:gd name="adj1" fmla="val -12764"/>
              <a:gd name="adj2" fmla="val 60463"/>
            </a:avLst>
          </a:prstGeom>
          <a:solidFill>
            <a:schemeClr val="accent1"/>
          </a:solidFill>
          <a:ln w="9525" cap="flat" cmpd="sng" algn="ctr">
            <a:solidFill>
              <a:schemeClr val="tx1"/>
            </a:solidFill>
            <a:prstDash val="solid"/>
            <a:round/>
            <a:headEnd type="none" w="med" len="med"/>
            <a:tailEnd type="triangle"/>
          </a:ln>
          <a:effectLst/>
        </p:spPr>
      </p:cxnSp>
      <p:cxnSp>
        <p:nvCxnSpPr>
          <p:cNvPr id="5140" name="Connector: Elbow 5139">
            <a:extLst>
              <a:ext uri="{FF2B5EF4-FFF2-40B4-BE49-F238E27FC236}">
                <a16:creationId xmlns:a16="http://schemas.microsoft.com/office/drawing/2014/main" id="{8C5E9B81-1A10-1A08-D026-450C071BC8AE}"/>
              </a:ext>
            </a:extLst>
          </p:cNvPr>
          <p:cNvCxnSpPr>
            <a:stCxn id="5130" idx="2"/>
            <a:endCxn id="9221" idx="1"/>
          </p:cNvCxnSpPr>
          <p:nvPr/>
        </p:nvCxnSpPr>
        <p:spPr bwMode="auto">
          <a:xfrm rot="16200000" flipH="1">
            <a:off x="9624818" y="2506863"/>
            <a:ext cx="1226629" cy="118329"/>
          </a:xfrm>
          <a:prstGeom prst="bentConnector2">
            <a:avLst/>
          </a:prstGeom>
          <a:solidFill>
            <a:schemeClr val="accent1"/>
          </a:solidFill>
          <a:ln w="9525" cap="flat" cmpd="sng" algn="ctr">
            <a:solidFill>
              <a:schemeClr val="tx1"/>
            </a:solidFill>
            <a:prstDash val="solid"/>
            <a:round/>
            <a:headEnd type="none" w="med" len="med"/>
            <a:tailEnd type="triangle"/>
          </a:ln>
          <a:effectLst/>
        </p:spPr>
      </p:cxnSp>
      <p:grpSp>
        <p:nvGrpSpPr>
          <p:cNvPr id="5153" name="Group 5152">
            <a:extLst>
              <a:ext uri="{FF2B5EF4-FFF2-40B4-BE49-F238E27FC236}">
                <a16:creationId xmlns:a16="http://schemas.microsoft.com/office/drawing/2014/main" id="{CBDC4916-A354-8482-B64C-A4C52FF1B507}"/>
              </a:ext>
            </a:extLst>
          </p:cNvPr>
          <p:cNvGrpSpPr/>
          <p:nvPr/>
        </p:nvGrpSpPr>
        <p:grpSpPr>
          <a:xfrm>
            <a:off x="3451954" y="3595210"/>
            <a:ext cx="576960" cy="428487"/>
            <a:chOff x="3743069" y="3921688"/>
            <a:chExt cx="637630" cy="463623"/>
          </a:xfrm>
        </p:grpSpPr>
        <p:pic>
          <p:nvPicPr>
            <p:cNvPr id="5148" name="Graphic 8" descr="Amazon Simple Storage Service (Amazon S3) service icon.">
              <a:extLst>
                <a:ext uri="{FF2B5EF4-FFF2-40B4-BE49-F238E27FC236}">
                  <a16:creationId xmlns:a16="http://schemas.microsoft.com/office/drawing/2014/main" id="{45622908-04A2-B15F-E6D9-CB30632F378E}"/>
                </a:ext>
              </a:extLst>
            </p:cNvPr>
            <p:cNvPicPr>
              <a:picLocks noChangeAspect="1" noChangeArrowheads="1"/>
            </p:cNvPicPr>
            <p:nvPr/>
          </p:nvPicPr>
          <p:blipFill>
            <a:blip>
              <a:extLst>
                <a:ext uri="{96DAC541-7B7A-43D3-8B79-37D633B846F1}">
                  <asvg:svgBlip xmlns:asvg="http://schemas.microsoft.com/office/drawing/2016/SVG/main" r:embed="rId9"/>
                </a:ext>
              </a:extLst>
            </a:blip>
            <a:stretch>
              <a:fillRect/>
            </a:stretch>
          </p:blipFill>
          <p:spPr bwMode="auto">
            <a:xfrm>
              <a:off x="3890025" y="3921688"/>
              <a:ext cx="278322" cy="27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52" name="TextBox 5151">
              <a:extLst>
                <a:ext uri="{FF2B5EF4-FFF2-40B4-BE49-F238E27FC236}">
                  <a16:creationId xmlns:a16="http://schemas.microsoft.com/office/drawing/2014/main" id="{314AC21F-ABB3-CA00-879C-FFDA1A00F4A3}"/>
                </a:ext>
              </a:extLst>
            </p:cNvPr>
            <p:cNvSpPr txBox="1"/>
            <p:nvPr/>
          </p:nvSpPr>
          <p:spPr>
            <a:xfrm>
              <a:off x="3743069" y="4169867"/>
              <a:ext cx="63763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S3</a:t>
              </a:r>
              <a:endParaRPr lang="es-ES_tradnl"/>
            </a:p>
          </p:txBody>
        </p:sp>
      </p:grpSp>
      <p:grpSp>
        <p:nvGrpSpPr>
          <p:cNvPr id="5171" name="Group 5170">
            <a:extLst>
              <a:ext uri="{FF2B5EF4-FFF2-40B4-BE49-F238E27FC236}">
                <a16:creationId xmlns:a16="http://schemas.microsoft.com/office/drawing/2014/main" id="{25BEA0D9-1706-9AE0-C591-3E85EF3682D0}"/>
              </a:ext>
            </a:extLst>
          </p:cNvPr>
          <p:cNvGrpSpPr/>
          <p:nvPr/>
        </p:nvGrpSpPr>
        <p:grpSpPr>
          <a:xfrm>
            <a:off x="6398821" y="2645887"/>
            <a:ext cx="576960" cy="428487"/>
            <a:chOff x="3743069" y="3921688"/>
            <a:chExt cx="637630" cy="463623"/>
          </a:xfrm>
        </p:grpSpPr>
        <p:pic>
          <p:nvPicPr>
            <p:cNvPr id="5172" name="Graphic 8" descr="Amazon Simple Storage Service (Amazon S3) service icon.">
              <a:extLst>
                <a:ext uri="{FF2B5EF4-FFF2-40B4-BE49-F238E27FC236}">
                  <a16:creationId xmlns:a16="http://schemas.microsoft.com/office/drawing/2014/main" id="{EB289848-71B3-CFCC-5F30-E23082D3EAC3}"/>
                </a:ext>
              </a:extLst>
            </p:cNvPr>
            <p:cNvPicPr>
              <a:picLocks noChangeAspect="1" noChangeArrowheads="1"/>
            </p:cNvPicPr>
            <p:nvPr/>
          </p:nvPicPr>
          <p:blipFill>
            <a:blip>
              <a:extLst>
                <a:ext uri="{96DAC541-7B7A-43D3-8B79-37D633B846F1}">
                  <asvg:svgBlip xmlns:asvg="http://schemas.microsoft.com/office/drawing/2016/SVG/main" r:embed="rId9"/>
                </a:ext>
              </a:extLst>
            </a:blip>
            <a:stretch>
              <a:fillRect/>
            </a:stretch>
          </p:blipFill>
          <p:spPr bwMode="auto">
            <a:xfrm>
              <a:off x="3890025" y="3921688"/>
              <a:ext cx="278322" cy="27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73" name="TextBox 5172">
              <a:extLst>
                <a:ext uri="{FF2B5EF4-FFF2-40B4-BE49-F238E27FC236}">
                  <a16:creationId xmlns:a16="http://schemas.microsoft.com/office/drawing/2014/main" id="{63DB7A5B-E820-E144-7B55-9BD33577BACF}"/>
                </a:ext>
              </a:extLst>
            </p:cNvPr>
            <p:cNvSpPr txBox="1"/>
            <p:nvPr/>
          </p:nvSpPr>
          <p:spPr>
            <a:xfrm>
              <a:off x="3743069" y="4169867"/>
              <a:ext cx="63763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S3</a:t>
              </a:r>
              <a:endParaRPr lang="es-ES_tradnl"/>
            </a:p>
          </p:txBody>
        </p:sp>
      </p:grpSp>
      <p:grpSp>
        <p:nvGrpSpPr>
          <p:cNvPr id="5174" name="Group 5173">
            <a:extLst>
              <a:ext uri="{FF2B5EF4-FFF2-40B4-BE49-F238E27FC236}">
                <a16:creationId xmlns:a16="http://schemas.microsoft.com/office/drawing/2014/main" id="{73E7CFCA-4532-37F9-0165-E65684EED3C7}"/>
              </a:ext>
            </a:extLst>
          </p:cNvPr>
          <p:cNvGrpSpPr/>
          <p:nvPr/>
        </p:nvGrpSpPr>
        <p:grpSpPr>
          <a:xfrm>
            <a:off x="8570954" y="2066584"/>
            <a:ext cx="576960" cy="428487"/>
            <a:chOff x="3743069" y="3921688"/>
            <a:chExt cx="637630" cy="463623"/>
          </a:xfrm>
        </p:grpSpPr>
        <p:pic>
          <p:nvPicPr>
            <p:cNvPr id="5175" name="Graphic 8" descr="Amazon Simple Storage Service (Amazon S3) service icon.">
              <a:extLst>
                <a:ext uri="{FF2B5EF4-FFF2-40B4-BE49-F238E27FC236}">
                  <a16:creationId xmlns:a16="http://schemas.microsoft.com/office/drawing/2014/main" id="{3F204D76-E906-2041-813E-DC8CA9B7349C}"/>
                </a:ext>
              </a:extLst>
            </p:cNvPr>
            <p:cNvPicPr>
              <a:picLocks noChangeAspect="1" noChangeArrowheads="1"/>
            </p:cNvPicPr>
            <p:nvPr/>
          </p:nvPicPr>
          <p:blipFill>
            <a:blip>
              <a:extLst>
                <a:ext uri="{96DAC541-7B7A-43D3-8B79-37D633B846F1}">
                  <asvg:svgBlip xmlns:asvg="http://schemas.microsoft.com/office/drawing/2016/SVG/main" r:embed="rId9"/>
                </a:ext>
              </a:extLst>
            </a:blip>
            <a:stretch>
              <a:fillRect/>
            </a:stretch>
          </p:blipFill>
          <p:spPr bwMode="auto">
            <a:xfrm>
              <a:off x="3890025" y="3921688"/>
              <a:ext cx="278322" cy="27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76" name="TextBox 5175">
              <a:extLst>
                <a:ext uri="{FF2B5EF4-FFF2-40B4-BE49-F238E27FC236}">
                  <a16:creationId xmlns:a16="http://schemas.microsoft.com/office/drawing/2014/main" id="{F66BE008-AE09-4D98-DDD6-5ABECF206BEC}"/>
                </a:ext>
              </a:extLst>
            </p:cNvPr>
            <p:cNvSpPr txBox="1"/>
            <p:nvPr/>
          </p:nvSpPr>
          <p:spPr>
            <a:xfrm>
              <a:off x="3743069" y="4169867"/>
              <a:ext cx="63763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S3</a:t>
              </a:r>
              <a:endParaRPr lang="es-ES_tradnl"/>
            </a:p>
          </p:txBody>
        </p:sp>
      </p:grpSp>
      <p:grpSp>
        <p:nvGrpSpPr>
          <p:cNvPr id="5177" name="Group 5176">
            <a:extLst>
              <a:ext uri="{FF2B5EF4-FFF2-40B4-BE49-F238E27FC236}">
                <a16:creationId xmlns:a16="http://schemas.microsoft.com/office/drawing/2014/main" id="{61A59C37-FE50-C759-C595-AE6DD14A3935}"/>
              </a:ext>
            </a:extLst>
          </p:cNvPr>
          <p:cNvGrpSpPr/>
          <p:nvPr/>
        </p:nvGrpSpPr>
        <p:grpSpPr>
          <a:xfrm>
            <a:off x="4340382" y="5061157"/>
            <a:ext cx="576960" cy="428487"/>
            <a:chOff x="3743069" y="3921688"/>
            <a:chExt cx="637630" cy="463623"/>
          </a:xfrm>
        </p:grpSpPr>
        <p:pic>
          <p:nvPicPr>
            <p:cNvPr id="5178" name="Graphic 8" descr="Amazon Simple Storage Service (Amazon S3) service icon.">
              <a:extLst>
                <a:ext uri="{FF2B5EF4-FFF2-40B4-BE49-F238E27FC236}">
                  <a16:creationId xmlns:a16="http://schemas.microsoft.com/office/drawing/2014/main" id="{2F329032-6CFF-C87A-7E9D-4C83A51F5CA8}"/>
                </a:ext>
              </a:extLst>
            </p:cNvPr>
            <p:cNvPicPr>
              <a:picLocks noChangeAspect="1" noChangeArrowheads="1"/>
            </p:cNvPicPr>
            <p:nvPr/>
          </p:nvPicPr>
          <p:blipFill>
            <a:blip>
              <a:extLst>
                <a:ext uri="{96DAC541-7B7A-43D3-8B79-37D633B846F1}">
                  <asvg:svgBlip xmlns:asvg="http://schemas.microsoft.com/office/drawing/2016/SVG/main" r:embed="rId9"/>
                </a:ext>
              </a:extLst>
            </a:blip>
            <a:stretch>
              <a:fillRect/>
            </a:stretch>
          </p:blipFill>
          <p:spPr bwMode="auto">
            <a:xfrm>
              <a:off x="3890025" y="3921688"/>
              <a:ext cx="278322" cy="27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79" name="TextBox 5178">
              <a:extLst>
                <a:ext uri="{FF2B5EF4-FFF2-40B4-BE49-F238E27FC236}">
                  <a16:creationId xmlns:a16="http://schemas.microsoft.com/office/drawing/2014/main" id="{543DE26D-CF1E-73CC-DD44-35AF02E350E2}"/>
                </a:ext>
              </a:extLst>
            </p:cNvPr>
            <p:cNvSpPr txBox="1"/>
            <p:nvPr/>
          </p:nvSpPr>
          <p:spPr>
            <a:xfrm>
              <a:off x="3743069" y="4169867"/>
              <a:ext cx="63763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S3</a:t>
              </a:r>
              <a:endParaRPr lang="es-ES_tradnl"/>
            </a:p>
          </p:txBody>
        </p:sp>
      </p:grpSp>
      <p:sp>
        <p:nvSpPr>
          <p:cNvPr id="9221" name="Rectangle: Rounded Corners 9220">
            <a:extLst>
              <a:ext uri="{FF2B5EF4-FFF2-40B4-BE49-F238E27FC236}">
                <a16:creationId xmlns:a16="http://schemas.microsoft.com/office/drawing/2014/main" id="{E41C3767-F5DA-3DB9-627F-BF0FA30134B3}"/>
              </a:ext>
            </a:extLst>
          </p:cNvPr>
          <p:cNvSpPr/>
          <p:nvPr/>
        </p:nvSpPr>
        <p:spPr bwMode="auto">
          <a:xfrm>
            <a:off x="10297297" y="2860299"/>
            <a:ext cx="730728" cy="63808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Control</a:t>
            </a:r>
          </a:p>
          <a:p>
            <a:pPr algn="ctr"/>
            <a:r>
              <a:rPr lang="es-ES_tradnl" sz="800" b="1">
                <a:solidFill>
                  <a:schemeClr val="bg1"/>
                </a:solidFill>
                <a:latin typeface="Arial" pitchFamily="34" charset="0"/>
                <a:cs typeface="Arial" pitchFamily="34" charset="0"/>
              </a:rPr>
              <a:t>Registros</a:t>
            </a:r>
          </a:p>
        </p:txBody>
      </p:sp>
      <p:grpSp>
        <p:nvGrpSpPr>
          <p:cNvPr id="9227" name="Group 9226">
            <a:extLst>
              <a:ext uri="{FF2B5EF4-FFF2-40B4-BE49-F238E27FC236}">
                <a16:creationId xmlns:a16="http://schemas.microsoft.com/office/drawing/2014/main" id="{B5A6F2FC-EA32-6471-DBB8-076D560A99B6}"/>
              </a:ext>
            </a:extLst>
          </p:cNvPr>
          <p:cNvGrpSpPr/>
          <p:nvPr/>
        </p:nvGrpSpPr>
        <p:grpSpPr>
          <a:xfrm>
            <a:off x="10272660" y="3545874"/>
            <a:ext cx="844780" cy="413230"/>
            <a:chOff x="6400561" y="3384947"/>
            <a:chExt cx="844780" cy="413230"/>
          </a:xfrm>
        </p:grpSpPr>
        <p:pic>
          <p:nvPicPr>
            <p:cNvPr id="9225" name="lambda" descr="Lambda service icon.">
              <a:extLst>
                <a:ext uri="{FF2B5EF4-FFF2-40B4-BE49-F238E27FC236}">
                  <a16:creationId xmlns:a16="http://schemas.microsoft.com/office/drawing/2014/main" id="{FE96A178-69C2-6A61-F91D-E2BCC48D21C5}"/>
                </a:ext>
              </a:extLst>
            </p:cNvPr>
            <p:cNvPicPr>
              <a:picLocks noChangeAspect="1" noChangeArrowheads="1"/>
            </p:cNvPicPr>
            <p:nvPr/>
          </p:nvPicPr>
          <p:blipFill>
            <a:blip>
              <a:extLst>
                <a:ext uri="{96DAC541-7B7A-43D3-8B79-37D633B846F1}">
                  <asvg:svgBlip xmlns:asvg="http://schemas.microsoft.com/office/drawing/2016/SVG/main" r:embed="rId10"/>
                </a:ext>
              </a:extLst>
            </a:blip>
            <a:stretch>
              <a:fillRect/>
            </a:stretch>
          </p:blipFill>
          <p:spPr bwMode="auto">
            <a:xfrm>
              <a:off x="6686988" y="3384947"/>
              <a:ext cx="224346" cy="224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6" name="label5">
              <a:extLst>
                <a:ext uri="{FF2B5EF4-FFF2-40B4-BE49-F238E27FC236}">
                  <a16:creationId xmlns:a16="http://schemas.microsoft.com/office/drawing/2014/main" id="{83581B17-AD90-C58D-F8FC-25695DF073F0}"/>
                </a:ext>
              </a:extLst>
            </p:cNvPr>
            <p:cNvSpPr txBox="1">
              <a:spLocks noChangeArrowheads="1"/>
            </p:cNvSpPr>
            <p:nvPr/>
          </p:nvSpPr>
          <p:spPr bwMode="auto">
            <a:xfrm>
              <a:off x="6400561" y="3582733"/>
              <a:ext cx="8447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Lambda</a:t>
              </a:r>
            </a:p>
          </p:txBody>
        </p:sp>
      </p:grpSp>
      <p:grpSp>
        <p:nvGrpSpPr>
          <p:cNvPr id="9232" name="Group 9231">
            <a:extLst>
              <a:ext uri="{FF2B5EF4-FFF2-40B4-BE49-F238E27FC236}">
                <a16:creationId xmlns:a16="http://schemas.microsoft.com/office/drawing/2014/main" id="{A704C6A0-99BA-EF7D-2BB4-33B551EC17B1}"/>
              </a:ext>
            </a:extLst>
          </p:cNvPr>
          <p:cNvGrpSpPr/>
          <p:nvPr/>
        </p:nvGrpSpPr>
        <p:grpSpPr>
          <a:xfrm>
            <a:off x="10274392" y="3987335"/>
            <a:ext cx="841315" cy="468855"/>
            <a:chOff x="7754896" y="3062065"/>
            <a:chExt cx="841315" cy="468855"/>
          </a:xfrm>
        </p:grpSpPr>
        <p:pic>
          <p:nvPicPr>
            <p:cNvPr id="9230" name="Graphic 23" descr="Amazon DynamoDB service icon.">
              <a:extLst>
                <a:ext uri="{FF2B5EF4-FFF2-40B4-BE49-F238E27FC236}">
                  <a16:creationId xmlns:a16="http://schemas.microsoft.com/office/drawing/2014/main" id="{7E3EE2FF-FE82-18FF-7439-D2DBD56D09DE}"/>
                </a:ext>
              </a:extLst>
            </p:cNvPr>
            <p:cNvPicPr>
              <a:picLocks noChangeAspect="1" noChangeArrowheads="1"/>
            </p:cNvPicPr>
            <p:nvPr/>
          </p:nvPicPr>
          <p:blipFill>
            <a:blip>
              <a:extLst>
                <a:ext uri="{96DAC541-7B7A-43D3-8B79-37D633B846F1}">
                  <asvg:svgBlip xmlns:asvg="http://schemas.microsoft.com/office/drawing/2016/SVG/main" r:embed="rId11"/>
                </a:ext>
              </a:extLst>
            </a:blip>
            <a:stretch>
              <a:fillRect/>
            </a:stretch>
          </p:blipFill>
          <p:spPr bwMode="auto">
            <a:xfrm>
              <a:off x="8030391" y="3062065"/>
              <a:ext cx="253411" cy="2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1" name="TextBox 12">
              <a:extLst>
                <a:ext uri="{FF2B5EF4-FFF2-40B4-BE49-F238E27FC236}">
                  <a16:creationId xmlns:a16="http://schemas.microsoft.com/office/drawing/2014/main" id="{FA29D0C0-F9B0-CBFC-19C5-6FD881A45A71}"/>
                </a:ext>
              </a:extLst>
            </p:cNvPr>
            <p:cNvSpPr txBox="1">
              <a:spLocks noChangeArrowheads="1"/>
            </p:cNvSpPr>
            <p:nvPr/>
          </p:nvSpPr>
          <p:spPr bwMode="auto">
            <a:xfrm>
              <a:off x="7754896" y="3315476"/>
              <a:ext cx="84131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DynamoDB</a:t>
              </a:r>
            </a:p>
          </p:txBody>
        </p:sp>
      </p:grpSp>
      <p:pic>
        <p:nvPicPr>
          <p:cNvPr id="1373" name="Picture 1372">
            <a:extLst>
              <a:ext uri="{FF2B5EF4-FFF2-40B4-BE49-F238E27FC236}">
                <a16:creationId xmlns:a16="http://schemas.microsoft.com/office/drawing/2014/main" id="{04B4EE35-9151-EA5B-9AA0-0DF0CB42EBC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872377" y="381568"/>
            <a:ext cx="2167395" cy="779986"/>
          </a:xfrm>
          <a:prstGeom prst="rect">
            <a:avLst/>
          </a:prstGeom>
        </p:spPr>
      </p:pic>
      <p:sp>
        <p:nvSpPr>
          <p:cNvPr id="1374" name="Rectangle 1373">
            <a:extLst>
              <a:ext uri="{FF2B5EF4-FFF2-40B4-BE49-F238E27FC236}">
                <a16:creationId xmlns:a16="http://schemas.microsoft.com/office/drawing/2014/main" id="{1347D6A6-9BF4-D8EB-C8BC-E1799D4252C3}"/>
              </a:ext>
            </a:extLst>
          </p:cNvPr>
          <p:cNvSpPr/>
          <p:nvPr/>
        </p:nvSpPr>
        <p:spPr bwMode="auto">
          <a:xfrm>
            <a:off x="10556894" y="682552"/>
            <a:ext cx="495281" cy="339797"/>
          </a:xfrm>
          <a:prstGeom prst="rect">
            <a:avLst/>
          </a:prstGeom>
          <a:noFill/>
          <a:ln w="12700">
            <a:solidFill>
              <a:srgbClr val="FF0000"/>
            </a:solidFill>
            <a:round/>
          </a:ln>
        </p:spPr>
        <p:txBody>
          <a:bodyPr wrap="none" rtlCol="0" anchor="ctr">
            <a:noAutofit/>
          </a:bodyPr>
          <a:lstStyle/>
          <a:p>
            <a:pPr algn="ctr"/>
            <a:endParaRPr lang="es-ES_tradnl"/>
          </a:p>
        </p:txBody>
      </p:sp>
      <p:grpSp>
        <p:nvGrpSpPr>
          <p:cNvPr id="3" name="Group 2">
            <a:extLst>
              <a:ext uri="{FF2B5EF4-FFF2-40B4-BE49-F238E27FC236}">
                <a16:creationId xmlns:a16="http://schemas.microsoft.com/office/drawing/2014/main" id="{DC63407C-F219-816C-821D-B4E0D9A8C728}"/>
              </a:ext>
            </a:extLst>
          </p:cNvPr>
          <p:cNvGrpSpPr/>
          <p:nvPr/>
        </p:nvGrpSpPr>
        <p:grpSpPr>
          <a:xfrm>
            <a:off x="4813220" y="6304019"/>
            <a:ext cx="1192822" cy="378105"/>
            <a:chOff x="835051" y="1350653"/>
            <a:chExt cx="1192822" cy="378105"/>
          </a:xfrm>
        </p:grpSpPr>
        <p:pic>
          <p:nvPicPr>
            <p:cNvPr id="4" name="Graphic 17" descr="AWS Step Functions service icon.">
              <a:extLst>
                <a:ext uri="{FF2B5EF4-FFF2-40B4-BE49-F238E27FC236}">
                  <a16:creationId xmlns:a16="http://schemas.microsoft.com/office/drawing/2014/main" id="{E510E439-CF3C-E62E-9AFC-27581FE692C0}"/>
                </a:ext>
              </a:extLst>
            </p:cNvPr>
            <p:cNvPicPr>
              <a:picLocks noChangeAspect="1" noChangeArrowheads="1"/>
            </p:cNvPicPr>
            <p:nvPr/>
          </p:nvPicPr>
          <p:blipFill>
            <a:blip>
              <a:extLst>
                <a:ext uri="{96DAC541-7B7A-43D3-8B79-37D633B846F1}">
                  <asvg:svgBlip xmlns:asvg="http://schemas.microsoft.com/office/drawing/2016/SVG/main" r:embed="rId13"/>
                </a:ext>
              </a:extLst>
            </a:blip>
            <a:stretch>
              <a:fillRect/>
            </a:stretch>
          </p:blipFill>
          <p:spPr bwMode="auto">
            <a:xfrm>
              <a:off x="835051" y="1350653"/>
              <a:ext cx="378105" cy="37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F6D04719-7607-85F2-A1DE-4778F12C328F}"/>
                </a:ext>
              </a:extLst>
            </p:cNvPr>
            <p:cNvSpPr txBox="1">
              <a:spLocks noChangeArrowheads="1"/>
            </p:cNvSpPr>
            <p:nvPr/>
          </p:nvSpPr>
          <p:spPr bwMode="auto">
            <a:xfrm>
              <a:off x="1024103" y="1390204"/>
              <a:ext cx="10037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Step Functions</a:t>
              </a:r>
            </a:p>
          </p:txBody>
        </p:sp>
      </p:grpSp>
      <p:grpSp>
        <p:nvGrpSpPr>
          <p:cNvPr id="6" name="Group 5">
            <a:extLst>
              <a:ext uri="{FF2B5EF4-FFF2-40B4-BE49-F238E27FC236}">
                <a16:creationId xmlns:a16="http://schemas.microsoft.com/office/drawing/2014/main" id="{F34A078E-5E20-17A6-228C-03545BEEBCCA}"/>
              </a:ext>
            </a:extLst>
          </p:cNvPr>
          <p:cNvGrpSpPr/>
          <p:nvPr/>
        </p:nvGrpSpPr>
        <p:grpSpPr>
          <a:xfrm>
            <a:off x="7591321" y="6276861"/>
            <a:ext cx="576960" cy="428487"/>
            <a:chOff x="3743069" y="3921688"/>
            <a:chExt cx="637630" cy="463623"/>
          </a:xfrm>
        </p:grpSpPr>
        <p:pic>
          <p:nvPicPr>
            <p:cNvPr id="9" name="Graphic 8" descr="Amazon Simple Storage Service (Amazon S3) service icon.">
              <a:extLst>
                <a:ext uri="{FF2B5EF4-FFF2-40B4-BE49-F238E27FC236}">
                  <a16:creationId xmlns:a16="http://schemas.microsoft.com/office/drawing/2014/main" id="{A6E9ABCC-FD82-328C-A08A-0A1497F60334}"/>
                </a:ext>
              </a:extLst>
            </p:cNvPr>
            <p:cNvPicPr>
              <a:picLocks noChangeAspect="1" noChangeArrowheads="1"/>
            </p:cNvPicPr>
            <p:nvPr/>
          </p:nvPicPr>
          <p:blipFill>
            <a:blip>
              <a:extLst>
                <a:ext uri="{96DAC541-7B7A-43D3-8B79-37D633B846F1}">
                  <asvg:svgBlip xmlns:asvg="http://schemas.microsoft.com/office/drawing/2016/SVG/main" r:embed="rId9"/>
                </a:ext>
              </a:extLst>
            </a:blip>
            <a:stretch>
              <a:fillRect/>
            </a:stretch>
          </p:blipFill>
          <p:spPr bwMode="auto">
            <a:xfrm>
              <a:off x="3890025" y="3921688"/>
              <a:ext cx="278322" cy="27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C44336F-596C-084A-B14D-372C5CC7CD1D}"/>
                </a:ext>
              </a:extLst>
            </p:cNvPr>
            <p:cNvSpPr txBox="1"/>
            <p:nvPr/>
          </p:nvSpPr>
          <p:spPr>
            <a:xfrm>
              <a:off x="3743069" y="4169867"/>
              <a:ext cx="63763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S3</a:t>
              </a:r>
              <a:endParaRPr lang="es-ES_tradnl"/>
            </a:p>
          </p:txBody>
        </p:sp>
      </p:grpSp>
      <p:grpSp>
        <p:nvGrpSpPr>
          <p:cNvPr id="18" name="Group 17">
            <a:extLst>
              <a:ext uri="{FF2B5EF4-FFF2-40B4-BE49-F238E27FC236}">
                <a16:creationId xmlns:a16="http://schemas.microsoft.com/office/drawing/2014/main" id="{582737A4-CD84-0E75-71EE-04D556DAE028}"/>
              </a:ext>
            </a:extLst>
          </p:cNvPr>
          <p:cNvGrpSpPr/>
          <p:nvPr/>
        </p:nvGrpSpPr>
        <p:grpSpPr>
          <a:xfrm>
            <a:off x="6251391" y="6314297"/>
            <a:ext cx="962930" cy="283618"/>
            <a:chOff x="2127933" y="3933232"/>
            <a:chExt cx="962930" cy="283618"/>
          </a:xfrm>
        </p:grpSpPr>
        <p:pic>
          <p:nvPicPr>
            <p:cNvPr id="19" name="Graphic 6" descr="AWS Glue service icon.">
              <a:extLst>
                <a:ext uri="{FF2B5EF4-FFF2-40B4-BE49-F238E27FC236}">
                  <a16:creationId xmlns:a16="http://schemas.microsoft.com/office/drawing/2014/main" id="{4FEF00C8-6EFE-E36B-BFC2-9F31E6B9DF4F}"/>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2127933" y="3933232"/>
              <a:ext cx="283618" cy="28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0">
              <a:extLst>
                <a:ext uri="{FF2B5EF4-FFF2-40B4-BE49-F238E27FC236}">
                  <a16:creationId xmlns:a16="http://schemas.microsoft.com/office/drawing/2014/main" id="{735360D0-4102-3CCA-EC48-657DC42DB98E}"/>
                </a:ext>
              </a:extLst>
            </p:cNvPr>
            <p:cNvSpPr txBox="1">
              <a:spLocks noChangeArrowheads="1"/>
            </p:cNvSpPr>
            <p:nvPr/>
          </p:nvSpPr>
          <p:spPr bwMode="auto">
            <a:xfrm>
              <a:off x="2318242" y="3998433"/>
              <a:ext cx="7726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800" b="1">
                  <a:latin typeface="Arial" pitchFamily="34" charset="0"/>
                  <a:ea typeface="Amazon Ember" panose="020B0603020204020204" pitchFamily="34" charset="0"/>
                  <a:cs typeface="Arial" pitchFamily="34" charset="0"/>
                </a:rPr>
                <a:t>AWS Glue</a:t>
              </a:r>
            </a:p>
          </p:txBody>
        </p:sp>
      </p:grpSp>
      <p:sp>
        <p:nvSpPr>
          <p:cNvPr id="29" name="Left Brace 28">
            <a:extLst>
              <a:ext uri="{FF2B5EF4-FFF2-40B4-BE49-F238E27FC236}">
                <a16:creationId xmlns:a16="http://schemas.microsoft.com/office/drawing/2014/main" id="{A1C2C40B-C7B7-64A4-2EB5-B7E129EEFE84}"/>
              </a:ext>
            </a:extLst>
          </p:cNvPr>
          <p:cNvSpPr/>
          <p:nvPr/>
        </p:nvSpPr>
        <p:spPr>
          <a:xfrm rot="16200000">
            <a:off x="6730231" y="745584"/>
            <a:ext cx="299553" cy="1013883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1" name="TextBox 30">
            <a:extLst>
              <a:ext uri="{FF2B5EF4-FFF2-40B4-BE49-F238E27FC236}">
                <a16:creationId xmlns:a16="http://schemas.microsoft.com/office/drawing/2014/main" id="{E2D3F562-3F04-1F5A-3B25-328FC2F4A2F0}"/>
              </a:ext>
            </a:extLst>
          </p:cNvPr>
          <p:cNvSpPr txBox="1"/>
          <p:nvPr/>
        </p:nvSpPr>
        <p:spPr>
          <a:xfrm>
            <a:off x="8485963" y="6492920"/>
            <a:ext cx="2383028" cy="338554"/>
          </a:xfrm>
          <a:prstGeom prst="rect">
            <a:avLst/>
          </a:prstGeom>
          <a:noFill/>
          <a:ln>
            <a:noFill/>
            <a:prstDash val="dash"/>
          </a:ln>
        </p:spPr>
        <p:txBody>
          <a:bodyPr wrap="square" rtlCol="0">
            <a:spAutoFit/>
          </a:bodyPr>
          <a:lstStyle/>
          <a:p>
            <a:pPr algn="ctr"/>
            <a:r>
              <a:rPr lang="es-ES_tradnl" sz="800">
                <a:latin typeface="Arial" pitchFamily="34" charset="0"/>
                <a:cs typeface="Arial" pitchFamily="34" charset="0"/>
              </a:rPr>
              <a:t>* Los aplicativos marcados en rojo son aplicativos que ya no utiliza el banco</a:t>
            </a:r>
          </a:p>
        </p:txBody>
      </p:sp>
    </p:spTree>
    <p:extLst>
      <p:ext uri="{BB962C8B-B14F-4D97-AF65-F5344CB8AC3E}">
        <p14:creationId xmlns:p14="http://schemas.microsoft.com/office/powerpoint/2010/main" val="9580203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4="http://schemas.microsoft.com/office/powerpoint/2010/main" xmlns:p15="http://schemas.microsoft.com/office/powerpoint/2012/main">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1897B-9A0F-5DAE-7B14-206F9A63EC20}"/>
            </a:ext>
          </a:extLst>
        </p:cNvPr>
        <p:cNvGrpSpPr/>
        <p:nvPr/>
      </p:nvGrpSpPr>
      <p:grpSpPr>
        <a:xfrm>
          <a:off x="0" y="0"/>
          <a:ext cx="0" cy="0"/>
          <a:chOff x="0" y="0"/>
          <a:chExt cx="0" cy="0"/>
        </a:xfrm>
      </p:grpSpPr>
      <p:sp>
        <p:nvSpPr>
          <p:cNvPr id="16" name="Google Shape;72;p7">
            <a:extLst>
              <a:ext uri="{FF2B5EF4-FFF2-40B4-BE49-F238E27FC236}">
                <a16:creationId xmlns:a16="http://schemas.microsoft.com/office/drawing/2014/main" id="{B8B236B2-0BDF-7100-117C-6CAFCE64125F}"/>
              </a:ext>
            </a:extLst>
          </p:cNvPr>
          <p:cNvSpPr txBox="1"/>
          <p:nvPr/>
        </p:nvSpPr>
        <p:spPr>
          <a:xfrm>
            <a:off x="380373" y="1302533"/>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La configuración del Pipeline se realiza en un fichero de configuración JSON que tiene las casuísticas por sistema</a:t>
            </a:r>
          </a:p>
        </p:txBody>
      </p:sp>
      <p:sp>
        <p:nvSpPr>
          <p:cNvPr id="47" name="Rounded Rectangle 1">
            <a:extLst>
              <a:ext uri="{FF2B5EF4-FFF2-40B4-BE49-F238E27FC236}">
                <a16:creationId xmlns:a16="http://schemas.microsoft.com/office/drawing/2014/main" id="{B90F3E46-6D66-094F-636C-B826EEB22EB6}"/>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7EC0E686-B3AF-EE7E-6873-514F600DAE7B}"/>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2" name="Rectangle: Rounded Corners 1">
            <a:extLst>
              <a:ext uri="{FF2B5EF4-FFF2-40B4-BE49-F238E27FC236}">
                <a16:creationId xmlns:a16="http://schemas.microsoft.com/office/drawing/2014/main" id="{CD1C58E1-2D11-F026-CA4C-51BF772F5F0C}"/>
              </a:ext>
            </a:extLst>
          </p:cNvPr>
          <p:cNvSpPr/>
          <p:nvPr/>
        </p:nvSpPr>
        <p:spPr bwMode="auto">
          <a:xfrm>
            <a:off x="334319" y="2194660"/>
            <a:ext cx="1206157" cy="381290"/>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Extracción</a:t>
            </a:r>
          </a:p>
        </p:txBody>
      </p:sp>
      <p:sp>
        <p:nvSpPr>
          <p:cNvPr id="3" name="Rectangle: Rounded Corners 2">
            <a:extLst>
              <a:ext uri="{FF2B5EF4-FFF2-40B4-BE49-F238E27FC236}">
                <a16:creationId xmlns:a16="http://schemas.microsoft.com/office/drawing/2014/main" id="{BCB4D0F6-FE05-6A32-14C9-78E69993E004}"/>
              </a:ext>
            </a:extLst>
          </p:cNvPr>
          <p:cNvSpPr/>
          <p:nvPr/>
        </p:nvSpPr>
        <p:spPr bwMode="auto">
          <a:xfrm>
            <a:off x="334319" y="2756356"/>
            <a:ext cx="1206157" cy="709200"/>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Homologación</a:t>
            </a:r>
          </a:p>
        </p:txBody>
      </p:sp>
      <p:sp>
        <p:nvSpPr>
          <p:cNvPr id="4" name="Rectangle: Rounded Corners 3">
            <a:extLst>
              <a:ext uri="{FF2B5EF4-FFF2-40B4-BE49-F238E27FC236}">
                <a16:creationId xmlns:a16="http://schemas.microsoft.com/office/drawing/2014/main" id="{AEDD87A4-470B-4264-361B-CEBBB414C708}"/>
              </a:ext>
            </a:extLst>
          </p:cNvPr>
          <p:cNvSpPr/>
          <p:nvPr/>
        </p:nvSpPr>
        <p:spPr bwMode="auto">
          <a:xfrm>
            <a:off x="334318" y="3661040"/>
            <a:ext cx="1206157" cy="64633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Generación</a:t>
            </a:r>
          </a:p>
          <a:p>
            <a:pPr algn="ctr"/>
            <a:r>
              <a:rPr lang="es-ES_tradnl" sz="800" b="1">
                <a:solidFill>
                  <a:schemeClr val="bg1"/>
                </a:solidFill>
                <a:latin typeface="Arial" pitchFamily="34" charset="0"/>
                <a:cs typeface="Arial" pitchFamily="34" charset="0"/>
              </a:rPr>
              <a:t>ID Contrato</a:t>
            </a:r>
          </a:p>
        </p:txBody>
      </p:sp>
      <p:sp>
        <p:nvSpPr>
          <p:cNvPr id="9" name="TextBox 8">
            <a:extLst>
              <a:ext uri="{FF2B5EF4-FFF2-40B4-BE49-F238E27FC236}">
                <a16:creationId xmlns:a16="http://schemas.microsoft.com/office/drawing/2014/main" id="{3C786164-3304-1F80-AD3B-B9FBC6332FF4}"/>
              </a:ext>
            </a:extLst>
          </p:cNvPr>
          <p:cNvSpPr txBox="1"/>
          <p:nvPr/>
        </p:nvSpPr>
        <p:spPr>
          <a:xfrm>
            <a:off x="1613341" y="2206617"/>
            <a:ext cx="4634672" cy="369332"/>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Extracción de los datos desde la capa Bronze, la fuente de datos y los posibles filtros se configuran en el fichero json del pipeline </a:t>
            </a:r>
          </a:p>
        </p:txBody>
      </p:sp>
      <p:sp>
        <p:nvSpPr>
          <p:cNvPr id="10" name="TextBox 9">
            <a:extLst>
              <a:ext uri="{FF2B5EF4-FFF2-40B4-BE49-F238E27FC236}">
                <a16:creationId xmlns:a16="http://schemas.microsoft.com/office/drawing/2014/main" id="{EB0CF66D-33BA-154A-AB4D-6B3F33D94C47}"/>
              </a:ext>
            </a:extLst>
          </p:cNvPr>
          <p:cNvSpPr txBox="1"/>
          <p:nvPr/>
        </p:nvSpPr>
        <p:spPr>
          <a:xfrm>
            <a:off x="6821424" y="2185528"/>
            <a:ext cx="4921843" cy="370800"/>
          </a:xfrm>
          <a:prstGeom prst="rect">
            <a:avLst/>
          </a:prstGeom>
          <a:noFill/>
          <a:ln>
            <a:solidFill>
              <a:schemeClr val="tx1"/>
            </a:solidFill>
            <a:prstDash val="dash"/>
          </a:ln>
        </p:spPr>
        <p:txBody>
          <a:bodyPr wrap="square" rtlCol="0">
            <a:spAutoFit/>
          </a:bodyPr>
          <a:lstStyle/>
          <a:p>
            <a:pPr algn="ctr"/>
            <a:r>
              <a:rPr lang="es-ES_tradnl" sz="800" dirty="0">
                <a:latin typeface="Arial" pitchFamily="34" charset="0"/>
                <a:cs typeface="Arial" pitchFamily="34" charset="0"/>
              </a:rPr>
              <a:t>{ "</a:t>
            </a:r>
            <a:r>
              <a:rPr lang="es-ES_tradnl" sz="800" dirty="0" err="1">
                <a:latin typeface="Arial" pitchFamily="34" charset="0"/>
                <a:cs typeface="Arial" pitchFamily="34" charset="0"/>
              </a:rPr>
              <a:t>source</a:t>
            </a:r>
            <a:r>
              <a:rPr lang="es-ES_tradnl" sz="800" dirty="0">
                <a:latin typeface="Arial" pitchFamily="34" charset="0"/>
                <a:cs typeface="Arial" pitchFamily="34" charset="0"/>
              </a:rPr>
              <a:t>": { "APRRINT_FCD" },</a:t>
            </a:r>
          </a:p>
          <a:p>
            <a:pPr algn="ctr"/>
            <a:r>
              <a:rPr lang="es-ES_tradnl" sz="800" dirty="0">
                <a:latin typeface="Arial" pitchFamily="34" charset="0"/>
                <a:cs typeface="Arial" pitchFamily="34" charset="0"/>
              </a:rPr>
              <a:t>  "</a:t>
            </a:r>
            <a:r>
              <a:rPr lang="es-ES_tradnl" sz="800" dirty="0" err="1">
                <a:latin typeface="Arial" pitchFamily="34" charset="0"/>
                <a:cs typeface="Arial" pitchFamily="34" charset="0"/>
              </a:rPr>
              <a:t>filter</a:t>
            </a:r>
            <a:r>
              <a:rPr lang="es-ES_tradnl" sz="800" dirty="0">
                <a:latin typeface="Arial" pitchFamily="34" charset="0"/>
                <a:cs typeface="Arial" pitchFamily="34" charset="0"/>
              </a:rPr>
              <a:t>": { "P01_ID_CAMP_04 =‘A' " }</a:t>
            </a:r>
          </a:p>
          <a:p>
            <a:pPr algn="ctr"/>
            <a:r>
              <a:rPr lang="es-ES_tradnl" sz="800" dirty="0">
                <a:latin typeface="Arial" pitchFamily="34" charset="0"/>
                <a:cs typeface="Arial" pitchFamily="34" charset="0"/>
              </a:rPr>
              <a:t> </a:t>
            </a:r>
          </a:p>
        </p:txBody>
      </p:sp>
      <p:sp>
        <p:nvSpPr>
          <p:cNvPr id="14" name="TextBox 13">
            <a:extLst>
              <a:ext uri="{FF2B5EF4-FFF2-40B4-BE49-F238E27FC236}">
                <a16:creationId xmlns:a16="http://schemas.microsoft.com/office/drawing/2014/main" id="{4D8CBDAE-E9D6-103A-D1C4-AAF28E3A25F8}"/>
              </a:ext>
            </a:extLst>
          </p:cNvPr>
          <p:cNvSpPr txBox="1"/>
          <p:nvPr/>
        </p:nvSpPr>
        <p:spPr>
          <a:xfrm>
            <a:off x="1613341" y="2756356"/>
            <a:ext cx="4634672" cy="646331"/>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Homologación de Fuentes:</a:t>
            </a:r>
          </a:p>
          <a:p>
            <a:endParaRPr lang="es-ES_tradnl" sz="900">
              <a:latin typeface="Arial" pitchFamily="34" charset="0"/>
              <a:cs typeface="Arial" pitchFamily="34" charset="0"/>
            </a:endParaRPr>
          </a:p>
          <a:p>
            <a:pPr marL="171450" indent="-171450">
              <a:buFont typeface="Arial" pitchFamily="34" charset="0"/>
              <a:buChar char="•"/>
            </a:pPr>
            <a:r>
              <a:rPr lang="es-ES_tradnl" sz="900">
                <a:latin typeface="Arial" pitchFamily="34" charset="0"/>
                <a:cs typeface="Arial" pitchFamily="34" charset="0"/>
              </a:rPr>
              <a:t>Nombres de Campos, de forma que se genera una estructura común</a:t>
            </a:r>
          </a:p>
          <a:p>
            <a:pPr marL="171450" indent="-171450">
              <a:buFont typeface="Arial" pitchFamily="34" charset="0"/>
              <a:buChar char="•"/>
            </a:pPr>
            <a:r>
              <a:rPr lang="es-ES_tradnl" sz="900">
                <a:latin typeface="Arial" pitchFamily="34" charset="0"/>
                <a:cs typeface="Arial" pitchFamily="34" charset="0"/>
              </a:rPr>
              <a:t>Homologación de valores de campos en función del sistema origen (Normalización)</a:t>
            </a:r>
          </a:p>
        </p:txBody>
      </p:sp>
      <p:sp>
        <p:nvSpPr>
          <p:cNvPr id="17" name="TextBox 16">
            <a:extLst>
              <a:ext uri="{FF2B5EF4-FFF2-40B4-BE49-F238E27FC236}">
                <a16:creationId xmlns:a16="http://schemas.microsoft.com/office/drawing/2014/main" id="{E986FD69-AA4C-689F-F737-DFA4B8C71ED3}"/>
              </a:ext>
            </a:extLst>
          </p:cNvPr>
          <p:cNvSpPr txBox="1"/>
          <p:nvPr/>
        </p:nvSpPr>
        <p:spPr>
          <a:xfrm>
            <a:off x="6821425" y="2783564"/>
            <a:ext cx="4921842" cy="707886"/>
          </a:xfrm>
          <a:prstGeom prst="rect">
            <a:avLst/>
          </a:prstGeom>
          <a:noFill/>
          <a:ln>
            <a:solidFill>
              <a:schemeClr val="tx1"/>
            </a:solidFill>
            <a:prstDash val="dash"/>
          </a:ln>
        </p:spPr>
        <p:txBody>
          <a:bodyPr wrap="square" rtlCol="0">
            <a:spAutoFit/>
          </a:bodyPr>
          <a:lstStyle>
            <a:defPPr>
              <a:defRPr lang="es-ES_tradnl"/>
            </a:defPPr>
            <a:lvl1pPr>
              <a:defRPr sz="800">
                <a:latin typeface="Arial" pitchFamily="34" charset="0"/>
                <a:cs typeface="Arial" pitchFamily="34" charset="0"/>
              </a:defRPr>
            </a:lvl1pPr>
          </a:lstStyle>
          <a:p>
            <a:pPr algn="ctr"/>
            <a:r>
              <a:rPr lang="es-ES_tradnl"/>
              <a:t>"Mapping": [  </a:t>
            </a:r>
          </a:p>
          <a:p>
            <a:pPr algn="ctr"/>
            <a:r>
              <a:rPr lang="es-ES_tradnl"/>
              <a:t>{ "output_column": "cod_producto", "expression": "P01_ID_CAMP_03"},</a:t>
            </a:r>
          </a:p>
          <a:p>
            <a:pPr algn="ctr"/>
            <a:r>
              <a:rPr lang="es-ES_tradnl"/>
              <a:t>{ "output_column": "cod_estado_saldo", "expression": "P01_ID_CAMP_05"}	] </a:t>
            </a:r>
          </a:p>
          <a:p>
            <a:pPr algn="ctr"/>
            <a:r>
              <a:rPr lang="es-ES_tradnl"/>
              <a:t>"Homologaciones": [  	</a:t>
            </a:r>
          </a:p>
          <a:p>
            <a:pPr algn="ctr"/>
            <a:r>
              <a:rPr lang="es-ES_tradnl"/>
              <a:t>{ "column": "cod_estado_saldo", "mapping_table_s3": "s3://config-bucket/mappings/estado_saldo.csv"}]</a:t>
            </a:r>
          </a:p>
        </p:txBody>
      </p:sp>
      <p:sp>
        <p:nvSpPr>
          <p:cNvPr id="19" name="TextBox 18">
            <a:extLst>
              <a:ext uri="{FF2B5EF4-FFF2-40B4-BE49-F238E27FC236}">
                <a16:creationId xmlns:a16="http://schemas.microsoft.com/office/drawing/2014/main" id="{325E1952-8E6B-C2F9-4A11-BC48CA348021}"/>
              </a:ext>
            </a:extLst>
          </p:cNvPr>
          <p:cNvSpPr txBox="1"/>
          <p:nvPr/>
        </p:nvSpPr>
        <p:spPr>
          <a:xfrm>
            <a:off x="1613341" y="3661040"/>
            <a:ext cx="4634672" cy="646331"/>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Generación de ID contrato único:</a:t>
            </a:r>
          </a:p>
          <a:p>
            <a:pPr marL="171450" indent="-171450">
              <a:buFont typeface="Arial" pitchFamily="34" charset="0"/>
              <a:buChar char="•"/>
            </a:pPr>
            <a:r>
              <a:rPr lang="es-ES_tradnl" sz="900">
                <a:latin typeface="Arial" pitchFamily="34" charset="0"/>
                <a:cs typeface="Arial" pitchFamily="34" charset="0"/>
              </a:rPr>
              <a:t>Es necesario asignar un ID de contrato único a cada registro que requieren una tratamiento diferenciado en OFSAA, cada sistema tiene un criterio de asignación diferente (Ej: Cálculo distinto de TTI por contrato)</a:t>
            </a:r>
          </a:p>
        </p:txBody>
      </p:sp>
      <p:sp>
        <p:nvSpPr>
          <p:cNvPr id="20" name="TextBox 19">
            <a:extLst>
              <a:ext uri="{FF2B5EF4-FFF2-40B4-BE49-F238E27FC236}">
                <a16:creationId xmlns:a16="http://schemas.microsoft.com/office/drawing/2014/main" id="{7BA505D4-1731-897B-46B3-7984AC190603}"/>
              </a:ext>
            </a:extLst>
          </p:cNvPr>
          <p:cNvSpPr txBox="1"/>
          <p:nvPr/>
        </p:nvSpPr>
        <p:spPr>
          <a:xfrm>
            <a:off x="6821424" y="3659370"/>
            <a:ext cx="4921841" cy="648000"/>
          </a:xfrm>
          <a:prstGeom prst="rect">
            <a:avLst/>
          </a:prstGeom>
          <a:noFill/>
          <a:ln>
            <a:solidFill>
              <a:schemeClr val="tx1"/>
            </a:solidFill>
            <a:prstDash val="dash"/>
          </a:ln>
        </p:spPr>
        <p:txBody>
          <a:bodyPr wrap="square" rtlCol="0">
            <a:spAutoFit/>
          </a:bodyPr>
          <a:lstStyle>
            <a:defPPr>
              <a:defRPr lang="es-ES_tradnl"/>
            </a:defPPr>
            <a:lvl1pPr>
              <a:defRPr sz="800">
                <a:latin typeface="Arial" pitchFamily="34" charset="0"/>
                <a:cs typeface="Arial" pitchFamily="34" charset="0"/>
              </a:defRPr>
            </a:lvl1pPr>
          </a:lstStyle>
          <a:p>
            <a:pPr algn="ctr"/>
            <a:r>
              <a:rPr lang="es-ES_tradnl"/>
              <a:t>"Mapping_ID": [  </a:t>
            </a:r>
          </a:p>
          <a:p>
            <a:pPr algn="ctr"/>
            <a:r>
              <a:rPr lang="es-ES_tradnl"/>
              <a:t>{ "output_column": "ID_CONTRATO", "expression": “CONCAT(P01_ID_APLI_DCMNTO, P01_NU_DOCU) "}]</a:t>
            </a:r>
          </a:p>
        </p:txBody>
      </p:sp>
      <p:sp>
        <p:nvSpPr>
          <p:cNvPr id="22" name="Rectangle: Rounded Corners 21">
            <a:extLst>
              <a:ext uri="{FF2B5EF4-FFF2-40B4-BE49-F238E27FC236}">
                <a16:creationId xmlns:a16="http://schemas.microsoft.com/office/drawing/2014/main" id="{903DE513-C606-4B71-9800-C9676388B30B}"/>
              </a:ext>
            </a:extLst>
          </p:cNvPr>
          <p:cNvSpPr/>
          <p:nvPr/>
        </p:nvSpPr>
        <p:spPr bwMode="auto">
          <a:xfrm rot="16200000">
            <a:off x="-532863" y="5352403"/>
            <a:ext cx="2013433" cy="277778"/>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Asignación Dimensiones</a:t>
            </a:r>
          </a:p>
        </p:txBody>
      </p:sp>
      <p:sp>
        <p:nvSpPr>
          <p:cNvPr id="23" name="Rectangle: Rounded Corners 22">
            <a:extLst>
              <a:ext uri="{FF2B5EF4-FFF2-40B4-BE49-F238E27FC236}">
                <a16:creationId xmlns:a16="http://schemas.microsoft.com/office/drawing/2014/main" id="{CF9BC8D6-3974-BD60-F779-09AB81CCC2D4}"/>
              </a:ext>
            </a:extLst>
          </p:cNvPr>
          <p:cNvSpPr/>
          <p:nvPr/>
        </p:nvSpPr>
        <p:spPr bwMode="auto">
          <a:xfrm>
            <a:off x="659027" y="4484575"/>
            <a:ext cx="881447" cy="507831"/>
          </a:xfrm>
          <a:prstGeom prst="roundRect">
            <a:avLst/>
          </a:prstGeom>
          <a:solidFill>
            <a:schemeClr val="bg2">
              <a:lumMod val="75000"/>
            </a:schemeClr>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Segmento</a:t>
            </a:r>
          </a:p>
        </p:txBody>
      </p:sp>
      <p:sp>
        <p:nvSpPr>
          <p:cNvPr id="24" name="Rectangle: Rounded Corners 23">
            <a:extLst>
              <a:ext uri="{FF2B5EF4-FFF2-40B4-BE49-F238E27FC236}">
                <a16:creationId xmlns:a16="http://schemas.microsoft.com/office/drawing/2014/main" id="{59341219-5880-0FA1-F04A-A35BDB4E8B65}"/>
              </a:ext>
            </a:extLst>
          </p:cNvPr>
          <p:cNvSpPr/>
          <p:nvPr/>
        </p:nvSpPr>
        <p:spPr bwMode="auto">
          <a:xfrm>
            <a:off x="658669" y="5093007"/>
            <a:ext cx="881447" cy="369332"/>
          </a:xfrm>
          <a:prstGeom prst="roundRect">
            <a:avLst/>
          </a:prstGeom>
          <a:solidFill>
            <a:schemeClr val="bg2">
              <a:lumMod val="75000"/>
            </a:schemeClr>
          </a:solidFill>
          <a:ln w="9525">
            <a:noFill/>
            <a:round/>
          </a:ln>
        </p:spPr>
        <p:txBody>
          <a:bodyPr wrap="square" rtlCol="0" anchor="ctr">
            <a:noAutofit/>
          </a:bodyPr>
          <a:lstStyle/>
          <a:p>
            <a:pPr algn="ctr"/>
            <a:r>
              <a:rPr lang="es-ES_tradnl" sz="800" b="1" err="1">
                <a:solidFill>
                  <a:schemeClr val="bg1"/>
                </a:solidFill>
                <a:latin typeface="Arial" pitchFamily="34" charset="0"/>
                <a:cs typeface="Arial" pitchFamily="34" charset="0"/>
              </a:rPr>
              <a:t>Agrp. Contable</a:t>
            </a:r>
          </a:p>
        </p:txBody>
      </p:sp>
      <p:sp>
        <p:nvSpPr>
          <p:cNvPr id="25" name="Rectangle: Rounded Corners 24">
            <a:extLst>
              <a:ext uri="{FF2B5EF4-FFF2-40B4-BE49-F238E27FC236}">
                <a16:creationId xmlns:a16="http://schemas.microsoft.com/office/drawing/2014/main" id="{1FAC1E09-9CDF-49F4-00AA-8A4B10CD3807}"/>
              </a:ext>
            </a:extLst>
          </p:cNvPr>
          <p:cNvSpPr/>
          <p:nvPr/>
        </p:nvSpPr>
        <p:spPr bwMode="auto">
          <a:xfrm>
            <a:off x="658668" y="5548062"/>
            <a:ext cx="881447" cy="503999"/>
          </a:xfrm>
          <a:prstGeom prst="roundRect">
            <a:avLst/>
          </a:prstGeom>
          <a:solidFill>
            <a:schemeClr val="bg2">
              <a:lumMod val="75000"/>
            </a:schemeClr>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Producto</a:t>
            </a:r>
          </a:p>
          <a:p>
            <a:pPr algn="ctr"/>
            <a:r>
              <a:rPr lang="es-ES_tradnl" sz="800" b="1">
                <a:solidFill>
                  <a:schemeClr val="bg1"/>
                </a:solidFill>
                <a:latin typeface="Arial" pitchFamily="34" charset="0"/>
                <a:cs typeface="Arial" pitchFamily="34" charset="0"/>
              </a:rPr>
              <a:t>Gestión</a:t>
            </a:r>
          </a:p>
        </p:txBody>
      </p:sp>
      <p:sp>
        <p:nvSpPr>
          <p:cNvPr id="26" name="Rectangle: Rounded Corners 25">
            <a:extLst>
              <a:ext uri="{FF2B5EF4-FFF2-40B4-BE49-F238E27FC236}">
                <a16:creationId xmlns:a16="http://schemas.microsoft.com/office/drawing/2014/main" id="{7E31ABED-2805-3858-D243-574EBBA03CC6}"/>
              </a:ext>
            </a:extLst>
          </p:cNvPr>
          <p:cNvSpPr/>
          <p:nvPr/>
        </p:nvSpPr>
        <p:spPr bwMode="auto">
          <a:xfrm>
            <a:off x="658309" y="6137783"/>
            <a:ext cx="881447" cy="360223"/>
          </a:xfrm>
          <a:prstGeom prst="roundRect">
            <a:avLst/>
          </a:prstGeom>
          <a:solidFill>
            <a:schemeClr val="bg2">
              <a:lumMod val="75000"/>
            </a:schemeClr>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Área de</a:t>
            </a:r>
          </a:p>
          <a:p>
            <a:pPr algn="ctr"/>
            <a:r>
              <a:rPr lang="es-ES_tradnl" sz="800" b="1">
                <a:solidFill>
                  <a:schemeClr val="bg1"/>
                </a:solidFill>
                <a:latin typeface="Arial" pitchFamily="34" charset="0"/>
                <a:cs typeface="Arial" pitchFamily="34" charset="0"/>
              </a:rPr>
              <a:t>Negocio</a:t>
            </a:r>
          </a:p>
        </p:txBody>
      </p:sp>
      <p:sp>
        <p:nvSpPr>
          <p:cNvPr id="27" name="TextBox 26">
            <a:extLst>
              <a:ext uri="{FF2B5EF4-FFF2-40B4-BE49-F238E27FC236}">
                <a16:creationId xmlns:a16="http://schemas.microsoft.com/office/drawing/2014/main" id="{C437BCF4-515F-FF67-5AA5-6067E6AFF534}"/>
              </a:ext>
            </a:extLst>
          </p:cNvPr>
          <p:cNvSpPr txBox="1"/>
          <p:nvPr/>
        </p:nvSpPr>
        <p:spPr>
          <a:xfrm>
            <a:off x="1613340" y="4484575"/>
            <a:ext cx="4634673" cy="507831"/>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El segmento del cliente se asigna a través de la consulta a la tabla DT_CLIENTE_DIA. Para optimizar el acceso desde spark, se genera un fichero parquet S3 con la extracción de la tabla que utilizan todos los procesos</a:t>
            </a:r>
          </a:p>
        </p:txBody>
      </p:sp>
      <p:sp>
        <p:nvSpPr>
          <p:cNvPr id="29" name="TextBox 28">
            <a:extLst>
              <a:ext uri="{FF2B5EF4-FFF2-40B4-BE49-F238E27FC236}">
                <a16:creationId xmlns:a16="http://schemas.microsoft.com/office/drawing/2014/main" id="{F3DF00BA-7A0B-48F8-DA56-A008FB5D72C9}"/>
              </a:ext>
            </a:extLst>
          </p:cNvPr>
          <p:cNvSpPr txBox="1"/>
          <p:nvPr/>
        </p:nvSpPr>
        <p:spPr>
          <a:xfrm>
            <a:off x="1613340" y="5093007"/>
            <a:ext cx="4634673" cy="369332"/>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Asignación de agrupador contable, cuenta contable IFRS y atributos asociados la cuenta contable. Se extrae la información desde DIM_CUENTA_CONTABLE</a:t>
            </a:r>
          </a:p>
        </p:txBody>
      </p:sp>
      <p:sp>
        <p:nvSpPr>
          <p:cNvPr id="30" name="TextBox 29">
            <a:extLst>
              <a:ext uri="{FF2B5EF4-FFF2-40B4-BE49-F238E27FC236}">
                <a16:creationId xmlns:a16="http://schemas.microsoft.com/office/drawing/2014/main" id="{04311EEA-3203-14D9-584E-FAD947E01A37}"/>
              </a:ext>
            </a:extLst>
          </p:cNvPr>
          <p:cNvSpPr txBox="1"/>
          <p:nvPr/>
        </p:nvSpPr>
        <p:spPr>
          <a:xfrm>
            <a:off x="1613340" y="6128675"/>
            <a:ext cx="4634673" cy="369332"/>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Asignación de área de Negocio a partir del segmento del cliente y producto de Gestión, la configuración se guardan el la tabla PARAM_ASIG_ADN</a:t>
            </a:r>
          </a:p>
        </p:txBody>
      </p:sp>
      <p:sp>
        <p:nvSpPr>
          <p:cNvPr id="32" name="TextBox 31">
            <a:extLst>
              <a:ext uri="{FF2B5EF4-FFF2-40B4-BE49-F238E27FC236}">
                <a16:creationId xmlns:a16="http://schemas.microsoft.com/office/drawing/2014/main" id="{31799842-6116-3F14-AA9D-AD4E8E9D264D}"/>
              </a:ext>
            </a:extLst>
          </p:cNvPr>
          <p:cNvSpPr txBox="1"/>
          <p:nvPr/>
        </p:nvSpPr>
        <p:spPr>
          <a:xfrm>
            <a:off x="6821424" y="5142996"/>
            <a:ext cx="4921841" cy="461665"/>
          </a:xfrm>
          <a:prstGeom prst="rect">
            <a:avLst/>
          </a:prstGeom>
          <a:noFill/>
          <a:ln>
            <a:solidFill>
              <a:schemeClr val="tx1"/>
            </a:solidFill>
            <a:prstDash val="dash"/>
          </a:ln>
        </p:spPr>
        <p:txBody>
          <a:bodyPr wrap="square" rtlCol="0">
            <a:spAutoFit/>
          </a:bodyPr>
          <a:lstStyle>
            <a:defPPr>
              <a:defRPr lang="es-ES_tradnl"/>
            </a:defPPr>
            <a:lvl1pPr>
              <a:defRPr sz="800">
                <a:latin typeface="Arial" pitchFamily="34" charset="0"/>
                <a:cs typeface="Arial" pitchFamily="34" charset="0"/>
              </a:defRPr>
            </a:lvl1pPr>
          </a:lstStyle>
          <a:p>
            <a:pPr algn="ctr"/>
            <a:r>
              <a:rPr lang="es-ES_tradnl"/>
              <a:t>"Mapping_PG": [  </a:t>
            </a:r>
          </a:p>
          <a:p>
            <a:pPr algn="ctr"/>
            <a:r>
              <a:rPr lang="es-ES_tradnl"/>
              <a:t>{ “columna": “cod_producto“} , { “columna": “cod_subproducto“} } ]</a:t>
            </a:r>
          </a:p>
          <a:p>
            <a:pPr algn="ctr"/>
            <a:endParaRPr lang="es-ES_tradnl"/>
          </a:p>
        </p:txBody>
      </p:sp>
      <p:sp>
        <p:nvSpPr>
          <p:cNvPr id="33" name="TextBox 32">
            <a:extLst>
              <a:ext uri="{FF2B5EF4-FFF2-40B4-BE49-F238E27FC236}">
                <a16:creationId xmlns:a16="http://schemas.microsoft.com/office/drawing/2014/main" id="{64028CFF-5461-36E3-93EB-F2EE91090B11}"/>
              </a:ext>
            </a:extLst>
          </p:cNvPr>
          <p:cNvSpPr txBox="1"/>
          <p:nvPr/>
        </p:nvSpPr>
        <p:spPr>
          <a:xfrm>
            <a:off x="1613340" y="5548063"/>
            <a:ext cx="4634673" cy="504000"/>
          </a:xfrm>
          <a:prstGeom prst="rect">
            <a:avLst/>
          </a:prstGeom>
          <a:noFill/>
          <a:ln>
            <a:solidFill>
              <a:schemeClr val="tx1"/>
            </a:solidFill>
            <a:prstDash val="dash"/>
          </a:ln>
        </p:spPr>
        <p:txBody>
          <a:bodyPr wrap="square" rtlCol="0">
            <a:spAutoFit/>
          </a:bodyPr>
          <a:lstStyle/>
          <a:p>
            <a:r>
              <a:rPr lang="es-ES_tradnl" sz="900">
                <a:latin typeface="Arial" pitchFamily="34" charset="0"/>
                <a:cs typeface="Arial" pitchFamily="34" charset="0"/>
              </a:rPr>
              <a:t>Asignación Producto de Gestión: La parametrización se recupera de la tabla PARAM_ASIG_PG. Cada sistema puede tener diferentes campos para asignar el PG, estos campos se configuran desde el json del pipeline</a:t>
            </a:r>
          </a:p>
          <a:p>
            <a:r>
              <a:rPr lang="es-ES_tradnl" sz="900">
                <a:latin typeface="Arial" pitchFamily="34" charset="0"/>
                <a:cs typeface="Arial" pitchFamily="34" charset="0"/>
              </a:rPr>
              <a:t> </a:t>
            </a:r>
          </a:p>
        </p:txBody>
      </p:sp>
      <p:sp>
        <p:nvSpPr>
          <p:cNvPr id="34" name="Google Shape;72;p7">
            <a:extLst>
              <a:ext uri="{FF2B5EF4-FFF2-40B4-BE49-F238E27FC236}">
                <a16:creationId xmlns:a16="http://schemas.microsoft.com/office/drawing/2014/main" id="{3C29D826-DCA3-7CEB-7177-7A5442AC4533}"/>
              </a:ext>
            </a:extLst>
          </p:cNvPr>
          <p:cNvSpPr txBox="1"/>
          <p:nvPr/>
        </p:nvSpPr>
        <p:spPr>
          <a:xfrm>
            <a:off x="6821424" y="1697593"/>
            <a:ext cx="4921841" cy="334827"/>
          </a:xfrm>
          <a:prstGeom prst="roundRect">
            <a:avLst/>
          </a:prstGeom>
          <a:solidFill>
            <a:srgbClr val="002060"/>
          </a:solidFill>
          <a:ln>
            <a:noFill/>
            <a:prstDash val="solid"/>
          </a:ln>
        </p:spPr>
        <p:txBody>
          <a:bodyPr spcFirstLastPara="1" wrap="square" lIns="99031" tIns="49502" rIns="99031" bIns="49502" anchor="t" anchorCtr="0">
            <a:noAutofit/>
          </a:bodyPr>
          <a:lstStyle/>
          <a:p>
            <a:pPr algn="ctr">
              <a:spcAft>
                <a:spcPts val="785"/>
              </a:spcAft>
              <a:buClr>
                <a:schemeClr val="tx1"/>
              </a:buClr>
            </a:pPr>
            <a:r>
              <a:rPr lang="es-ES_tradnl" sz="1200" b="1">
                <a:solidFill>
                  <a:schemeClr val="bg1"/>
                </a:solidFill>
                <a:latin typeface="+mj-lt"/>
                <a:ea typeface="Lato"/>
                <a:cs typeface="Calibri" panose="020F0502020204030204" pitchFamily="34" charset="0"/>
              </a:rPr>
              <a:t>Ejemplo Ilustrativo</a:t>
            </a:r>
          </a:p>
        </p:txBody>
      </p:sp>
      <p:sp>
        <p:nvSpPr>
          <p:cNvPr id="35" name="Arrow: Chevron 34">
            <a:extLst>
              <a:ext uri="{FF2B5EF4-FFF2-40B4-BE49-F238E27FC236}">
                <a16:creationId xmlns:a16="http://schemas.microsoft.com/office/drawing/2014/main" id="{2803A9EA-C898-B030-46B6-8421F43783AE}"/>
              </a:ext>
            </a:extLst>
          </p:cNvPr>
          <p:cNvSpPr/>
          <p:nvPr/>
        </p:nvSpPr>
        <p:spPr>
          <a:xfrm>
            <a:off x="6373368" y="2206617"/>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
        <p:nvSpPr>
          <p:cNvPr id="37" name="Arrow: Chevron 36">
            <a:extLst>
              <a:ext uri="{FF2B5EF4-FFF2-40B4-BE49-F238E27FC236}">
                <a16:creationId xmlns:a16="http://schemas.microsoft.com/office/drawing/2014/main" id="{D552561F-838F-B12B-BEA7-9E585A294E40}"/>
              </a:ext>
            </a:extLst>
          </p:cNvPr>
          <p:cNvSpPr/>
          <p:nvPr/>
        </p:nvSpPr>
        <p:spPr>
          <a:xfrm>
            <a:off x="6373368" y="2901498"/>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
        <p:nvSpPr>
          <p:cNvPr id="39" name="Arrow: Chevron 38">
            <a:extLst>
              <a:ext uri="{FF2B5EF4-FFF2-40B4-BE49-F238E27FC236}">
                <a16:creationId xmlns:a16="http://schemas.microsoft.com/office/drawing/2014/main" id="{2CF5A858-C169-14D8-ADBA-A467523CE642}"/>
              </a:ext>
            </a:extLst>
          </p:cNvPr>
          <p:cNvSpPr/>
          <p:nvPr/>
        </p:nvSpPr>
        <p:spPr>
          <a:xfrm>
            <a:off x="6373368" y="3798705"/>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
        <p:nvSpPr>
          <p:cNvPr id="41" name="Arrow: Chevron 40">
            <a:extLst>
              <a:ext uri="{FF2B5EF4-FFF2-40B4-BE49-F238E27FC236}">
                <a16:creationId xmlns:a16="http://schemas.microsoft.com/office/drawing/2014/main" id="{74D0F16F-0775-BCEC-D438-EB61A289D404}"/>
              </a:ext>
            </a:extLst>
          </p:cNvPr>
          <p:cNvSpPr/>
          <p:nvPr/>
        </p:nvSpPr>
        <p:spPr>
          <a:xfrm>
            <a:off x="6373368" y="5178730"/>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pic>
        <p:nvPicPr>
          <p:cNvPr id="43" name="Picture 42">
            <a:extLst>
              <a:ext uri="{FF2B5EF4-FFF2-40B4-BE49-F238E27FC236}">
                <a16:creationId xmlns:a16="http://schemas.microsoft.com/office/drawing/2014/main" id="{E6AD132D-7DF8-FBDB-7EF3-E7AB1CFCAD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26920" y="327667"/>
            <a:ext cx="1815789" cy="900000"/>
          </a:xfrm>
          <a:prstGeom prst="rect">
            <a:avLst/>
          </a:prstGeom>
        </p:spPr>
      </p:pic>
      <p:sp>
        <p:nvSpPr>
          <p:cNvPr id="45" name="Rectangle 44">
            <a:extLst>
              <a:ext uri="{FF2B5EF4-FFF2-40B4-BE49-F238E27FC236}">
                <a16:creationId xmlns:a16="http://schemas.microsoft.com/office/drawing/2014/main" id="{4E2CA500-7512-674A-508C-CA166A97F40D}"/>
              </a:ext>
            </a:extLst>
          </p:cNvPr>
          <p:cNvSpPr/>
          <p:nvPr/>
        </p:nvSpPr>
        <p:spPr bwMode="auto">
          <a:xfrm>
            <a:off x="10464799" y="602102"/>
            <a:ext cx="403225" cy="105922"/>
          </a:xfrm>
          <a:prstGeom prst="rect">
            <a:avLst/>
          </a:prstGeom>
          <a:noFill/>
          <a:ln w="12700">
            <a:solidFill>
              <a:srgbClr val="FF0000"/>
            </a:solidFill>
            <a:round/>
          </a:ln>
        </p:spPr>
        <p:txBody>
          <a:bodyPr wrap="none" rtlCol="0" anchor="ctr">
            <a:noAutofit/>
          </a:bodyPr>
          <a:lstStyle/>
          <a:p>
            <a:pPr algn="ctr"/>
            <a:endParaRPr lang="es-ES_tradnl"/>
          </a:p>
        </p:txBody>
      </p:sp>
      <p:sp>
        <p:nvSpPr>
          <p:cNvPr id="48" name="Rectangle 47">
            <a:extLst>
              <a:ext uri="{FF2B5EF4-FFF2-40B4-BE49-F238E27FC236}">
                <a16:creationId xmlns:a16="http://schemas.microsoft.com/office/drawing/2014/main" id="{5C7E0D66-69D2-F184-0EA6-10F88E56BF7C}"/>
              </a:ext>
            </a:extLst>
          </p:cNvPr>
          <p:cNvSpPr/>
          <p:nvPr/>
        </p:nvSpPr>
        <p:spPr bwMode="auto">
          <a:xfrm>
            <a:off x="10868025" y="378325"/>
            <a:ext cx="472016" cy="329699"/>
          </a:xfrm>
          <a:prstGeom prst="rect">
            <a:avLst/>
          </a:prstGeom>
          <a:noFill/>
          <a:ln w="12700">
            <a:solidFill>
              <a:srgbClr val="FF0000"/>
            </a:solidFill>
            <a:round/>
          </a:ln>
        </p:spPr>
        <p:txBody>
          <a:bodyPr wrap="none" rtlCol="0" anchor="ctr">
            <a:noAutofit/>
          </a:bodyPr>
          <a:lstStyle/>
          <a:p>
            <a:pPr algn="ctr"/>
            <a:endParaRPr lang="es-ES_tradnl"/>
          </a:p>
        </p:txBody>
      </p:sp>
    </p:spTree>
    <p:extLst>
      <p:ext uri="{BB962C8B-B14F-4D97-AF65-F5344CB8AC3E}">
        <p14:creationId xmlns:p14="http://schemas.microsoft.com/office/powerpoint/2010/main" val="741872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4="http://schemas.microsoft.com/office/powerpoint/2010/main" xmlns:p15="http://schemas.microsoft.com/office/powerpoint/2012/main">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44452-1767-C947-115F-9D2093D5EAA0}"/>
            </a:ext>
          </a:extLst>
        </p:cNvPr>
        <p:cNvGrpSpPr/>
        <p:nvPr/>
      </p:nvGrpSpPr>
      <p:grpSpPr>
        <a:xfrm>
          <a:off x="0" y="0"/>
          <a:ext cx="0" cy="0"/>
          <a:chOff x="0" y="0"/>
          <a:chExt cx="0" cy="0"/>
        </a:xfrm>
      </p:grpSpPr>
      <p:sp>
        <p:nvSpPr>
          <p:cNvPr id="3" name="Google Shape;72;p7">
            <a:extLst>
              <a:ext uri="{FF2B5EF4-FFF2-40B4-BE49-F238E27FC236}">
                <a16:creationId xmlns:a16="http://schemas.microsoft.com/office/drawing/2014/main" id="{741C614E-02A4-A28B-1448-2457045C8A8C}"/>
              </a:ext>
            </a:extLst>
          </p:cNvPr>
          <p:cNvSpPr txBox="1"/>
          <p:nvPr/>
        </p:nvSpPr>
        <p:spPr>
          <a:xfrm>
            <a:off x="380373" y="1192805"/>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El componente de DQ utiliza la librería de AWS Glue Data Quality para definir reglas de calidad sobre la información antes de cargarla a la BBDD</a:t>
            </a:r>
          </a:p>
        </p:txBody>
      </p:sp>
      <p:sp>
        <p:nvSpPr>
          <p:cNvPr id="47" name="Rounded Rectangle 1">
            <a:extLst>
              <a:ext uri="{FF2B5EF4-FFF2-40B4-BE49-F238E27FC236}">
                <a16:creationId xmlns:a16="http://schemas.microsoft.com/office/drawing/2014/main" id="{A61C35A6-804B-243E-2D7C-79005B930447}"/>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3E729F39-088A-C1EC-8F7B-2BFAC487B34F}"/>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9" name="TextBox 8">
            <a:extLst>
              <a:ext uri="{FF2B5EF4-FFF2-40B4-BE49-F238E27FC236}">
                <a16:creationId xmlns:a16="http://schemas.microsoft.com/office/drawing/2014/main" id="{2C7C1C9A-F0F4-6FB7-2737-4BC809D3B644}"/>
              </a:ext>
            </a:extLst>
          </p:cNvPr>
          <p:cNvSpPr txBox="1"/>
          <p:nvPr/>
        </p:nvSpPr>
        <p:spPr>
          <a:xfrm>
            <a:off x="1753085" y="3194571"/>
            <a:ext cx="3397073" cy="1338828"/>
          </a:xfrm>
          <a:prstGeom prst="rect">
            <a:avLst/>
          </a:prstGeom>
          <a:noFill/>
          <a:ln>
            <a:solidFill>
              <a:schemeClr val="tx1"/>
            </a:solidFill>
            <a:prstDash val="dash"/>
          </a:ln>
        </p:spPr>
        <p:txBody>
          <a:bodyPr wrap="square" rtlCol="0">
            <a:spAutoFit/>
          </a:bodyPr>
          <a:lstStyle>
            <a:defPPr>
              <a:defRPr lang="es-ES_tradnl"/>
            </a:defPPr>
            <a:lvl1pPr>
              <a:defRPr sz="900">
                <a:latin typeface="Arial" pitchFamily="34" charset="0"/>
                <a:cs typeface="Arial" pitchFamily="34" charset="0"/>
              </a:defRPr>
            </a:lvl1pPr>
          </a:lstStyle>
          <a:p>
            <a:pPr marL="171450" indent="-171450">
              <a:buFont typeface="Arial" pitchFamily="34" charset="0"/>
              <a:buChar char="•"/>
            </a:pPr>
            <a:r>
              <a:rPr lang="es-ES_tradnl"/>
              <a:t>Configuración de Reglas de Calidad en fichero json siguiendo formato DQDL</a:t>
            </a:r>
          </a:p>
          <a:p>
            <a:pPr marL="171450" indent="-171450">
              <a:buFont typeface="Arial" pitchFamily="34" charset="0"/>
              <a:buChar char="•"/>
            </a:pPr>
            <a:r>
              <a:rPr lang="es-ES_tradnl"/>
              <a:t>Catálogo Centralizado de reglas de calidad para reutilización.</a:t>
            </a:r>
          </a:p>
          <a:p>
            <a:pPr marL="171450" indent="-171450">
              <a:buFont typeface="Arial" pitchFamily="34" charset="0"/>
              <a:buChar char="•"/>
            </a:pPr>
            <a:r>
              <a:rPr lang="es-ES_tradnl"/>
              <a:t>Fichero específico por ETL con reglas a aplicar</a:t>
            </a:r>
          </a:p>
          <a:p>
            <a:pPr marL="171450" indent="-171450">
              <a:buFont typeface="Arial" pitchFamily="34" charset="0"/>
              <a:buChar char="•"/>
            </a:pPr>
            <a:r>
              <a:rPr lang="es-ES_tradnl"/>
              <a:t>Asignación de valores por defecto </a:t>
            </a:r>
          </a:p>
          <a:p>
            <a:pPr marL="171450" indent="-171450">
              <a:buFont typeface="Arial" pitchFamily="34" charset="0"/>
              <a:buChar char="•"/>
            </a:pPr>
            <a:r>
              <a:rPr lang="es-ES_tradnl"/>
              <a:t>Trazabilidad de validaciones en columna de auditoria con el resultado de la validación (json)</a:t>
            </a:r>
          </a:p>
          <a:p>
            <a:pPr marL="171450" indent="-171450">
              <a:buFont typeface="Arial" pitchFamily="34" charset="0"/>
              <a:buChar char="•"/>
            </a:pPr>
            <a:r>
              <a:rPr lang="es-ES_tradnl"/>
              <a:t>Bote de rechazos en caso de incidencias no subsanables</a:t>
            </a:r>
          </a:p>
        </p:txBody>
      </p:sp>
      <p:sp>
        <p:nvSpPr>
          <p:cNvPr id="10" name="TextBox 9">
            <a:extLst>
              <a:ext uri="{FF2B5EF4-FFF2-40B4-BE49-F238E27FC236}">
                <a16:creationId xmlns:a16="http://schemas.microsoft.com/office/drawing/2014/main" id="{015AEBE3-F069-8095-E0F3-31DBB96A2AFC}"/>
              </a:ext>
            </a:extLst>
          </p:cNvPr>
          <p:cNvSpPr txBox="1"/>
          <p:nvPr/>
        </p:nvSpPr>
        <p:spPr>
          <a:xfrm>
            <a:off x="5966970" y="2178682"/>
            <a:ext cx="5681057" cy="3744000"/>
          </a:xfrm>
          <a:prstGeom prst="rect">
            <a:avLst/>
          </a:prstGeom>
          <a:noFill/>
          <a:ln>
            <a:solidFill>
              <a:schemeClr val="tx1"/>
            </a:solidFill>
            <a:prstDash val="dash"/>
          </a:ln>
        </p:spPr>
        <p:txBody>
          <a:bodyPr wrap="square" rtlCol="0">
            <a:spAutoFit/>
          </a:bodyPr>
          <a:lstStyle>
            <a:defPPr>
              <a:defRPr lang="es-ES_tradnl"/>
            </a:defPPr>
            <a:lvl1pPr algn="ctr">
              <a:defRPr sz="800">
                <a:latin typeface="Arial" pitchFamily="34" charset="0"/>
                <a:cs typeface="Arial" pitchFamily="34" charset="0"/>
              </a:defRPr>
            </a:lvl1pPr>
          </a:lstStyle>
          <a:p>
            <a:pPr algn="l"/>
            <a:r>
              <a:rPr lang="es-ES_tradnl"/>
              <a:t> “GLOBAL_DQ_RULES": [</a:t>
            </a:r>
          </a:p>
          <a:p>
            <a:pPr algn="l"/>
            <a:r>
              <a:rPr lang="es-ES_tradnl"/>
              <a:t>    {</a:t>
            </a:r>
          </a:p>
          <a:p>
            <a:pPr algn="l"/>
            <a:r>
              <a:rPr lang="es-ES_tradnl"/>
              <a:t>      "id": "V_REQ_001",</a:t>
            </a:r>
          </a:p>
          <a:p>
            <a:pPr algn="l"/>
            <a:r>
              <a:rPr lang="es-ES_tradnl"/>
              <a:t>      "column": “ID_CONTRATO",</a:t>
            </a:r>
          </a:p>
          <a:p>
            <a:pPr algn="l"/>
            <a:r>
              <a:rPr lang="es-ES_tradnl"/>
              <a:t>      "condition": "IS_NOT_NULL",</a:t>
            </a:r>
          </a:p>
          <a:p>
            <a:pPr algn="l"/>
            <a:r>
              <a:rPr lang="es-ES_tradnl"/>
              <a:t>      "severity": "CRITICAL",</a:t>
            </a:r>
          </a:p>
          <a:p>
            <a:pPr algn="l"/>
            <a:r>
              <a:rPr lang="es-ES_tradnl"/>
              <a:t>      "on_fail_action": "REJECT",</a:t>
            </a:r>
          </a:p>
          <a:p>
            <a:pPr algn="l"/>
            <a:r>
              <a:rPr lang="es-ES_tradnl"/>
              <a:t>      "trace_message": "[CRITICAL] ID_CONTRATO  es obligatorio. Registro descartado."</a:t>
            </a:r>
          </a:p>
          <a:p>
            <a:pPr algn="l"/>
            <a:r>
              <a:rPr lang="es-ES_tradnl"/>
              <a:t>    },</a:t>
            </a:r>
          </a:p>
          <a:p>
            <a:pPr algn="l"/>
            <a:r>
              <a:rPr lang="es-ES_tradnl"/>
              <a:t>    {</a:t>
            </a:r>
          </a:p>
          <a:p>
            <a:pPr algn="l"/>
            <a:r>
              <a:rPr lang="es-ES_tradnl"/>
              <a:t>      "id": "V_REQ_002",</a:t>
            </a:r>
          </a:p>
          <a:p>
            <a:pPr algn="l"/>
            <a:r>
              <a:rPr lang="es-ES_tradnl"/>
              <a:t>      "column": "IMP_CUOTA_ACTUAL",</a:t>
            </a:r>
          </a:p>
          <a:p>
            <a:pPr algn="l"/>
            <a:r>
              <a:rPr lang="es-ES_tradnl"/>
              <a:t>      "condition": “GREAT_THAN_OR_EQUAL_TO_ZERO",</a:t>
            </a:r>
          </a:p>
          <a:p>
            <a:pPr algn="l"/>
            <a:r>
              <a:rPr lang="es-ES_tradnl"/>
              <a:t>      "severity": "WARNING",</a:t>
            </a:r>
          </a:p>
          <a:p>
            <a:pPr algn="l"/>
            <a:r>
              <a:rPr lang="es-ES_tradnl"/>
              <a:t>      "on_fail_action": "SET_DEFAULT",</a:t>
            </a:r>
          </a:p>
          <a:p>
            <a:pPr algn="l"/>
            <a:r>
              <a:rPr lang="es-ES_tradnl"/>
              <a:t>      "default_value": “0",</a:t>
            </a:r>
          </a:p>
          <a:p>
            <a:pPr algn="l"/>
            <a:r>
              <a:rPr lang="es-ES_tradnl"/>
              <a:t>      "trace_message": "[WARN] IMP_CUOTA_ACTUAL inválida (&gt;=0). Se reemplaza por 0."</a:t>
            </a:r>
          </a:p>
          <a:p>
            <a:pPr algn="l"/>
            <a:r>
              <a:rPr lang="es-ES_tradnl"/>
              <a:t>    },</a:t>
            </a:r>
          </a:p>
          <a:p>
            <a:pPr algn="l"/>
            <a:r>
              <a:rPr lang="es-ES_tradnl"/>
              <a:t> {</a:t>
            </a:r>
          </a:p>
          <a:p>
            <a:pPr algn="l"/>
            <a:r>
              <a:rPr lang="es-ES_tradnl"/>
              <a:t>  "id": "IR_001",</a:t>
            </a:r>
          </a:p>
          <a:p>
            <a:pPr algn="l"/>
            <a:r>
              <a:rPr lang="es-ES_tradnl"/>
              <a:t>  "column": “COD_CUENTA_CONT",</a:t>
            </a:r>
          </a:p>
          <a:p>
            <a:pPr algn="l"/>
            <a:r>
              <a:rPr lang="es-ES_tradnl"/>
              <a:t>  "condition": "CUSTOM_SQL",</a:t>
            </a:r>
          </a:p>
          <a:p>
            <a:pPr algn="l"/>
            <a:r>
              <a:rPr lang="es-ES_tradnl"/>
              <a:t>  "severity": "CRITICAL",</a:t>
            </a:r>
          </a:p>
          <a:p>
            <a:pPr algn="l"/>
            <a:r>
              <a:rPr lang="es-ES_tradnl"/>
              <a:t>  "on_fail_action": "REJECT",</a:t>
            </a:r>
          </a:p>
          <a:p>
            <a:pPr algn="l"/>
            <a:r>
              <a:rPr lang="es-ES_tradnl"/>
              <a:t>  "expression": "SELECT COUNT(*) FROM primary WHERE cod_cuenta_cont NOT IN (SELECT cod_cuenta_cont FROM target_lookup)",</a:t>
            </a:r>
          </a:p>
          <a:p>
            <a:pPr algn="l"/>
            <a:r>
              <a:rPr lang="es-ES_tradnl"/>
              <a:t>  "additional_data_source": “&lt;bbdd_silver&gt;.dim_cuenta_contable",</a:t>
            </a:r>
          </a:p>
          <a:p>
            <a:pPr algn="l"/>
            <a:r>
              <a:rPr lang="es-ES_tradnl"/>
              <a:t>  "trace_message": "[CRITICAL] Integridad Referencial: La Cuenta contable no existe en el plan de Cuentas”</a:t>
            </a:r>
          </a:p>
          <a:p>
            <a:pPr algn="l"/>
            <a:r>
              <a:rPr lang="es-ES_tradnl"/>
              <a:t>}</a:t>
            </a:r>
          </a:p>
          <a:p>
            <a:pPr algn="l"/>
            <a:r>
              <a:rPr lang="es-ES_tradnl"/>
              <a:t>  ],</a:t>
            </a:r>
          </a:p>
        </p:txBody>
      </p:sp>
      <p:sp>
        <p:nvSpPr>
          <p:cNvPr id="6" name="Rectangle: Rounded Corners 5">
            <a:extLst>
              <a:ext uri="{FF2B5EF4-FFF2-40B4-BE49-F238E27FC236}">
                <a16:creationId xmlns:a16="http://schemas.microsoft.com/office/drawing/2014/main" id="{361B38CA-DD98-2EA7-81BC-F905A4EC808D}"/>
              </a:ext>
            </a:extLst>
          </p:cNvPr>
          <p:cNvSpPr/>
          <p:nvPr/>
        </p:nvSpPr>
        <p:spPr bwMode="auto">
          <a:xfrm>
            <a:off x="383733" y="3194570"/>
            <a:ext cx="1189036" cy="133882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Data</a:t>
            </a:r>
          </a:p>
          <a:p>
            <a:pPr algn="ctr"/>
            <a:r>
              <a:rPr lang="es-ES_tradnl" sz="800" b="1" err="1">
                <a:solidFill>
                  <a:schemeClr val="bg1"/>
                </a:solidFill>
                <a:latin typeface="Arial" pitchFamily="34" charset="0"/>
                <a:cs typeface="Arial" pitchFamily="34" charset="0"/>
              </a:rPr>
              <a:t>Quality</a:t>
            </a:r>
            <a:endParaRPr lang="es-ES_tradnl" sz="800" b="1">
              <a:solidFill>
                <a:schemeClr val="bg1"/>
              </a:solidFill>
              <a:latin typeface="Arial" pitchFamily="34" charset="0"/>
              <a:cs typeface="Arial" pitchFamily="34" charset="0"/>
            </a:endParaRPr>
          </a:p>
        </p:txBody>
      </p:sp>
      <p:sp>
        <p:nvSpPr>
          <p:cNvPr id="15" name="Rectangle: Rounded Corners 14">
            <a:extLst>
              <a:ext uri="{FF2B5EF4-FFF2-40B4-BE49-F238E27FC236}">
                <a16:creationId xmlns:a16="http://schemas.microsoft.com/office/drawing/2014/main" id="{9522D581-C97E-47BE-A49A-9AC0DB021601}"/>
              </a:ext>
            </a:extLst>
          </p:cNvPr>
          <p:cNvSpPr/>
          <p:nvPr/>
        </p:nvSpPr>
        <p:spPr bwMode="auto">
          <a:xfrm>
            <a:off x="383088" y="5893205"/>
            <a:ext cx="1189681" cy="65801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Contra</a:t>
            </a:r>
          </a:p>
          <a:p>
            <a:pPr algn="ctr"/>
            <a:r>
              <a:rPr lang="es-ES_tradnl" sz="800" b="1">
                <a:solidFill>
                  <a:schemeClr val="bg1"/>
                </a:solidFill>
                <a:latin typeface="Arial" pitchFamily="34" charset="0"/>
                <a:cs typeface="Arial" pitchFamily="34" charset="0"/>
              </a:rPr>
              <a:t>valoración</a:t>
            </a:r>
          </a:p>
        </p:txBody>
      </p:sp>
      <p:sp>
        <p:nvSpPr>
          <p:cNvPr id="16" name="TextBox 15">
            <a:extLst>
              <a:ext uri="{FF2B5EF4-FFF2-40B4-BE49-F238E27FC236}">
                <a16:creationId xmlns:a16="http://schemas.microsoft.com/office/drawing/2014/main" id="{E343C225-69A7-B21C-8522-FFDEF21502EA}"/>
              </a:ext>
            </a:extLst>
          </p:cNvPr>
          <p:cNvSpPr txBox="1"/>
          <p:nvPr/>
        </p:nvSpPr>
        <p:spPr>
          <a:xfrm>
            <a:off x="1753085" y="5934395"/>
            <a:ext cx="3397073" cy="507831"/>
          </a:xfrm>
          <a:prstGeom prst="rect">
            <a:avLst/>
          </a:prstGeom>
          <a:noFill/>
          <a:ln>
            <a:solidFill>
              <a:schemeClr val="tx1"/>
            </a:solidFill>
            <a:prstDash val="dash"/>
          </a:ln>
        </p:spPr>
        <p:txBody>
          <a:bodyPr wrap="square" rtlCol="0">
            <a:spAutoFit/>
          </a:bodyPr>
          <a:lstStyle>
            <a:defPPr>
              <a:defRPr lang="es-ES_tradnl"/>
            </a:defPPr>
            <a:lvl1pPr marL="171450" indent="-171450">
              <a:buFont typeface="Arial" pitchFamily="34" charset="0"/>
              <a:buChar char="•"/>
              <a:defRPr sz="900">
                <a:latin typeface="Arial" pitchFamily="34" charset="0"/>
                <a:cs typeface="Arial" pitchFamily="34" charset="0"/>
              </a:defRPr>
            </a:lvl1pPr>
          </a:lstStyle>
          <a:p>
            <a:r>
              <a:rPr lang="es-ES_tradnl"/>
              <a:t>Consulta del tipo de cambio de la tabla DT_TIPO_CAMBIO_DIA</a:t>
            </a:r>
          </a:p>
          <a:p>
            <a:r>
              <a:rPr lang="es-ES_tradnl"/>
              <a:t>Cálculo del importe en USD / PEN según corresponda</a:t>
            </a:r>
          </a:p>
        </p:txBody>
      </p:sp>
      <p:sp>
        <p:nvSpPr>
          <p:cNvPr id="5" name="Google Shape;72;p7">
            <a:extLst>
              <a:ext uri="{FF2B5EF4-FFF2-40B4-BE49-F238E27FC236}">
                <a16:creationId xmlns:a16="http://schemas.microsoft.com/office/drawing/2014/main" id="{07E42C98-ACD1-8FF8-5C62-06A284209F86}"/>
              </a:ext>
            </a:extLst>
          </p:cNvPr>
          <p:cNvSpPr txBox="1"/>
          <p:nvPr/>
        </p:nvSpPr>
        <p:spPr>
          <a:xfrm>
            <a:off x="5966971" y="1766135"/>
            <a:ext cx="5681056" cy="334827"/>
          </a:xfrm>
          <a:prstGeom prst="roundRect">
            <a:avLst/>
          </a:prstGeom>
          <a:solidFill>
            <a:srgbClr val="002060"/>
          </a:solidFill>
          <a:ln>
            <a:noFill/>
            <a:prstDash val="solid"/>
          </a:ln>
        </p:spPr>
        <p:txBody>
          <a:bodyPr spcFirstLastPara="1" wrap="square" lIns="99031" tIns="49502" rIns="99031" bIns="49502" anchor="t" anchorCtr="0">
            <a:noAutofit/>
          </a:bodyPr>
          <a:lstStyle/>
          <a:p>
            <a:pPr algn="ctr">
              <a:spcAft>
                <a:spcPts val="785"/>
              </a:spcAft>
              <a:buClr>
                <a:schemeClr val="tx1"/>
              </a:buClr>
            </a:pPr>
            <a:r>
              <a:rPr lang="es-ES_tradnl" sz="1200" b="1">
                <a:solidFill>
                  <a:schemeClr val="bg1"/>
                </a:solidFill>
                <a:latin typeface="+mj-lt"/>
                <a:ea typeface="Lato"/>
                <a:cs typeface="Calibri" panose="020F0502020204030204" pitchFamily="34" charset="0"/>
              </a:rPr>
              <a:t>Ejemplo Ilustrativo</a:t>
            </a:r>
          </a:p>
        </p:txBody>
      </p:sp>
      <p:sp>
        <p:nvSpPr>
          <p:cNvPr id="8" name="Arrow: Chevron 7">
            <a:extLst>
              <a:ext uri="{FF2B5EF4-FFF2-40B4-BE49-F238E27FC236}">
                <a16:creationId xmlns:a16="http://schemas.microsoft.com/office/drawing/2014/main" id="{15A7945B-0D65-9164-F885-499A926B5828}"/>
              </a:ext>
            </a:extLst>
          </p:cNvPr>
          <p:cNvSpPr/>
          <p:nvPr/>
        </p:nvSpPr>
        <p:spPr>
          <a:xfrm>
            <a:off x="5365015" y="3732196"/>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pic>
        <p:nvPicPr>
          <p:cNvPr id="17" name="Picture 16">
            <a:extLst>
              <a:ext uri="{FF2B5EF4-FFF2-40B4-BE49-F238E27FC236}">
                <a16:creationId xmlns:a16="http://schemas.microsoft.com/office/drawing/2014/main" id="{E0348F90-ED1F-E5AD-731C-B8CC09C2AF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26920" y="327667"/>
            <a:ext cx="1815789" cy="900000"/>
          </a:xfrm>
          <a:prstGeom prst="rect">
            <a:avLst/>
          </a:prstGeom>
        </p:spPr>
      </p:pic>
      <p:sp>
        <p:nvSpPr>
          <p:cNvPr id="19" name="Rectangle 18">
            <a:extLst>
              <a:ext uri="{FF2B5EF4-FFF2-40B4-BE49-F238E27FC236}">
                <a16:creationId xmlns:a16="http://schemas.microsoft.com/office/drawing/2014/main" id="{BC0310E8-030E-0236-5B06-EE7F12A1AD90}"/>
              </a:ext>
            </a:extLst>
          </p:cNvPr>
          <p:cNvSpPr/>
          <p:nvPr/>
        </p:nvSpPr>
        <p:spPr bwMode="auto">
          <a:xfrm>
            <a:off x="11323638" y="383432"/>
            <a:ext cx="269345" cy="208706"/>
          </a:xfrm>
          <a:prstGeom prst="rect">
            <a:avLst/>
          </a:prstGeom>
          <a:noFill/>
          <a:ln w="12700">
            <a:solidFill>
              <a:srgbClr val="FF0000"/>
            </a:solidFill>
            <a:round/>
          </a:ln>
        </p:spPr>
        <p:txBody>
          <a:bodyPr wrap="none" rtlCol="0" anchor="ctr">
            <a:noAutofit/>
          </a:bodyPr>
          <a:lstStyle/>
          <a:p>
            <a:pPr algn="ctr"/>
            <a:endParaRPr lang="es-ES_tradnl"/>
          </a:p>
        </p:txBody>
      </p:sp>
    </p:spTree>
    <p:extLst>
      <p:ext uri="{BB962C8B-B14F-4D97-AF65-F5344CB8AC3E}">
        <p14:creationId xmlns:p14="http://schemas.microsoft.com/office/powerpoint/2010/main" val="32125788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8C1B4-601F-0A49-0F4E-20E2998EE30F}"/>
            </a:ext>
          </a:extLst>
        </p:cNvPr>
        <p:cNvGrpSpPr/>
        <p:nvPr/>
      </p:nvGrpSpPr>
      <p:grpSpPr>
        <a:xfrm>
          <a:off x="0" y="0"/>
          <a:ext cx="0" cy="0"/>
          <a:chOff x="0" y="0"/>
          <a:chExt cx="0" cy="0"/>
        </a:xfrm>
      </p:grpSpPr>
      <p:sp>
        <p:nvSpPr>
          <p:cNvPr id="47" name="Rounded Rectangle 1">
            <a:extLst>
              <a:ext uri="{FF2B5EF4-FFF2-40B4-BE49-F238E27FC236}">
                <a16:creationId xmlns:a16="http://schemas.microsoft.com/office/drawing/2014/main" id="{4C589514-F320-A736-C0F9-8B43004F5056}"/>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A54FDD2A-67C0-82E1-2521-F5DEBB642964}"/>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3" name="Rectangle: Rounded Corners 2">
            <a:extLst>
              <a:ext uri="{FF2B5EF4-FFF2-40B4-BE49-F238E27FC236}">
                <a16:creationId xmlns:a16="http://schemas.microsoft.com/office/drawing/2014/main" id="{5F1B4BF1-AB00-06D5-8AAC-F19CABBBA8B4}"/>
              </a:ext>
            </a:extLst>
          </p:cNvPr>
          <p:cNvSpPr/>
          <p:nvPr/>
        </p:nvSpPr>
        <p:spPr bwMode="auto">
          <a:xfrm>
            <a:off x="874851" y="2277471"/>
            <a:ext cx="1189682" cy="2100446"/>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Saldo</a:t>
            </a:r>
          </a:p>
          <a:p>
            <a:pPr algn="ctr"/>
            <a:r>
              <a:rPr lang="es-ES_tradnl" sz="800" b="1">
                <a:solidFill>
                  <a:schemeClr val="bg1"/>
                </a:solidFill>
                <a:latin typeface="Arial" pitchFamily="34" charset="0"/>
                <a:cs typeface="Arial" pitchFamily="34" charset="0"/>
              </a:rPr>
              <a:t>Medio</a:t>
            </a:r>
          </a:p>
        </p:txBody>
      </p:sp>
      <p:sp>
        <p:nvSpPr>
          <p:cNvPr id="34" name="Rectangle 33">
            <a:extLst>
              <a:ext uri="{FF2B5EF4-FFF2-40B4-BE49-F238E27FC236}">
                <a16:creationId xmlns:a16="http://schemas.microsoft.com/office/drawing/2014/main" id="{0031C82B-8710-DC52-8820-967CE42C1E42}"/>
              </a:ext>
            </a:extLst>
          </p:cNvPr>
          <p:cNvSpPr/>
          <p:nvPr/>
        </p:nvSpPr>
        <p:spPr bwMode="auto">
          <a:xfrm>
            <a:off x="3585000" y="5468850"/>
            <a:ext cx="1368000" cy="215444"/>
          </a:xfrm>
          <a:prstGeom prst="rect">
            <a:avLst/>
          </a:prstGeom>
          <a:solidFill>
            <a:schemeClr val="bg1">
              <a:lumMod val="85000"/>
            </a:schemeClr>
          </a:solidFill>
          <a:ln w="9525">
            <a:noFill/>
            <a:round/>
          </a:ln>
        </p:spPr>
        <p:txBody>
          <a:bodyPr wrap="none" rtlCol="0" anchor="ctr">
            <a:spAutoFit/>
          </a:bodyPr>
          <a:lstStyle/>
          <a:p>
            <a:pPr algn="ctr"/>
            <a:r>
              <a:rPr lang="es-ES_tradnl" sz="800" b="1">
                <a:latin typeface="Arial" pitchFamily="34" charset="0"/>
                <a:cs typeface="Arial" pitchFamily="34" charset="0"/>
              </a:rPr>
              <a:t>FACT_SALDOS_OPER_DIA</a:t>
            </a:r>
          </a:p>
        </p:txBody>
      </p:sp>
      <p:pic>
        <p:nvPicPr>
          <p:cNvPr id="35" name="Graphic 23" descr="Amazon Redshift service icon.">
            <a:extLst>
              <a:ext uri="{FF2B5EF4-FFF2-40B4-BE49-F238E27FC236}">
                <a16:creationId xmlns:a16="http://schemas.microsoft.com/office/drawing/2014/main" id="{E384453D-DBBF-9FBD-AFDC-9B65D35DED9E}"/>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4844117" y="5640067"/>
            <a:ext cx="217766" cy="21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Rounded Corners 35">
            <a:extLst>
              <a:ext uri="{FF2B5EF4-FFF2-40B4-BE49-F238E27FC236}">
                <a16:creationId xmlns:a16="http://schemas.microsoft.com/office/drawing/2014/main" id="{8C62AFD2-6055-5A6A-BC6C-FBE31E33ECDC}"/>
              </a:ext>
            </a:extLst>
          </p:cNvPr>
          <p:cNvSpPr/>
          <p:nvPr/>
        </p:nvSpPr>
        <p:spPr bwMode="auto">
          <a:xfrm>
            <a:off x="874851" y="4822422"/>
            <a:ext cx="1189682" cy="108966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Actualización</a:t>
            </a:r>
          </a:p>
          <a:p>
            <a:pPr algn="ctr"/>
            <a:r>
              <a:rPr lang="es-ES_tradnl" sz="800" b="1">
                <a:solidFill>
                  <a:schemeClr val="bg1"/>
                </a:solidFill>
                <a:latin typeface="Arial" pitchFamily="34" charset="0"/>
                <a:cs typeface="Arial" pitchFamily="34" charset="0"/>
              </a:rPr>
              <a:t>Base de Datos</a:t>
            </a:r>
          </a:p>
        </p:txBody>
      </p:sp>
      <p:sp>
        <p:nvSpPr>
          <p:cNvPr id="37" name="TextBox 36">
            <a:extLst>
              <a:ext uri="{FF2B5EF4-FFF2-40B4-BE49-F238E27FC236}">
                <a16:creationId xmlns:a16="http://schemas.microsoft.com/office/drawing/2014/main" id="{F580EA73-C576-566E-8D52-46DD4969D8AA}"/>
              </a:ext>
            </a:extLst>
          </p:cNvPr>
          <p:cNvSpPr txBox="1"/>
          <p:nvPr/>
        </p:nvSpPr>
        <p:spPr>
          <a:xfrm>
            <a:off x="3363149" y="4868082"/>
            <a:ext cx="8360491" cy="1008000"/>
          </a:xfrm>
          <a:prstGeom prst="rect">
            <a:avLst/>
          </a:prstGeom>
          <a:noFill/>
          <a:ln>
            <a:solidFill>
              <a:schemeClr val="tx1"/>
            </a:solidFill>
            <a:prstDash val="dash"/>
          </a:ln>
        </p:spPr>
        <p:txBody>
          <a:bodyPr wrap="square" rtlCol="0">
            <a:spAutoFit/>
          </a:bodyPr>
          <a:lstStyle/>
          <a:p>
            <a:pPr marL="171450" indent="-171450">
              <a:buFont typeface="Arial" pitchFamily="34" charset="0"/>
              <a:buChar char="•"/>
            </a:pPr>
            <a:r>
              <a:rPr lang="es-ES_tradnl" sz="900">
                <a:latin typeface="Arial" pitchFamily="34" charset="0"/>
                <a:cs typeface="Arial" pitchFamily="34" charset="0"/>
              </a:rPr>
              <a:t>La tabla se partición (sorkeys) por fecha y sistema origen para poder procesar en paralelo varios sistemas y mejorar el rendimiento de los reprocesos</a:t>
            </a:r>
          </a:p>
          <a:p>
            <a:pPr marL="171450" indent="-171450">
              <a:buFont typeface="Arial" pitchFamily="34" charset="0"/>
              <a:buChar char="•"/>
            </a:pPr>
            <a:r>
              <a:rPr lang="es-ES_tradnl" sz="900">
                <a:latin typeface="Arial" pitchFamily="34" charset="0"/>
                <a:cs typeface="Arial" pitchFamily="34" charset="0"/>
              </a:rPr>
              <a:t>Se borra los datos de la partición</a:t>
            </a:r>
          </a:p>
          <a:p>
            <a:pPr marL="171450" indent="-171450">
              <a:buFont typeface="Arial" pitchFamily="34" charset="0"/>
              <a:buChar char="•"/>
            </a:pPr>
            <a:r>
              <a:rPr lang="es-ES_tradnl" sz="900">
                <a:latin typeface="Arial" pitchFamily="34" charset="0"/>
                <a:cs typeface="Arial" pitchFamily="34" charset="0"/>
              </a:rPr>
              <a:t>Se inserta en Redshift mediante COPY del fichero S3 para optimizar tiempo de proceso</a:t>
            </a:r>
          </a:p>
          <a:p>
            <a:pPr marL="171450" indent="-171450">
              <a:buFont typeface="Arial" pitchFamily="34" charset="0"/>
              <a:buChar char="•"/>
            </a:pPr>
            <a:endParaRPr lang="es-ES_tradnl" sz="900" b="1">
              <a:latin typeface="Arial" pitchFamily="34" charset="0"/>
              <a:cs typeface="Arial" pitchFamily="34" charset="0"/>
            </a:endParaRPr>
          </a:p>
        </p:txBody>
      </p:sp>
      <p:sp>
        <p:nvSpPr>
          <p:cNvPr id="6" name="Google Shape;72;p7">
            <a:extLst>
              <a:ext uri="{FF2B5EF4-FFF2-40B4-BE49-F238E27FC236}">
                <a16:creationId xmlns:a16="http://schemas.microsoft.com/office/drawing/2014/main" id="{84B2F8FB-AC5C-ECA3-E222-059B961CFDA0}"/>
              </a:ext>
            </a:extLst>
          </p:cNvPr>
          <p:cNvSpPr txBox="1"/>
          <p:nvPr/>
        </p:nvSpPr>
        <p:spPr>
          <a:xfrm>
            <a:off x="380373" y="1293389"/>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El motor de saldos medios guarda los saldos diarios en un bucket S3 en formato columnar para mejorar el rendimiento del proceso</a:t>
            </a:r>
          </a:p>
        </p:txBody>
      </p:sp>
      <p:sp>
        <p:nvSpPr>
          <p:cNvPr id="2" name="Rectangle: Rounded Corners 1">
            <a:extLst>
              <a:ext uri="{FF2B5EF4-FFF2-40B4-BE49-F238E27FC236}">
                <a16:creationId xmlns:a16="http://schemas.microsoft.com/office/drawing/2014/main" id="{770DCF67-C3F8-BFDA-7918-81467B477791}"/>
              </a:ext>
            </a:extLst>
          </p:cNvPr>
          <p:cNvSpPr/>
          <p:nvPr/>
        </p:nvSpPr>
        <p:spPr>
          <a:xfrm>
            <a:off x="3363149" y="2277471"/>
            <a:ext cx="2150534" cy="2100446"/>
          </a:xfrm>
          <a:prstGeom prst="round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algn="just">
              <a:spcBef>
                <a:spcPts val="600"/>
              </a:spcBef>
            </a:pPr>
            <a:r>
              <a:rPr lang="es-ES_tradnl" sz="800">
                <a:solidFill>
                  <a:schemeClr val="tx1"/>
                </a:solidFill>
                <a:latin typeface="Arial" pitchFamily="34" charset="0"/>
                <a:cs typeface="Arial" pitchFamily="34" charset="0"/>
              </a:rPr>
              <a:t>En S3 se mantiene una fichero parquet en el que se tiene en columnas el saldo de cada uno de los días del mes</a:t>
            </a:r>
          </a:p>
          <a:p>
            <a:pPr algn="just">
              <a:spcBef>
                <a:spcPts val="600"/>
              </a:spcBef>
            </a:pPr>
            <a:endParaRPr lang="es-ES_tradnl" sz="800">
              <a:solidFill>
                <a:schemeClr val="tx1"/>
              </a:solidFill>
            </a:endParaRPr>
          </a:p>
        </p:txBody>
      </p:sp>
      <p:graphicFrame>
        <p:nvGraphicFramePr>
          <p:cNvPr id="9" name="Table 8">
            <a:extLst>
              <a:ext uri="{FF2B5EF4-FFF2-40B4-BE49-F238E27FC236}">
                <a16:creationId xmlns:a16="http://schemas.microsoft.com/office/drawing/2014/main" id="{20720BCE-C891-D4F7-B998-F0222FC98144}"/>
              </a:ext>
            </a:extLst>
          </p:cNvPr>
          <p:cNvGraphicFramePr>
            <a:graphicFrameLocks noGrp="1"/>
          </p:cNvGraphicFramePr>
          <p:nvPr>
            <p:extLst>
              <p:ext uri="{D42A27DB-BD31-4B8C-83A1-F6EECF244321}">
                <p14:modId xmlns:p14="http://schemas.microsoft.com/office/powerpoint/2010/main" val="4000771"/>
              </p:ext>
            </p:extLst>
          </p:nvPr>
        </p:nvGraphicFramePr>
        <p:xfrm>
          <a:off x="3740259" y="3197105"/>
          <a:ext cx="1396313" cy="778355"/>
        </p:xfrm>
        <a:graphic>
          <a:graphicData uri="http://schemas.openxmlformats.org/drawingml/2006/table">
            <a:tbl>
              <a:tblPr firstRow="1" bandRow="1">
                <a:tableStyleId>{00A15C55-8517-42AA-B614-E9B94910E393}</a:tableStyleId>
              </a:tblPr>
              <a:tblGrid>
                <a:gridCol w="874694">
                  <a:extLst>
                    <a:ext uri="{9D8B030D-6E8A-4147-A177-3AD203B41FA5}">
                      <a16:colId xmlns:a16="http://schemas.microsoft.com/office/drawing/2014/main" val="1568856074"/>
                    </a:ext>
                  </a:extLst>
                </a:gridCol>
                <a:gridCol w="521619">
                  <a:extLst>
                    <a:ext uri="{9D8B030D-6E8A-4147-A177-3AD203B41FA5}">
                      <a16:colId xmlns:a16="http://schemas.microsoft.com/office/drawing/2014/main" val="2318638373"/>
                    </a:ext>
                  </a:extLst>
                </a:gridCol>
              </a:tblGrid>
              <a:tr h="207532">
                <a:tc>
                  <a:txBody>
                    <a:bodyPr/>
                    <a:lstStyle/>
                    <a:p>
                      <a:pPr algn="ctr"/>
                      <a:r>
                        <a:rPr lang="es-ES_tradnl" sz="600"/>
                        <a:t>Clave</a:t>
                      </a:r>
                      <a:endParaRPr lang="es-ES_tradnl" sz="6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s-ES_tradnl" sz="600"/>
                        <a:t>Saldo Dia</a:t>
                      </a:r>
                      <a:endParaRPr lang="es-ES_tradnl" sz="6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997975606"/>
                  </a:ext>
                </a:extLst>
              </a:tr>
              <a:tr h="126825">
                <a:tc>
                  <a:txBody>
                    <a:bodyPr/>
                    <a:lstStyle/>
                    <a:p>
                      <a:pPr algn="ctr"/>
                      <a:endParaRPr lang="es-ES_tradnl" sz="2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5619015"/>
                  </a:ext>
                </a:extLst>
              </a:tr>
              <a:tr h="126825">
                <a:tc>
                  <a:txBody>
                    <a:bodyPr/>
                    <a:lstStyle/>
                    <a:p>
                      <a:pPr algn="ctr"/>
                      <a:endParaRPr lang="es-ES_tradnl" sz="2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2808478"/>
                  </a:ext>
                </a:extLst>
              </a:tr>
              <a:tr h="168755">
                <a:tc>
                  <a:txBody>
                    <a:bodyPr/>
                    <a:lstStyle/>
                    <a:p>
                      <a:pPr algn="ctr"/>
                      <a:endParaRPr lang="es-ES_tradnl" sz="2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0526932"/>
                  </a:ext>
                </a:extLst>
              </a:tr>
            </a:tbl>
          </a:graphicData>
        </a:graphic>
      </p:graphicFrame>
      <p:sp>
        <p:nvSpPr>
          <p:cNvPr id="11" name="Rectangle: Rounded Corners 10">
            <a:extLst>
              <a:ext uri="{FF2B5EF4-FFF2-40B4-BE49-F238E27FC236}">
                <a16:creationId xmlns:a16="http://schemas.microsoft.com/office/drawing/2014/main" id="{9C2B7743-87C1-73F1-0E4D-BC9670B9BE27}"/>
              </a:ext>
            </a:extLst>
          </p:cNvPr>
          <p:cNvSpPr/>
          <p:nvPr/>
        </p:nvSpPr>
        <p:spPr>
          <a:xfrm>
            <a:off x="5774117" y="2277471"/>
            <a:ext cx="3435266" cy="2100446"/>
          </a:xfrm>
          <a:prstGeom prst="round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algn="just"/>
            <a:r>
              <a:rPr lang="es-ES_tradnl" sz="800">
                <a:solidFill>
                  <a:schemeClr val="tx1"/>
                </a:solidFill>
                <a:latin typeface="Arial" pitchFamily="34" charset="0"/>
                <a:cs typeface="Arial" pitchFamily="34" charset="0"/>
              </a:rPr>
              <a:t>El motor recupera el dato del saldo del día y lo actualiza en la matriz en la columna correspondiente</a:t>
            </a: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endParaRPr lang="es-ES_tradnl" sz="800">
              <a:solidFill>
                <a:schemeClr val="tx1"/>
              </a:solidFill>
              <a:latin typeface="Arial" pitchFamily="34" charset="0"/>
              <a:cs typeface="Arial" pitchFamily="34" charset="0"/>
            </a:endParaRPr>
          </a:p>
          <a:p>
            <a:pPr algn="just"/>
            <a:r>
              <a:rPr lang="es-ES_tradnl" sz="800">
                <a:solidFill>
                  <a:schemeClr val="tx1"/>
                </a:solidFill>
                <a:latin typeface="Arial" pitchFamily="34" charset="0"/>
                <a:cs typeface="Arial" pitchFamily="34" charset="0"/>
              </a:rPr>
              <a:t>En el caso de que los días posteriores al de proceso sean feriado se copia en estos días el saldo</a:t>
            </a:r>
          </a:p>
          <a:p>
            <a:pPr algn="just"/>
            <a:endParaRPr lang="es-ES_tradnl" sz="800">
              <a:solidFill>
                <a:schemeClr val="tx1"/>
              </a:solidFill>
              <a:latin typeface="Arial" pitchFamily="34" charset="0"/>
              <a:cs typeface="Arial" pitchFamily="34" charset="0"/>
            </a:endParaRPr>
          </a:p>
          <a:p>
            <a:pPr algn="just">
              <a:spcBef>
                <a:spcPts val="600"/>
              </a:spcBef>
            </a:pPr>
            <a:endParaRPr lang="es-ES_tradnl" sz="800">
              <a:solidFill>
                <a:schemeClr val="tx1"/>
              </a:solidFill>
            </a:endParaRPr>
          </a:p>
        </p:txBody>
      </p:sp>
      <p:graphicFrame>
        <p:nvGraphicFramePr>
          <p:cNvPr id="12" name="Table 11">
            <a:extLst>
              <a:ext uri="{FF2B5EF4-FFF2-40B4-BE49-F238E27FC236}">
                <a16:creationId xmlns:a16="http://schemas.microsoft.com/office/drawing/2014/main" id="{89207F32-DD8D-5F99-BD1C-3FD34A83F010}"/>
              </a:ext>
            </a:extLst>
          </p:cNvPr>
          <p:cNvGraphicFramePr>
            <a:graphicFrameLocks noGrp="1"/>
          </p:cNvGraphicFramePr>
          <p:nvPr>
            <p:extLst>
              <p:ext uri="{D42A27DB-BD31-4B8C-83A1-F6EECF244321}">
                <p14:modId xmlns:p14="http://schemas.microsoft.com/office/powerpoint/2010/main" val="1607957802"/>
              </p:ext>
            </p:extLst>
          </p:nvPr>
        </p:nvGraphicFramePr>
        <p:xfrm>
          <a:off x="6051316" y="2889470"/>
          <a:ext cx="2520777" cy="923950"/>
        </p:xfrm>
        <a:graphic>
          <a:graphicData uri="http://schemas.openxmlformats.org/drawingml/2006/table">
            <a:tbl>
              <a:tblPr firstRow="1" bandRow="1">
                <a:tableStyleId>{5C22544A-7EE6-4342-B048-85BDC9FD1C3A}</a:tableStyleId>
              </a:tblPr>
              <a:tblGrid>
                <a:gridCol w="477794">
                  <a:extLst>
                    <a:ext uri="{9D8B030D-6E8A-4147-A177-3AD203B41FA5}">
                      <a16:colId xmlns:a16="http://schemas.microsoft.com/office/drawing/2014/main" val="1568856074"/>
                    </a:ext>
                  </a:extLst>
                </a:gridCol>
                <a:gridCol w="284930">
                  <a:extLst>
                    <a:ext uri="{9D8B030D-6E8A-4147-A177-3AD203B41FA5}">
                      <a16:colId xmlns:a16="http://schemas.microsoft.com/office/drawing/2014/main" val="2318638373"/>
                    </a:ext>
                  </a:extLst>
                </a:gridCol>
                <a:gridCol w="316433">
                  <a:extLst>
                    <a:ext uri="{9D8B030D-6E8A-4147-A177-3AD203B41FA5}">
                      <a16:colId xmlns:a16="http://schemas.microsoft.com/office/drawing/2014/main" val="4185491749"/>
                    </a:ext>
                  </a:extLst>
                </a:gridCol>
                <a:gridCol w="296562">
                  <a:extLst>
                    <a:ext uri="{9D8B030D-6E8A-4147-A177-3AD203B41FA5}">
                      <a16:colId xmlns:a16="http://schemas.microsoft.com/office/drawing/2014/main" val="3539901395"/>
                    </a:ext>
                  </a:extLst>
                </a:gridCol>
                <a:gridCol w="304800">
                  <a:extLst>
                    <a:ext uri="{9D8B030D-6E8A-4147-A177-3AD203B41FA5}">
                      <a16:colId xmlns:a16="http://schemas.microsoft.com/office/drawing/2014/main" val="3607949175"/>
                    </a:ext>
                  </a:extLst>
                </a:gridCol>
                <a:gridCol w="481812">
                  <a:extLst>
                    <a:ext uri="{9D8B030D-6E8A-4147-A177-3AD203B41FA5}">
                      <a16:colId xmlns:a16="http://schemas.microsoft.com/office/drawing/2014/main" val="2196250846"/>
                    </a:ext>
                  </a:extLst>
                </a:gridCol>
                <a:gridCol w="358446">
                  <a:extLst>
                    <a:ext uri="{9D8B030D-6E8A-4147-A177-3AD203B41FA5}">
                      <a16:colId xmlns:a16="http://schemas.microsoft.com/office/drawing/2014/main" val="3123859289"/>
                    </a:ext>
                  </a:extLst>
                </a:gridCol>
              </a:tblGrid>
              <a:tr h="299645">
                <a:tc>
                  <a:txBody>
                    <a:bodyPr/>
                    <a:lstStyle/>
                    <a:p>
                      <a:pPr algn="ctr"/>
                      <a:r>
                        <a:rPr lang="es-ES_tradnl" sz="600">
                          <a:latin typeface="Arial" pitchFamily="34" charset="0"/>
                          <a:cs typeface="Arial" pitchFamily="34" charset="0"/>
                        </a:rPr>
                        <a:t>Clave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r>
                        <a:rPr lang="es-ES_tradnl" sz="600" b="1" kern="1200">
                          <a:solidFill>
                            <a:schemeClr val="lt1"/>
                          </a:solidFill>
                          <a:latin typeface="+mn-lt"/>
                          <a:ea typeface="+mn-ea"/>
                          <a:cs typeface="+mn-cs"/>
                        </a:rPr>
                        <a:t>D4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D31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997975606"/>
                  </a:ext>
                </a:extLst>
              </a:tr>
              <a:tr h="164805">
                <a:tc>
                  <a:txBody>
                    <a:bodyPr/>
                    <a:lstStyle/>
                    <a:p>
                      <a:pPr algn="ctr"/>
                      <a:endParaRPr lang="es-ES_tradnl" sz="2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619015"/>
                  </a:ext>
                </a:extLst>
              </a:tr>
              <a:tr h="164805">
                <a:tc>
                  <a:txBody>
                    <a:bodyPr/>
                    <a:lstStyle/>
                    <a:p>
                      <a:pPr algn="ctr"/>
                      <a:endParaRPr lang="es-ES_tradnl" sz="2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808478"/>
                  </a:ext>
                </a:extLst>
              </a:tr>
              <a:tr h="289025">
                <a:tc>
                  <a:txBody>
                    <a:bodyPr/>
                    <a:lstStyle/>
                    <a:p>
                      <a:pPr algn="ctr"/>
                      <a:endParaRPr lang="es-ES_tradnl" sz="2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ES_tradnl" sz="5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0526932"/>
                  </a:ext>
                </a:extLst>
              </a:tr>
            </a:tbl>
          </a:graphicData>
        </a:graphic>
      </p:graphicFrame>
      <p:grpSp>
        <p:nvGrpSpPr>
          <p:cNvPr id="13" name="Group 12">
            <a:extLst>
              <a:ext uri="{FF2B5EF4-FFF2-40B4-BE49-F238E27FC236}">
                <a16:creationId xmlns:a16="http://schemas.microsoft.com/office/drawing/2014/main" id="{FE5101A8-94C9-AFED-E6D4-7500465A4FB0}"/>
              </a:ext>
            </a:extLst>
          </p:cNvPr>
          <p:cNvGrpSpPr/>
          <p:nvPr/>
        </p:nvGrpSpPr>
        <p:grpSpPr>
          <a:xfrm>
            <a:off x="8669673" y="3032052"/>
            <a:ext cx="576960" cy="428487"/>
            <a:chOff x="3743069" y="3921688"/>
            <a:chExt cx="637630" cy="463623"/>
          </a:xfrm>
        </p:grpSpPr>
        <p:pic>
          <p:nvPicPr>
            <p:cNvPr id="15" name="Graphic 8" descr="Amazon Simple Storage Service (Amazon S3) service icon.">
              <a:extLst>
                <a:ext uri="{FF2B5EF4-FFF2-40B4-BE49-F238E27FC236}">
                  <a16:creationId xmlns:a16="http://schemas.microsoft.com/office/drawing/2014/main" id="{616C7688-1185-0AC1-C1F6-B1808CEBF325}"/>
                </a:ext>
              </a:extLst>
            </p:cNvPr>
            <p:cNvPicPr>
              <a:picLocks noChangeAspect="1" noChangeArrowheads="1"/>
            </p:cNvPicPr>
            <p:nvPr/>
          </p:nvPicPr>
          <p:blipFill>
            <a:blip>
              <a:extLst>
                <a:ext uri="{96DAC541-7B7A-43D3-8B79-37D633B846F1}">
                  <asvg:svgBlip xmlns:asvg="http://schemas.microsoft.com/office/drawing/2016/SVG/main" r:embed="rId5"/>
                </a:ext>
              </a:extLst>
            </a:blip>
            <a:stretch>
              <a:fillRect/>
            </a:stretch>
          </p:blipFill>
          <p:spPr bwMode="auto">
            <a:xfrm>
              <a:off x="3890025" y="3921688"/>
              <a:ext cx="278322" cy="27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314BA547-0918-C2A1-682B-30F157C7E2A9}"/>
                </a:ext>
              </a:extLst>
            </p:cNvPr>
            <p:cNvSpPr txBox="1"/>
            <p:nvPr/>
          </p:nvSpPr>
          <p:spPr>
            <a:xfrm>
              <a:off x="3743069" y="4169867"/>
              <a:ext cx="63763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S3</a:t>
              </a:r>
              <a:endParaRPr lang="es-ES_tradnl"/>
            </a:p>
          </p:txBody>
        </p:sp>
      </p:grpSp>
      <p:cxnSp>
        <p:nvCxnSpPr>
          <p:cNvPr id="17" name="Connector: Elbow 16">
            <a:extLst>
              <a:ext uri="{FF2B5EF4-FFF2-40B4-BE49-F238E27FC236}">
                <a16:creationId xmlns:a16="http://schemas.microsoft.com/office/drawing/2014/main" id="{C73649BF-8CDD-7229-5681-3980792ECBAF}"/>
              </a:ext>
            </a:extLst>
          </p:cNvPr>
          <p:cNvCxnSpPr>
            <a:endCxn id="12" idx="0"/>
          </p:cNvCxnSpPr>
          <p:nvPr/>
        </p:nvCxnSpPr>
        <p:spPr bwMode="auto">
          <a:xfrm flipV="1">
            <a:off x="5161170" y="2889470"/>
            <a:ext cx="2150534" cy="497843"/>
          </a:xfrm>
          <a:prstGeom prst="bentConnector4">
            <a:avLst>
              <a:gd name="adj1" fmla="val 20696"/>
              <a:gd name="adj2" fmla="val 119558"/>
            </a:avLst>
          </a:prstGeom>
          <a:solidFill>
            <a:schemeClr val="accent1"/>
          </a:solidFill>
          <a:ln w="9525" cap="flat" cmpd="sng" algn="ctr">
            <a:solidFill>
              <a:schemeClr val="tx1"/>
            </a:solidFill>
            <a:prstDash val="solid"/>
            <a:round/>
            <a:headEnd type="none" w="med" len="med"/>
            <a:tailEnd type="triangle"/>
          </a:ln>
          <a:effectLst/>
        </p:spPr>
      </p:cxnSp>
      <p:sp>
        <p:nvSpPr>
          <p:cNvPr id="20" name="Arrow: Chevron 19">
            <a:extLst>
              <a:ext uri="{FF2B5EF4-FFF2-40B4-BE49-F238E27FC236}">
                <a16:creationId xmlns:a16="http://schemas.microsoft.com/office/drawing/2014/main" id="{3A3EBCF9-9ABF-AFA5-CEA6-2E810682A417}"/>
              </a:ext>
            </a:extLst>
          </p:cNvPr>
          <p:cNvSpPr/>
          <p:nvPr/>
        </p:nvSpPr>
        <p:spPr>
          <a:xfrm>
            <a:off x="2460772" y="2682213"/>
            <a:ext cx="512189" cy="1285584"/>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grpSp>
        <p:nvGrpSpPr>
          <p:cNvPr id="23" name="Group 22">
            <a:extLst>
              <a:ext uri="{FF2B5EF4-FFF2-40B4-BE49-F238E27FC236}">
                <a16:creationId xmlns:a16="http://schemas.microsoft.com/office/drawing/2014/main" id="{6F8CF01A-D3A6-2D00-EA70-76A348B288BE}"/>
              </a:ext>
            </a:extLst>
          </p:cNvPr>
          <p:cNvGrpSpPr/>
          <p:nvPr/>
        </p:nvGrpSpPr>
        <p:grpSpPr>
          <a:xfrm>
            <a:off x="7253216" y="3848583"/>
            <a:ext cx="374184" cy="181906"/>
            <a:chOff x="4926227" y="4141065"/>
            <a:chExt cx="374184" cy="250092"/>
          </a:xfrm>
        </p:grpSpPr>
        <p:cxnSp>
          <p:nvCxnSpPr>
            <p:cNvPr id="25" name="Connector: Elbow 24">
              <a:extLst>
                <a:ext uri="{FF2B5EF4-FFF2-40B4-BE49-F238E27FC236}">
                  <a16:creationId xmlns:a16="http://schemas.microsoft.com/office/drawing/2014/main" id="{0DAACF2D-BFA2-83DB-5A18-83BFB7BE1C90}"/>
                </a:ext>
              </a:extLst>
            </p:cNvPr>
            <p:cNvCxnSpPr/>
            <p:nvPr/>
          </p:nvCxnSpPr>
          <p:spPr bwMode="auto">
            <a:xfrm flipV="1">
              <a:off x="4926227" y="4141065"/>
              <a:ext cx="374184" cy="250092"/>
            </a:xfrm>
            <a:prstGeom prst="bentConnector3">
              <a:avLst>
                <a:gd name="adj1" fmla="val 100636"/>
              </a:avLst>
            </a:prstGeom>
            <a:solidFill>
              <a:schemeClr val="accent1"/>
            </a:solidFill>
            <a:ln w="9525" cap="flat" cmpd="sng" algn="ctr">
              <a:solidFill>
                <a:srgbClr val="FF0000"/>
              </a:solidFill>
              <a:prstDash val="solid"/>
              <a:round/>
              <a:headEnd type="none" w="med" len="med"/>
              <a:tailEnd type="triangle"/>
            </a:ln>
            <a:effectLst/>
          </p:spPr>
        </p:cxnSp>
        <p:cxnSp>
          <p:nvCxnSpPr>
            <p:cNvPr id="26" name="Straight Connector 25">
              <a:extLst>
                <a:ext uri="{FF2B5EF4-FFF2-40B4-BE49-F238E27FC236}">
                  <a16:creationId xmlns:a16="http://schemas.microsoft.com/office/drawing/2014/main" id="{28452125-1675-A434-6812-098F9E998475}"/>
                </a:ext>
              </a:extLst>
            </p:cNvPr>
            <p:cNvCxnSpPr/>
            <p:nvPr/>
          </p:nvCxnSpPr>
          <p:spPr bwMode="auto">
            <a:xfrm flipH="1">
              <a:off x="4926227" y="4141065"/>
              <a:ext cx="0" cy="250092"/>
            </a:xfrm>
            <a:prstGeom prst="line">
              <a:avLst/>
            </a:prstGeom>
            <a:solidFill>
              <a:schemeClr val="accent1"/>
            </a:solidFill>
            <a:ln w="9525" cap="flat" cmpd="sng" algn="ctr">
              <a:solidFill>
                <a:srgbClr val="FF0000"/>
              </a:solidFill>
              <a:prstDash val="solid"/>
              <a:round/>
              <a:headEnd type="none" w="med" len="med"/>
              <a:tailEnd type="none" w="med" len="med"/>
            </a:ln>
            <a:effectLst/>
          </p:spPr>
        </p:cxnSp>
      </p:grpSp>
      <p:sp>
        <p:nvSpPr>
          <p:cNvPr id="28" name="Rectangle: Rounded Corners 27">
            <a:extLst>
              <a:ext uri="{FF2B5EF4-FFF2-40B4-BE49-F238E27FC236}">
                <a16:creationId xmlns:a16="http://schemas.microsoft.com/office/drawing/2014/main" id="{C38D9CD1-62A1-304B-C308-5AE41F7FE9F0}"/>
              </a:ext>
            </a:extLst>
          </p:cNvPr>
          <p:cNvSpPr/>
          <p:nvPr/>
        </p:nvSpPr>
        <p:spPr>
          <a:xfrm>
            <a:off x="9573106" y="2277471"/>
            <a:ext cx="2150534" cy="2100446"/>
          </a:xfrm>
          <a:prstGeom prst="round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algn="just"/>
            <a:r>
              <a:rPr lang="es-ES_tradnl" sz="800">
                <a:solidFill>
                  <a:schemeClr val="tx1"/>
                </a:solidFill>
                <a:latin typeface="Arial" pitchFamily="34" charset="0"/>
                <a:cs typeface="Arial" pitchFamily="34" charset="0"/>
              </a:rPr>
              <a:t>Se calcula el saldo medio como suma de los saldos hasta el día de proceso divido por el nº de días</a:t>
            </a:r>
          </a:p>
          <a:p>
            <a:pPr algn="just">
              <a:spcBef>
                <a:spcPts val="600"/>
              </a:spcBef>
            </a:pPr>
            <a:endParaRPr lang="es-ES_tradnl" sz="800">
              <a:solidFill>
                <a:schemeClr val="tx1"/>
              </a:solidFill>
            </a:endParaRPr>
          </a:p>
        </p:txBody>
      </p:sp>
      <p:graphicFrame>
        <p:nvGraphicFramePr>
          <p:cNvPr id="42" name="Table 41">
            <a:extLst>
              <a:ext uri="{FF2B5EF4-FFF2-40B4-BE49-F238E27FC236}">
                <a16:creationId xmlns:a16="http://schemas.microsoft.com/office/drawing/2014/main" id="{4DF59494-53A1-42E9-6040-2337F721E185}"/>
              </a:ext>
            </a:extLst>
          </p:cNvPr>
          <p:cNvGraphicFramePr>
            <a:graphicFrameLocks noGrp="1"/>
          </p:cNvGraphicFramePr>
          <p:nvPr>
            <p:extLst>
              <p:ext uri="{D42A27DB-BD31-4B8C-83A1-F6EECF244321}">
                <p14:modId xmlns:p14="http://schemas.microsoft.com/office/powerpoint/2010/main" val="2872802785"/>
              </p:ext>
            </p:extLst>
          </p:nvPr>
        </p:nvGraphicFramePr>
        <p:xfrm>
          <a:off x="9880513" y="3261423"/>
          <a:ext cx="1535719" cy="778355"/>
        </p:xfrm>
        <a:graphic>
          <a:graphicData uri="http://schemas.openxmlformats.org/drawingml/2006/table">
            <a:tbl>
              <a:tblPr firstRow="1" bandRow="1">
                <a:tableStyleId>{5C22544A-7EE6-4342-B048-85BDC9FD1C3A}</a:tableStyleId>
              </a:tblPr>
              <a:tblGrid>
                <a:gridCol w="700381">
                  <a:extLst>
                    <a:ext uri="{9D8B030D-6E8A-4147-A177-3AD203B41FA5}">
                      <a16:colId xmlns:a16="http://schemas.microsoft.com/office/drawing/2014/main" val="1568856074"/>
                    </a:ext>
                  </a:extLst>
                </a:gridCol>
                <a:gridCol w="417669">
                  <a:extLst>
                    <a:ext uri="{9D8B030D-6E8A-4147-A177-3AD203B41FA5}">
                      <a16:colId xmlns:a16="http://schemas.microsoft.com/office/drawing/2014/main" val="2318638373"/>
                    </a:ext>
                  </a:extLst>
                </a:gridCol>
                <a:gridCol w="417669">
                  <a:extLst>
                    <a:ext uri="{9D8B030D-6E8A-4147-A177-3AD203B41FA5}">
                      <a16:colId xmlns:a16="http://schemas.microsoft.com/office/drawing/2014/main" val="880398472"/>
                    </a:ext>
                  </a:extLst>
                </a:gridCol>
              </a:tblGrid>
              <a:tr h="0">
                <a:tc>
                  <a:txBody>
                    <a:bodyPr/>
                    <a:lstStyle/>
                    <a:p>
                      <a:pPr algn="ctr"/>
                      <a:r>
                        <a:rPr lang="es-ES_tradnl" sz="600">
                          <a:latin typeface="Arial" pitchFamily="34" charset="0"/>
                          <a:cs typeface="Arial" pitchFamily="34" charset="0"/>
                        </a:rPr>
                        <a:t>Clave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Saldo Dia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s-ES_tradnl" sz="600">
                          <a:latin typeface="Arial" pitchFamily="34" charset="0"/>
                          <a:cs typeface="Arial" pitchFamily="34" charset="0"/>
                        </a:rPr>
                        <a:t>Saldo Medio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997975606"/>
                  </a:ext>
                </a:extLst>
              </a:tr>
              <a:tr h="126825">
                <a:tc>
                  <a:txBody>
                    <a:bodyPr/>
                    <a:lstStyle/>
                    <a:p>
                      <a:endParaRPr lang="es-ES_tradnl" sz="2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_tradnl" sz="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_tradnl" sz="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619015"/>
                  </a:ext>
                </a:extLst>
              </a:tr>
              <a:tr h="126825">
                <a:tc>
                  <a:txBody>
                    <a:bodyPr/>
                    <a:lstStyle/>
                    <a:p>
                      <a:endParaRPr lang="es-ES_tradnl" sz="2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_tradnl" sz="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_tradnl" sz="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808478"/>
                  </a:ext>
                </a:extLst>
              </a:tr>
              <a:tr h="168755">
                <a:tc>
                  <a:txBody>
                    <a:bodyPr/>
                    <a:lstStyle/>
                    <a:p>
                      <a:endParaRPr lang="es-ES_tradnl" sz="2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_tradnl" sz="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_tradnl" sz="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0526932"/>
                  </a:ext>
                </a:extLst>
              </a:tr>
            </a:tbl>
          </a:graphicData>
        </a:graphic>
      </p:graphicFrame>
      <p:cxnSp>
        <p:nvCxnSpPr>
          <p:cNvPr id="43" name="Connector: Elbow 42">
            <a:extLst>
              <a:ext uri="{FF2B5EF4-FFF2-40B4-BE49-F238E27FC236}">
                <a16:creationId xmlns:a16="http://schemas.microsoft.com/office/drawing/2014/main" id="{01E5B6EC-5232-2274-1146-D176CCF84373}"/>
              </a:ext>
            </a:extLst>
          </p:cNvPr>
          <p:cNvCxnSpPr>
            <a:stCxn id="16" idx="3"/>
            <a:endCxn id="42" idx="0"/>
          </p:cNvCxnSpPr>
          <p:nvPr/>
        </p:nvCxnSpPr>
        <p:spPr bwMode="auto">
          <a:xfrm flipV="1">
            <a:off x="9246633" y="3261423"/>
            <a:ext cx="1401739" cy="99558"/>
          </a:xfrm>
          <a:prstGeom prst="bentConnector4">
            <a:avLst>
              <a:gd name="adj1" fmla="val 22610"/>
              <a:gd name="adj2" fmla="val 329615"/>
            </a:avLst>
          </a:prstGeom>
          <a:solidFill>
            <a:schemeClr val="accent1"/>
          </a:solidFill>
          <a:ln w="9525" cap="flat" cmpd="sng" algn="ctr">
            <a:solidFill>
              <a:schemeClr val="tx1"/>
            </a:solidFill>
            <a:prstDash val="solid"/>
            <a:round/>
            <a:headEnd type="none" w="med" len="med"/>
            <a:tailEnd type="triangle"/>
          </a:ln>
          <a:effectLst/>
        </p:spPr>
      </p:cxnSp>
      <p:sp>
        <p:nvSpPr>
          <p:cNvPr id="46" name="Oval 45">
            <a:extLst>
              <a:ext uri="{FF2B5EF4-FFF2-40B4-BE49-F238E27FC236}">
                <a16:creationId xmlns:a16="http://schemas.microsoft.com/office/drawing/2014/main" id="{45439320-746B-9B73-421C-07957C1BC39A}"/>
              </a:ext>
            </a:extLst>
          </p:cNvPr>
          <p:cNvSpPr/>
          <p:nvPr/>
        </p:nvSpPr>
        <p:spPr>
          <a:xfrm>
            <a:off x="3170132" y="2168117"/>
            <a:ext cx="360000" cy="360000"/>
          </a:xfrm>
          <a:prstGeom prst="ellipse">
            <a:avLst/>
          </a:prstGeom>
          <a:solidFill>
            <a:srgbClr val="00206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ctr">
              <a:spcBef>
                <a:spcPts val="600"/>
              </a:spcBef>
            </a:pPr>
            <a:r>
              <a:rPr lang="es-ES_tradnl" sz="1100" b="1">
                <a:solidFill>
                  <a:schemeClr val="bg1"/>
                </a:solidFill>
              </a:rPr>
              <a:t>1</a:t>
            </a:r>
          </a:p>
        </p:txBody>
      </p:sp>
      <p:sp>
        <p:nvSpPr>
          <p:cNvPr id="50" name="Oval 49">
            <a:extLst>
              <a:ext uri="{FF2B5EF4-FFF2-40B4-BE49-F238E27FC236}">
                <a16:creationId xmlns:a16="http://schemas.microsoft.com/office/drawing/2014/main" id="{901FD0F0-1E3B-0705-C853-354841F24AED}"/>
              </a:ext>
            </a:extLst>
          </p:cNvPr>
          <p:cNvSpPr/>
          <p:nvPr/>
        </p:nvSpPr>
        <p:spPr>
          <a:xfrm>
            <a:off x="5660156" y="2171681"/>
            <a:ext cx="360000" cy="360000"/>
          </a:xfrm>
          <a:prstGeom prst="ellipse">
            <a:avLst/>
          </a:prstGeom>
          <a:solidFill>
            <a:srgbClr val="00206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ctr">
              <a:spcBef>
                <a:spcPts val="600"/>
              </a:spcBef>
            </a:pPr>
            <a:r>
              <a:rPr lang="es-ES_tradnl" sz="1100" b="1">
                <a:solidFill>
                  <a:schemeClr val="bg1"/>
                </a:solidFill>
              </a:rPr>
              <a:t>2</a:t>
            </a:r>
          </a:p>
        </p:txBody>
      </p:sp>
      <p:sp>
        <p:nvSpPr>
          <p:cNvPr id="52" name="Oval 51">
            <a:extLst>
              <a:ext uri="{FF2B5EF4-FFF2-40B4-BE49-F238E27FC236}">
                <a16:creationId xmlns:a16="http://schemas.microsoft.com/office/drawing/2014/main" id="{FC127545-176F-DBD7-C193-7ACE221C3225}"/>
              </a:ext>
            </a:extLst>
          </p:cNvPr>
          <p:cNvSpPr/>
          <p:nvPr/>
        </p:nvSpPr>
        <p:spPr>
          <a:xfrm>
            <a:off x="9473539" y="2168117"/>
            <a:ext cx="360000" cy="360000"/>
          </a:xfrm>
          <a:prstGeom prst="ellipse">
            <a:avLst/>
          </a:prstGeom>
          <a:solidFill>
            <a:srgbClr val="00206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ctr">
              <a:spcBef>
                <a:spcPts val="600"/>
              </a:spcBef>
            </a:pPr>
            <a:r>
              <a:rPr lang="es-ES_tradnl" sz="1100" b="1">
                <a:solidFill>
                  <a:schemeClr val="bg1"/>
                </a:solidFill>
              </a:rPr>
              <a:t>3</a:t>
            </a:r>
          </a:p>
        </p:txBody>
      </p:sp>
      <p:sp>
        <p:nvSpPr>
          <p:cNvPr id="54" name="Arrow: Chevron 53">
            <a:extLst>
              <a:ext uri="{FF2B5EF4-FFF2-40B4-BE49-F238E27FC236}">
                <a16:creationId xmlns:a16="http://schemas.microsoft.com/office/drawing/2014/main" id="{0636E1E4-653B-EC85-3A6C-46052DE1DE7F}"/>
              </a:ext>
            </a:extLst>
          </p:cNvPr>
          <p:cNvSpPr/>
          <p:nvPr/>
        </p:nvSpPr>
        <p:spPr>
          <a:xfrm>
            <a:off x="2444030" y="4868082"/>
            <a:ext cx="512189" cy="1044001"/>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pic>
        <p:nvPicPr>
          <p:cNvPr id="56" name="Picture 55">
            <a:extLst>
              <a:ext uri="{FF2B5EF4-FFF2-40B4-BE49-F238E27FC236}">
                <a16:creationId xmlns:a16="http://schemas.microsoft.com/office/drawing/2014/main" id="{28F36D48-F16A-6CB6-85C5-EA5B37E412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26920" y="327667"/>
            <a:ext cx="1815789" cy="900000"/>
          </a:xfrm>
          <a:prstGeom prst="rect">
            <a:avLst/>
          </a:prstGeom>
        </p:spPr>
      </p:pic>
      <p:sp>
        <p:nvSpPr>
          <p:cNvPr id="58" name="Rectangle 57">
            <a:extLst>
              <a:ext uri="{FF2B5EF4-FFF2-40B4-BE49-F238E27FC236}">
                <a16:creationId xmlns:a16="http://schemas.microsoft.com/office/drawing/2014/main" id="{A8BE79B4-268C-EB78-FF5C-FC1CB5EA77AF}"/>
              </a:ext>
            </a:extLst>
          </p:cNvPr>
          <p:cNvSpPr/>
          <p:nvPr/>
        </p:nvSpPr>
        <p:spPr bwMode="auto">
          <a:xfrm>
            <a:off x="11586634" y="390928"/>
            <a:ext cx="456076" cy="172105"/>
          </a:xfrm>
          <a:prstGeom prst="rect">
            <a:avLst/>
          </a:prstGeom>
          <a:noFill/>
          <a:ln w="12700">
            <a:solidFill>
              <a:srgbClr val="FF0000"/>
            </a:solidFill>
            <a:round/>
          </a:ln>
        </p:spPr>
        <p:txBody>
          <a:bodyPr wrap="none" rtlCol="0" anchor="ctr">
            <a:noAutofit/>
          </a:bodyPr>
          <a:lstStyle/>
          <a:p>
            <a:pPr algn="ctr"/>
            <a:endParaRPr lang="es-ES_tradnl"/>
          </a:p>
        </p:txBody>
      </p:sp>
    </p:spTree>
    <p:extLst>
      <p:ext uri="{BB962C8B-B14F-4D97-AF65-F5344CB8AC3E}">
        <p14:creationId xmlns:p14="http://schemas.microsoft.com/office/powerpoint/2010/main" val="221628467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4AC9F-9202-F677-569E-6A15C972CA0B}"/>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4853ADC0-D55F-8EA2-8C77-F098BE5998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26920" y="327667"/>
            <a:ext cx="1815789" cy="900000"/>
          </a:xfrm>
          <a:prstGeom prst="rect">
            <a:avLst/>
          </a:prstGeom>
        </p:spPr>
      </p:pic>
      <p:sp>
        <p:nvSpPr>
          <p:cNvPr id="7" name="TextBox 6">
            <a:extLst>
              <a:ext uri="{FF2B5EF4-FFF2-40B4-BE49-F238E27FC236}">
                <a16:creationId xmlns:a16="http://schemas.microsoft.com/office/drawing/2014/main" id="{B9CED40E-D0BD-C461-C13D-4A719590CCC5}"/>
              </a:ext>
            </a:extLst>
          </p:cNvPr>
          <p:cNvSpPr txBox="1"/>
          <p:nvPr/>
        </p:nvSpPr>
        <p:spPr>
          <a:xfrm>
            <a:off x="3613320" y="1771896"/>
            <a:ext cx="7310872" cy="646331"/>
          </a:xfrm>
          <a:prstGeom prst="rect">
            <a:avLst/>
          </a:prstGeom>
          <a:noFill/>
          <a:ln>
            <a:solidFill>
              <a:schemeClr val="tx1"/>
            </a:solidFill>
            <a:prstDash val="dash"/>
          </a:ln>
        </p:spPr>
        <p:txBody>
          <a:bodyPr wrap="square" rtlCol="0">
            <a:spAutoFit/>
          </a:bodyPr>
          <a:lstStyle>
            <a:defPPr>
              <a:defRPr lang="es-ES_tradnl"/>
            </a:defPPr>
            <a:lvl1pPr marL="171450" indent="-171450">
              <a:buFont typeface="Arial" pitchFamily="34" charset="0"/>
              <a:buChar char="•"/>
              <a:defRPr sz="900">
                <a:latin typeface="Arial" pitchFamily="34" charset="0"/>
                <a:cs typeface="Arial" pitchFamily="34" charset="0"/>
              </a:defRPr>
            </a:lvl1pPr>
          </a:lstStyle>
          <a:p>
            <a:r>
              <a:rPr lang="es-ES_tradnl"/>
              <a:t>Las fuentes de entrada tienen mas de un registro por contrato, por lo que para mantener una dimensión de contrato es necesario quedarse con único registro.</a:t>
            </a:r>
          </a:p>
          <a:p>
            <a:endParaRPr lang="es-ES_tradnl"/>
          </a:p>
          <a:p>
            <a:r>
              <a:rPr lang="es-ES_tradnl"/>
              <a:t>El filtro para este único registro puede variar entre sistemas por lo que se configura como un filtro del procesos-</a:t>
            </a:r>
          </a:p>
        </p:txBody>
      </p:sp>
      <p:sp>
        <p:nvSpPr>
          <p:cNvPr id="47" name="Rounded Rectangle 1">
            <a:extLst>
              <a:ext uri="{FF2B5EF4-FFF2-40B4-BE49-F238E27FC236}">
                <a16:creationId xmlns:a16="http://schemas.microsoft.com/office/drawing/2014/main" id="{85A1A675-C2D2-61B3-A636-8C573F9F3D94}"/>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086B376C-0C16-576F-3642-E159752D8F3B}"/>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2" name="Rectangle: Rounded Corners 1">
            <a:extLst>
              <a:ext uri="{FF2B5EF4-FFF2-40B4-BE49-F238E27FC236}">
                <a16:creationId xmlns:a16="http://schemas.microsoft.com/office/drawing/2014/main" id="{C79B9F8D-C564-0CE5-4078-79E15F7CCDD2}"/>
              </a:ext>
            </a:extLst>
          </p:cNvPr>
          <p:cNvSpPr/>
          <p:nvPr/>
        </p:nvSpPr>
        <p:spPr bwMode="auto">
          <a:xfrm>
            <a:off x="1190965" y="3064998"/>
            <a:ext cx="1189683" cy="661919"/>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Data</a:t>
            </a:r>
          </a:p>
          <a:p>
            <a:pPr algn="ctr"/>
            <a:r>
              <a:rPr lang="es-ES_tradnl" sz="800" b="1" err="1">
                <a:solidFill>
                  <a:schemeClr val="bg1"/>
                </a:solidFill>
                <a:latin typeface="Arial" pitchFamily="34" charset="0"/>
                <a:cs typeface="Arial" pitchFamily="34" charset="0"/>
              </a:rPr>
              <a:t>Quality</a:t>
            </a:r>
            <a:endParaRPr lang="es-ES_tradnl" sz="800" b="1">
              <a:solidFill>
                <a:schemeClr val="bg1"/>
              </a:solidFill>
              <a:latin typeface="Arial" pitchFamily="34" charset="0"/>
              <a:cs typeface="Arial" pitchFamily="34" charset="0"/>
            </a:endParaRPr>
          </a:p>
        </p:txBody>
      </p:sp>
      <p:sp>
        <p:nvSpPr>
          <p:cNvPr id="6" name="Rectangle: Rounded Corners 5">
            <a:extLst>
              <a:ext uri="{FF2B5EF4-FFF2-40B4-BE49-F238E27FC236}">
                <a16:creationId xmlns:a16="http://schemas.microsoft.com/office/drawing/2014/main" id="{D900C5BD-63A9-2889-D664-E03C8A1D50F3}"/>
              </a:ext>
            </a:extLst>
          </p:cNvPr>
          <p:cNvSpPr/>
          <p:nvPr/>
        </p:nvSpPr>
        <p:spPr bwMode="auto">
          <a:xfrm>
            <a:off x="1190965" y="1771722"/>
            <a:ext cx="1189682" cy="64633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Eliminación</a:t>
            </a:r>
          </a:p>
          <a:p>
            <a:pPr algn="ctr"/>
            <a:r>
              <a:rPr lang="es-ES_tradnl" sz="800" b="1">
                <a:solidFill>
                  <a:schemeClr val="bg1"/>
                </a:solidFill>
                <a:latin typeface="Arial" pitchFamily="34" charset="0"/>
                <a:cs typeface="Arial" pitchFamily="34" charset="0"/>
              </a:rPr>
              <a:t>Duplicados</a:t>
            </a:r>
          </a:p>
        </p:txBody>
      </p:sp>
      <p:sp>
        <p:nvSpPr>
          <p:cNvPr id="8" name="Rectangle: Rounded Corners 7">
            <a:extLst>
              <a:ext uri="{FF2B5EF4-FFF2-40B4-BE49-F238E27FC236}">
                <a16:creationId xmlns:a16="http://schemas.microsoft.com/office/drawing/2014/main" id="{2EE95CFA-FF43-9A20-DA46-BFEF19236BB3}"/>
              </a:ext>
            </a:extLst>
          </p:cNvPr>
          <p:cNvSpPr/>
          <p:nvPr/>
        </p:nvSpPr>
        <p:spPr bwMode="auto">
          <a:xfrm>
            <a:off x="1190964" y="4420221"/>
            <a:ext cx="1189682" cy="1061829"/>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Actualización</a:t>
            </a:r>
          </a:p>
          <a:p>
            <a:pPr algn="ctr"/>
            <a:r>
              <a:rPr lang="es-ES_tradnl" sz="800" b="1">
                <a:solidFill>
                  <a:schemeClr val="bg1"/>
                </a:solidFill>
                <a:latin typeface="Arial" pitchFamily="34" charset="0"/>
                <a:cs typeface="Arial" pitchFamily="34" charset="0"/>
              </a:rPr>
              <a:t>Base de Datos</a:t>
            </a:r>
          </a:p>
        </p:txBody>
      </p:sp>
      <p:sp>
        <p:nvSpPr>
          <p:cNvPr id="9" name="Rectangle 8">
            <a:extLst>
              <a:ext uri="{FF2B5EF4-FFF2-40B4-BE49-F238E27FC236}">
                <a16:creationId xmlns:a16="http://schemas.microsoft.com/office/drawing/2014/main" id="{C1637642-DE6A-FEBC-073C-F85A9400482B}"/>
              </a:ext>
            </a:extLst>
          </p:cNvPr>
          <p:cNvSpPr/>
          <p:nvPr/>
        </p:nvSpPr>
        <p:spPr bwMode="auto">
          <a:xfrm>
            <a:off x="9234842" y="4713324"/>
            <a:ext cx="1188000" cy="215444"/>
          </a:xfrm>
          <a:prstGeom prst="rect">
            <a:avLst/>
          </a:prstGeom>
          <a:solidFill>
            <a:schemeClr val="bg1">
              <a:lumMod val="85000"/>
            </a:schemeClr>
          </a:solidFill>
          <a:ln w="9525">
            <a:noFill/>
            <a:round/>
          </a:ln>
        </p:spPr>
        <p:txBody>
          <a:bodyPr wrap="none" rtlCol="0" anchor="ctr">
            <a:noAutofit/>
          </a:bodyPr>
          <a:lstStyle/>
          <a:p>
            <a:r>
              <a:rPr lang="es-ES_tradnl" sz="800" b="1">
                <a:latin typeface="Arial" pitchFamily="34" charset="0"/>
                <a:cs typeface="Arial" pitchFamily="34" charset="0"/>
              </a:rPr>
              <a:t>DIM_CONTRATO</a:t>
            </a:r>
          </a:p>
        </p:txBody>
      </p:sp>
      <p:sp>
        <p:nvSpPr>
          <p:cNvPr id="10" name="Rectangle 9">
            <a:extLst>
              <a:ext uri="{FF2B5EF4-FFF2-40B4-BE49-F238E27FC236}">
                <a16:creationId xmlns:a16="http://schemas.microsoft.com/office/drawing/2014/main" id="{E75E29D0-9426-B0E8-8762-E723E3376685}"/>
              </a:ext>
            </a:extLst>
          </p:cNvPr>
          <p:cNvSpPr/>
          <p:nvPr/>
        </p:nvSpPr>
        <p:spPr bwMode="auto">
          <a:xfrm>
            <a:off x="9234842" y="5064221"/>
            <a:ext cx="1188000" cy="215444"/>
          </a:xfrm>
          <a:prstGeom prst="rect">
            <a:avLst/>
          </a:prstGeom>
          <a:solidFill>
            <a:schemeClr val="bg1">
              <a:lumMod val="85000"/>
            </a:schemeClr>
          </a:solidFill>
          <a:ln w="9525">
            <a:noFill/>
            <a:round/>
          </a:ln>
        </p:spPr>
        <p:txBody>
          <a:bodyPr wrap="none" rtlCol="0" anchor="ctr">
            <a:noAutofit/>
          </a:bodyPr>
          <a:lstStyle/>
          <a:p>
            <a:r>
              <a:rPr lang="es-ES_tradnl" sz="800" b="1">
                <a:latin typeface="Arial" pitchFamily="34" charset="0"/>
                <a:cs typeface="Arial" pitchFamily="34" charset="0"/>
              </a:rPr>
              <a:t>DT_CONTRATO_DIA</a:t>
            </a:r>
          </a:p>
        </p:txBody>
      </p:sp>
      <p:pic>
        <p:nvPicPr>
          <p:cNvPr id="12" name="Graphic 23" descr="Amazon Redshift service icon.">
            <a:extLst>
              <a:ext uri="{FF2B5EF4-FFF2-40B4-BE49-F238E27FC236}">
                <a16:creationId xmlns:a16="http://schemas.microsoft.com/office/drawing/2014/main" id="{29E5408B-7848-512A-5210-B6654CB8E654}"/>
              </a:ext>
            </a:extLst>
          </p:cNvPr>
          <p:cNvPicPr>
            <a:picLocks noChangeAspect="1" noChangeArrowheads="1"/>
          </p:cNvPicPr>
          <p:nvPr/>
        </p:nvPicPr>
        <p:blipFill>
          <a:blip>
            <a:extLst>
              <a:ext uri="{96DAC541-7B7A-43D3-8B79-37D633B846F1}">
                <asvg:svgBlip xmlns:asvg="http://schemas.microsoft.com/office/drawing/2016/SVG/main" r:embed="rId5"/>
              </a:ext>
            </a:extLst>
          </a:blip>
          <a:stretch>
            <a:fillRect/>
          </a:stretch>
        </p:blipFill>
        <p:spPr bwMode="auto">
          <a:xfrm>
            <a:off x="10395574" y="5170782"/>
            <a:ext cx="217766" cy="21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Graphic 23" descr="Amazon Redshift service icon.">
            <a:extLst>
              <a:ext uri="{FF2B5EF4-FFF2-40B4-BE49-F238E27FC236}">
                <a16:creationId xmlns:a16="http://schemas.microsoft.com/office/drawing/2014/main" id="{E1D1601E-008C-A62E-3051-C7DAC2EDFD17}"/>
              </a:ext>
            </a:extLst>
          </p:cNvPr>
          <p:cNvPicPr>
            <a:picLocks noChangeAspect="1" noChangeArrowheads="1"/>
          </p:cNvPicPr>
          <p:nvPr/>
        </p:nvPicPr>
        <p:blipFill>
          <a:blip>
            <a:extLst>
              <a:ext uri="{96DAC541-7B7A-43D3-8B79-37D633B846F1}">
                <asvg:svgBlip xmlns:asvg="http://schemas.microsoft.com/office/drawing/2016/SVG/main" r:embed="rId5"/>
              </a:ext>
            </a:extLst>
          </a:blip>
          <a:stretch>
            <a:fillRect/>
          </a:stretch>
        </p:blipFill>
        <p:spPr bwMode="auto">
          <a:xfrm>
            <a:off x="10394605" y="4766558"/>
            <a:ext cx="217766" cy="21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3A30237D-E8FC-7EE4-CB8B-2E53BF7518FF}"/>
              </a:ext>
            </a:extLst>
          </p:cNvPr>
          <p:cNvSpPr txBox="1"/>
          <p:nvPr/>
        </p:nvSpPr>
        <p:spPr>
          <a:xfrm>
            <a:off x="3613320" y="3064998"/>
            <a:ext cx="7310872" cy="662400"/>
          </a:xfrm>
          <a:prstGeom prst="rect">
            <a:avLst/>
          </a:prstGeom>
          <a:noFill/>
          <a:ln>
            <a:solidFill>
              <a:schemeClr val="tx1"/>
            </a:solidFill>
            <a:prstDash val="dash"/>
          </a:ln>
        </p:spPr>
        <p:txBody>
          <a:bodyPr wrap="square" rtlCol="0">
            <a:spAutoFit/>
          </a:bodyPr>
          <a:lstStyle>
            <a:defPPr>
              <a:defRPr lang="es-ES_tradnl"/>
            </a:defPPr>
            <a:lvl1pPr marL="171450" indent="-171450">
              <a:buFont typeface="Arial" pitchFamily="34" charset="0"/>
              <a:buChar char="•"/>
              <a:defRPr sz="900">
                <a:latin typeface="Arial" pitchFamily="34" charset="0"/>
                <a:cs typeface="Arial" pitchFamily="34" charset="0"/>
              </a:defRPr>
            </a:lvl1pPr>
          </a:lstStyle>
          <a:p>
            <a:r>
              <a:rPr lang="es-ES_tradnl"/>
              <a:t>El motor de reglas es el mismo que en el caso de saldos, solo que aplican diferentes reglas en función de la parametrización.</a:t>
            </a:r>
          </a:p>
        </p:txBody>
      </p:sp>
      <p:sp>
        <p:nvSpPr>
          <p:cNvPr id="16" name="TextBox 15">
            <a:extLst>
              <a:ext uri="{FF2B5EF4-FFF2-40B4-BE49-F238E27FC236}">
                <a16:creationId xmlns:a16="http://schemas.microsoft.com/office/drawing/2014/main" id="{230E7134-D200-E4F4-EE3C-11D43DA6279F}"/>
              </a:ext>
            </a:extLst>
          </p:cNvPr>
          <p:cNvSpPr txBox="1"/>
          <p:nvPr/>
        </p:nvSpPr>
        <p:spPr>
          <a:xfrm>
            <a:off x="3613320" y="4420267"/>
            <a:ext cx="7310872" cy="1061829"/>
          </a:xfrm>
          <a:prstGeom prst="rect">
            <a:avLst/>
          </a:prstGeom>
          <a:noFill/>
          <a:ln>
            <a:solidFill>
              <a:schemeClr val="tx1"/>
            </a:solidFill>
            <a:prstDash val="dash"/>
          </a:ln>
        </p:spPr>
        <p:txBody>
          <a:bodyPr wrap="square" rtlCol="0">
            <a:spAutoFit/>
          </a:bodyPr>
          <a:lstStyle>
            <a:defPPr>
              <a:defRPr lang="es-ES_tradnl"/>
            </a:defPPr>
            <a:lvl1pPr marL="171450" indent="-171450">
              <a:buFont typeface="Arial" pitchFamily="34" charset="0"/>
              <a:buChar char="•"/>
              <a:defRPr sz="900">
                <a:latin typeface="Arial" pitchFamily="34" charset="0"/>
                <a:cs typeface="Arial" pitchFamily="34" charset="0"/>
              </a:defRPr>
            </a:lvl1pPr>
          </a:lstStyle>
          <a:p>
            <a:pPr marL="0" indent="0">
              <a:buNone/>
            </a:pPr>
            <a:r>
              <a:rPr lang="es-ES_tradnl"/>
              <a:t>Se actualizan dos tablas en este proceso:</a:t>
            </a:r>
          </a:p>
          <a:p>
            <a:pPr marL="0" indent="0">
              <a:buNone/>
            </a:pPr>
            <a:endParaRPr lang="es-ES_tradnl"/>
          </a:p>
          <a:p>
            <a:r>
              <a:rPr lang="es-ES_tradnl" b="1"/>
              <a:t>Dimensión Contrato: </a:t>
            </a:r>
            <a:r>
              <a:rPr lang="es-ES_tradnl"/>
              <a:t>Maestro con los contratos del sistema, al no ser una tabla histórica se                                                              ingresan los nuevos contratos y actualizan aquellos que tengan cambios (upsert)</a:t>
            </a:r>
          </a:p>
          <a:p>
            <a:pPr marL="0" indent="0">
              <a:buNone/>
            </a:pPr>
            <a:endParaRPr lang="es-ES_tradnl"/>
          </a:p>
          <a:p>
            <a:r>
              <a:rPr lang="es-ES_tradnl" b="1"/>
              <a:t>Detalle de Contrato Diaria: </a:t>
            </a:r>
            <a:r>
              <a:rPr lang="es-ES_tradnl"/>
              <a:t>Se guardan las características del contrato a la fecha, se actualiza                                                                     a nivel de partición (fecha y sistema origen).</a:t>
            </a:r>
          </a:p>
        </p:txBody>
      </p:sp>
      <p:sp>
        <p:nvSpPr>
          <p:cNvPr id="4" name="Google Shape;72;p7">
            <a:extLst>
              <a:ext uri="{FF2B5EF4-FFF2-40B4-BE49-F238E27FC236}">
                <a16:creationId xmlns:a16="http://schemas.microsoft.com/office/drawing/2014/main" id="{A2ED79D9-BF97-41A4-2DEF-A3F7CBECFAE1}"/>
              </a:ext>
            </a:extLst>
          </p:cNvPr>
          <p:cNvSpPr txBox="1"/>
          <p:nvPr/>
        </p:nvSpPr>
        <p:spPr>
          <a:xfrm>
            <a:off x="380373" y="1119653"/>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Generación y Carga Detalle de Contrato</a:t>
            </a:r>
          </a:p>
        </p:txBody>
      </p:sp>
      <p:sp>
        <p:nvSpPr>
          <p:cNvPr id="14" name="Arrow: Chevron 13">
            <a:extLst>
              <a:ext uri="{FF2B5EF4-FFF2-40B4-BE49-F238E27FC236}">
                <a16:creationId xmlns:a16="http://schemas.microsoft.com/office/drawing/2014/main" id="{6E8EC8FE-5FFA-04BF-4C9D-05740DB9622D}"/>
              </a:ext>
            </a:extLst>
          </p:cNvPr>
          <p:cNvSpPr/>
          <p:nvPr/>
        </p:nvSpPr>
        <p:spPr>
          <a:xfrm>
            <a:off x="2827819" y="1910221"/>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
        <p:nvSpPr>
          <p:cNvPr id="18" name="Arrow: Chevron 17">
            <a:extLst>
              <a:ext uri="{FF2B5EF4-FFF2-40B4-BE49-F238E27FC236}">
                <a16:creationId xmlns:a16="http://schemas.microsoft.com/office/drawing/2014/main" id="{422A95DC-47A2-CC59-2E60-E4F3FB0BC029}"/>
              </a:ext>
            </a:extLst>
          </p:cNvPr>
          <p:cNvSpPr/>
          <p:nvPr/>
        </p:nvSpPr>
        <p:spPr>
          <a:xfrm>
            <a:off x="2827819" y="3211291"/>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
        <p:nvSpPr>
          <p:cNvPr id="20" name="Arrow: Chevron 19">
            <a:extLst>
              <a:ext uri="{FF2B5EF4-FFF2-40B4-BE49-F238E27FC236}">
                <a16:creationId xmlns:a16="http://schemas.microsoft.com/office/drawing/2014/main" id="{E51BF9AB-05FF-C026-6761-2CFA55E730E4}"/>
              </a:ext>
            </a:extLst>
          </p:cNvPr>
          <p:cNvSpPr/>
          <p:nvPr/>
        </p:nvSpPr>
        <p:spPr>
          <a:xfrm>
            <a:off x="2842174" y="4801450"/>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cxnSp>
        <p:nvCxnSpPr>
          <p:cNvPr id="22" name="Connector: Elbow 21">
            <a:extLst>
              <a:ext uri="{FF2B5EF4-FFF2-40B4-BE49-F238E27FC236}">
                <a16:creationId xmlns:a16="http://schemas.microsoft.com/office/drawing/2014/main" id="{42A9BBA8-7AF0-4F83-2FCA-221F5707C3B2}"/>
              </a:ext>
            </a:extLst>
          </p:cNvPr>
          <p:cNvCxnSpPr/>
          <p:nvPr/>
        </p:nvCxnSpPr>
        <p:spPr>
          <a:xfrm flipV="1">
            <a:off x="8501032" y="4875441"/>
            <a:ext cx="733810" cy="5332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89B2F31F-CDC6-6749-B620-0DD8B6348C95}"/>
              </a:ext>
            </a:extLst>
          </p:cNvPr>
          <p:cNvCxnSpPr/>
          <p:nvPr/>
        </p:nvCxnSpPr>
        <p:spPr>
          <a:xfrm flipV="1">
            <a:off x="8730648" y="5170782"/>
            <a:ext cx="504194" cy="10888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1BD0330-78E1-FFA2-50F0-5D63350DDE5B}"/>
              </a:ext>
            </a:extLst>
          </p:cNvPr>
          <p:cNvSpPr/>
          <p:nvPr/>
        </p:nvSpPr>
        <p:spPr bwMode="auto">
          <a:xfrm>
            <a:off x="10825163" y="846629"/>
            <a:ext cx="804862" cy="232398"/>
          </a:xfrm>
          <a:prstGeom prst="rect">
            <a:avLst/>
          </a:prstGeom>
          <a:noFill/>
          <a:ln w="12700">
            <a:solidFill>
              <a:srgbClr val="FF0000"/>
            </a:solidFill>
            <a:round/>
          </a:ln>
        </p:spPr>
        <p:txBody>
          <a:bodyPr wrap="none" rtlCol="0" anchor="ctr">
            <a:noAutofit/>
          </a:bodyPr>
          <a:lstStyle/>
          <a:p>
            <a:pPr algn="ctr"/>
            <a:endParaRPr lang="es-ES_tradnl"/>
          </a:p>
        </p:txBody>
      </p:sp>
    </p:spTree>
    <p:extLst>
      <p:ext uri="{BB962C8B-B14F-4D97-AF65-F5344CB8AC3E}">
        <p14:creationId xmlns:p14="http://schemas.microsoft.com/office/powerpoint/2010/main" val="305036330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24F03-C7E9-A82D-E4F6-4C3919B353D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6DE900A-F8C3-727C-5213-87DDF08341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26920" y="327667"/>
            <a:ext cx="1815789" cy="900000"/>
          </a:xfrm>
          <a:prstGeom prst="rect">
            <a:avLst/>
          </a:prstGeom>
        </p:spPr>
      </p:pic>
      <p:sp>
        <p:nvSpPr>
          <p:cNvPr id="47" name="Rounded Rectangle 1">
            <a:extLst>
              <a:ext uri="{FF2B5EF4-FFF2-40B4-BE49-F238E27FC236}">
                <a16:creationId xmlns:a16="http://schemas.microsoft.com/office/drawing/2014/main" id="{9A2459DA-42B1-5229-BA4B-2D12C9EE9A1E}"/>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B0C7E970-59F7-3390-7A04-5DC18EA260D6}"/>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3" name="Rectangle: Rounded Corners 2">
            <a:extLst>
              <a:ext uri="{FF2B5EF4-FFF2-40B4-BE49-F238E27FC236}">
                <a16:creationId xmlns:a16="http://schemas.microsoft.com/office/drawing/2014/main" id="{6A92A82C-EC84-AA58-BD54-4407D387DF95}"/>
              </a:ext>
            </a:extLst>
          </p:cNvPr>
          <p:cNvSpPr/>
          <p:nvPr/>
        </p:nvSpPr>
        <p:spPr bwMode="auto">
          <a:xfrm>
            <a:off x="526319" y="5125182"/>
            <a:ext cx="1527434" cy="646331"/>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Limpieza</a:t>
            </a:r>
          </a:p>
          <a:p>
            <a:pPr algn="ctr"/>
            <a:r>
              <a:rPr lang="es-ES_tradnl" sz="800" b="1">
                <a:solidFill>
                  <a:schemeClr val="bg1"/>
                </a:solidFill>
                <a:latin typeface="Arial" pitchFamily="34" charset="0"/>
                <a:cs typeface="Arial" pitchFamily="34" charset="0"/>
              </a:rPr>
              <a:t>Temporales</a:t>
            </a:r>
          </a:p>
        </p:txBody>
      </p:sp>
      <p:sp>
        <p:nvSpPr>
          <p:cNvPr id="4" name="Rectangle: Rounded Corners 3">
            <a:extLst>
              <a:ext uri="{FF2B5EF4-FFF2-40B4-BE49-F238E27FC236}">
                <a16:creationId xmlns:a16="http://schemas.microsoft.com/office/drawing/2014/main" id="{0C2DEB49-BA40-DCC6-7B54-E0882956AD58}"/>
              </a:ext>
            </a:extLst>
          </p:cNvPr>
          <p:cNvSpPr/>
          <p:nvPr/>
        </p:nvSpPr>
        <p:spPr bwMode="auto">
          <a:xfrm>
            <a:off x="572375" y="2890402"/>
            <a:ext cx="1527434" cy="638087"/>
          </a:xfrm>
          <a:prstGeom prst="roundRect">
            <a:avLst/>
          </a:prstGeom>
          <a:solidFill>
            <a:schemeClr val="tx2"/>
          </a:solidFill>
          <a:ln w="9525">
            <a:noFill/>
            <a:round/>
          </a:ln>
        </p:spPr>
        <p:txBody>
          <a:bodyPr wrap="square" rtlCol="0" anchor="ctr">
            <a:noAutofit/>
          </a:bodyPr>
          <a:lstStyle/>
          <a:p>
            <a:pPr algn="ctr"/>
            <a:r>
              <a:rPr lang="es-ES_tradnl" sz="800" b="1">
                <a:solidFill>
                  <a:schemeClr val="bg1"/>
                </a:solidFill>
                <a:latin typeface="Arial" pitchFamily="34" charset="0"/>
                <a:cs typeface="Arial" pitchFamily="34" charset="0"/>
              </a:rPr>
              <a:t>Control</a:t>
            </a:r>
          </a:p>
          <a:p>
            <a:pPr algn="ctr"/>
            <a:r>
              <a:rPr lang="es-ES_tradnl" sz="800" b="1">
                <a:solidFill>
                  <a:schemeClr val="bg1"/>
                </a:solidFill>
                <a:latin typeface="Arial" pitchFamily="34" charset="0"/>
                <a:cs typeface="Arial" pitchFamily="34" charset="0"/>
              </a:rPr>
              <a:t>Registros</a:t>
            </a:r>
          </a:p>
        </p:txBody>
      </p:sp>
      <p:sp>
        <p:nvSpPr>
          <p:cNvPr id="19" name="TextBox 18">
            <a:extLst>
              <a:ext uri="{FF2B5EF4-FFF2-40B4-BE49-F238E27FC236}">
                <a16:creationId xmlns:a16="http://schemas.microsoft.com/office/drawing/2014/main" id="{A32FAEC1-27EB-D1B7-E0BB-5B0BE89D7CC4}"/>
              </a:ext>
            </a:extLst>
          </p:cNvPr>
          <p:cNvSpPr txBox="1"/>
          <p:nvPr/>
        </p:nvSpPr>
        <p:spPr>
          <a:xfrm>
            <a:off x="2814894" y="5125182"/>
            <a:ext cx="8552153" cy="646331"/>
          </a:xfrm>
          <a:prstGeom prst="rect">
            <a:avLst/>
          </a:prstGeom>
          <a:noFill/>
          <a:ln>
            <a:solidFill>
              <a:schemeClr val="tx1"/>
            </a:solidFill>
            <a:prstDash val="dash"/>
          </a:ln>
        </p:spPr>
        <p:txBody>
          <a:bodyPr wrap="square" rtlCol="0">
            <a:spAutoFit/>
          </a:bodyPr>
          <a:lstStyle>
            <a:defPPr>
              <a:defRPr lang="es-ES_tradnl"/>
            </a:defPPr>
            <a:lvl1pPr marL="171450" indent="-171450">
              <a:buFont typeface="Arial" pitchFamily="34" charset="0"/>
              <a:buChar char="•"/>
              <a:defRPr sz="900">
                <a:latin typeface="Arial" pitchFamily="34" charset="0"/>
                <a:cs typeface="Arial" pitchFamily="34" charset="0"/>
              </a:defRPr>
            </a:lvl1pPr>
          </a:lstStyle>
          <a:p>
            <a:r>
              <a:rPr lang="es-ES_tradnl"/>
              <a:t>Proceso de Borrado de ficheros temporales del proceso.</a:t>
            </a:r>
          </a:p>
          <a:p>
            <a:endParaRPr lang="es-ES_tradnl"/>
          </a:p>
          <a:p>
            <a:r>
              <a:rPr lang="es-ES_tradnl"/>
              <a:t>Ejecución de Vacum en las tablas actualizadas para liberar espacio después del borrado masivo</a:t>
            </a:r>
          </a:p>
          <a:p>
            <a:endParaRPr lang="es-ES_tradnl"/>
          </a:p>
        </p:txBody>
      </p:sp>
      <p:sp>
        <p:nvSpPr>
          <p:cNvPr id="5" name="Google Shape;72;p7">
            <a:extLst>
              <a:ext uri="{FF2B5EF4-FFF2-40B4-BE49-F238E27FC236}">
                <a16:creationId xmlns:a16="http://schemas.microsoft.com/office/drawing/2014/main" id="{B83CDFBB-8288-4815-BD55-FBBDD65603B0}"/>
              </a:ext>
            </a:extLst>
          </p:cNvPr>
          <p:cNvSpPr txBox="1"/>
          <p:nvPr/>
        </p:nvSpPr>
        <p:spPr>
          <a:xfrm>
            <a:off x="380373" y="1119653"/>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Control de proceso y limpieza de temporales</a:t>
            </a:r>
          </a:p>
        </p:txBody>
      </p:sp>
      <p:sp>
        <p:nvSpPr>
          <p:cNvPr id="10" name="Rectangle 9">
            <a:extLst>
              <a:ext uri="{FF2B5EF4-FFF2-40B4-BE49-F238E27FC236}">
                <a16:creationId xmlns:a16="http://schemas.microsoft.com/office/drawing/2014/main" id="{F438E84C-BC49-CCB7-3712-3ABEF17F2F3E}"/>
              </a:ext>
            </a:extLst>
          </p:cNvPr>
          <p:cNvSpPr/>
          <p:nvPr/>
        </p:nvSpPr>
        <p:spPr bwMode="auto">
          <a:xfrm>
            <a:off x="11720475" y="603722"/>
            <a:ext cx="322233" cy="306444"/>
          </a:xfrm>
          <a:prstGeom prst="rect">
            <a:avLst/>
          </a:prstGeom>
          <a:noFill/>
          <a:ln w="12700">
            <a:solidFill>
              <a:srgbClr val="FF0000"/>
            </a:solidFill>
            <a:round/>
          </a:ln>
        </p:spPr>
        <p:txBody>
          <a:bodyPr wrap="none" rtlCol="0" anchor="ctr">
            <a:noAutofit/>
          </a:bodyPr>
          <a:lstStyle/>
          <a:p>
            <a:pPr algn="ctr"/>
            <a:endParaRPr lang="es-ES_tradnl"/>
          </a:p>
        </p:txBody>
      </p:sp>
      <p:sp>
        <p:nvSpPr>
          <p:cNvPr id="2" name="Rectangle: Rounded Corners 1">
            <a:extLst>
              <a:ext uri="{FF2B5EF4-FFF2-40B4-BE49-F238E27FC236}">
                <a16:creationId xmlns:a16="http://schemas.microsoft.com/office/drawing/2014/main" id="{BB5228A9-6DC8-4914-C99F-F181E49E812F}"/>
              </a:ext>
            </a:extLst>
          </p:cNvPr>
          <p:cNvSpPr/>
          <p:nvPr/>
        </p:nvSpPr>
        <p:spPr>
          <a:xfrm>
            <a:off x="3033943" y="2149170"/>
            <a:ext cx="3401718" cy="2493241"/>
          </a:xfrm>
          <a:prstGeom prst="round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algn="just"/>
            <a:r>
              <a:rPr lang="es-ES_tradnl" sz="800">
                <a:solidFill>
                  <a:schemeClr val="tx1"/>
                </a:solidFill>
                <a:latin typeface="Arial" pitchFamily="34" charset="0"/>
                <a:cs typeface="Arial" pitchFamily="34" charset="0"/>
              </a:rPr>
              <a:t>Los procesos de actualización ingresan para cada proceso los registros insertados, los rechazados por error de datos y aquellos que tiene errores en algún dato pero si se han cargado en el sistema.</a:t>
            </a:r>
          </a:p>
          <a:p>
            <a:pPr algn="just">
              <a:spcBef>
                <a:spcPts val="600"/>
              </a:spcBef>
            </a:pPr>
            <a:endParaRPr lang="es-ES_tradnl" sz="800">
              <a:solidFill>
                <a:schemeClr val="tx1"/>
              </a:solidFill>
            </a:endParaRPr>
          </a:p>
        </p:txBody>
      </p:sp>
      <p:sp>
        <p:nvSpPr>
          <p:cNvPr id="17" name="Arrow: Chevron 16">
            <a:extLst>
              <a:ext uri="{FF2B5EF4-FFF2-40B4-BE49-F238E27FC236}">
                <a16:creationId xmlns:a16="http://schemas.microsoft.com/office/drawing/2014/main" id="{FC0BDD90-76D8-DC54-C9AB-A31364428936}"/>
              </a:ext>
            </a:extLst>
          </p:cNvPr>
          <p:cNvSpPr/>
          <p:nvPr/>
        </p:nvSpPr>
        <p:spPr>
          <a:xfrm>
            <a:off x="2279809" y="2566653"/>
            <a:ext cx="512189" cy="1285584"/>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
        <p:nvSpPr>
          <p:cNvPr id="26" name="Oval 25">
            <a:extLst>
              <a:ext uri="{FF2B5EF4-FFF2-40B4-BE49-F238E27FC236}">
                <a16:creationId xmlns:a16="http://schemas.microsoft.com/office/drawing/2014/main" id="{63E06149-EE33-C812-835F-D018BD096E94}"/>
              </a:ext>
            </a:extLst>
          </p:cNvPr>
          <p:cNvSpPr/>
          <p:nvPr/>
        </p:nvSpPr>
        <p:spPr>
          <a:xfrm>
            <a:off x="2978312" y="2050325"/>
            <a:ext cx="360000" cy="360000"/>
          </a:xfrm>
          <a:prstGeom prst="ellipse">
            <a:avLst/>
          </a:prstGeom>
          <a:solidFill>
            <a:srgbClr val="00206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ctr">
              <a:spcBef>
                <a:spcPts val="600"/>
              </a:spcBef>
            </a:pPr>
            <a:r>
              <a:rPr lang="es-ES_tradnl" sz="1100" b="1">
                <a:solidFill>
                  <a:schemeClr val="bg1"/>
                </a:solidFill>
              </a:rPr>
              <a:t>1</a:t>
            </a:r>
          </a:p>
        </p:txBody>
      </p:sp>
      <p:graphicFrame>
        <p:nvGraphicFramePr>
          <p:cNvPr id="30" name="Table 29">
            <a:extLst>
              <a:ext uri="{FF2B5EF4-FFF2-40B4-BE49-F238E27FC236}">
                <a16:creationId xmlns:a16="http://schemas.microsoft.com/office/drawing/2014/main" id="{8D8F0E2B-A07A-106F-6346-E390EBC3ECC2}"/>
              </a:ext>
            </a:extLst>
          </p:cNvPr>
          <p:cNvGraphicFramePr>
            <a:graphicFrameLocks noGrp="1"/>
          </p:cNvGraphicFramePr>
          <p:nvPr>
            <p:extLst>
              <p:ext uri="{D42A27DB-BD31-4B8C-83A1-F6EECF244321}">
                <p14:modId xmlns:p14="http://schemas.microsoft.com/office/powerpoint/2010/main" val="1023765717"/>
              </p:ext>
            </p:extLst>
          </p:nvPr>
        </p:nvGraphicFramePr>
        <p:xfrm>
          <a:off x="3158312" y="2955107"/>
          <a:ext cx="3152980" cy="1455420"/>
        </p:xfrm>
        <a:graphic>
          <a:graphicData uri="http://schemas.openxmlformats.org/drawingml/2006/table">
            <a:tbl>
              <a:tblPr/>
              <a:tblGrid>
                <a:gridCol w="309404">
                  <a:extLst>
                    <a:ext uri="{9D8B030D-6E8A-4147-A177-3AD203B41FA5}">
                      <a16:colId xmlns:a16="http://schemas.microsoft.com/office/drawing/2014/main" val="3781115686"/>
                    </a:ext>
                  </a:extLst>
                </a:gridCol>
                <a:gridCol w="466563">
                  <a:extLst>
                    <a:ext uri="{9D8B030D-6E8A-4147-A177-3AD203B41FA5}">
                      <a16:colId xmlns:a16="http://schemas.microsoft.com/office/drawing/2014/main" val="40921232"/>
                    </a:ext>
                  </a:extLst>
                </a:gridCol>
                <a:gridCol w="348694">
                  <a:extLst>
                    <a:ext uri="{9D8B030D-6E8A-4147-A177-3AD203B41FA5}">
                      <a16:colId xmlns:a16="http://schemas.microsoft.com/office/drawing/2014/main" val="1516820012"/>
                    </a:ext>
                  </a:extLst>
                </a:gridCol>
                <a:gridCol w="520585">
                  <a:extLst>
                    <a:ext uri="{9D8B030D-6E8A-4147-A177-3AD203B41FA5}">
                      <a16:colId xmlns:a16="http://schemas.microsoft.com/office/drawing/2014/main" val="2457564572"/>
                    </a:ext>
                  </a:extLst>
                </a:gridCol>
                <a:gridCol w="289760">
                  <a:extLst>
                    <a:ext uri="{9D8B030D-6E8A-4147-A177-3AD203B41FA5}">
                      <a16:colId xmlns:a16="http://schemas.microsoft.com/office/drawing/2014/main" val="1443046288"/>
                    </a:ext>
                  </a:extLst>
                </a:gridCol>
                <a:gridCol w="363427">
                  <a:extLst>
                    <a:ext uri="{9D8B030D-6E8A-4147-A177-3AD203B41FA5}">
                      <a16:colId xmlns:a16="http://schemas.microsoft.com/office/drawing/2014/main" val="2137330896"/>
                    </a:ext>
                  </a:extLst>
                </a:gridCol>
                <a:gridCol w="387984">
                  <a:extLst>
                    <a:ext uri="{9D8B030D-6E8A-4147-A177-3AD203B41FA5}">
                      <a16:colId xmlns:a16="http://schemas.microsoft.com/office/drawing/2014/main" val="2397640912"/>
                    </a:ext>
                  </a:extLst>
                </a:gridCol>
                <a:gridCol w="466563">
                  <a:extLst>
                    <a:ext uri="{9D8B030D-6E8A-4147-A177-3AD203B41FA5}">
                      <a16:colId xmlns:a16="http://schemas.microsoft.com/office/drawing/2014/main" val="1983938084"/>
                    </a:ext>
                  </a:extLst>
                </a:gridCol>
              </a:tblGrid>
              <a:tr h="116955">
                <a:tc>
                  <a:txBody>
                    <a:bodyPr/>
                    <a:lstStyle/>
                    <a:p>
                      <a:pPr algn="ctr" fontAlgn="b">
                        <a:buNone/>
                      </a:pPr>
                      <a:r>
                        <a:rPr lang="es-ES_tradnl" sz="700" b="1" i="0" u="none" strike="noStrike">
                          <a:solidFill>
                            <a:srgbClr val="FFFFFF"/>
                          </a:solidFill>
                          <a:effectLst/>
                          <a:latin typeface="Aptos Narrow" panose="020B0004020202020204" pitchFamily="34" charset="0"/>
                        </a:rPr>
                        <a:t>Id. Ejecucion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Job</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Sistema Origen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Tabla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Fecha Datos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err="1">
                          <a:solidFill>
                            <a:srgbClr val="FFFFFF"/>
                          </a:solidFill>
                          <a:effectLst/>
                          <a:latin typeface="Aptos Narrow" panose="020B0004020202020204" pitchFamily="34" charset="0"/>
                        </a:rPr>
                        <a:t>Nº Registros OK</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Nº Registro Error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err="1">
                          <a:solidFill>
                            <a:srgbClr val="FFFFFF"/>
                          </a:solidFill>
                          <a:effectLst/>
                          <a:latin typeface="Aptos Narrow" panose="020B0004020202020204" pitchFamily="34" charset="0"/>
                        </a:rPr>
                        <a:t>Nº Registro Warning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137752125"/>
                  </a:ext>
                </a:extLst>
              </a:tr>
              <a:tr h="116955">
                <a:tc>
                  <a:txBody>
                    <a:bodyPr/>
                    <a:lstStyle/>
                    <a:p>
                      <a:pPr algn="r" fontAlgn="b">
                        <a:buNone/>
                      </a:pPr>
                      <a:r>
                        <a:rPr lang="es-ES_tradnl" sz="600" b="0" i="0" u="none" strike="noStrike">
                          <a:solidFill>
                            <a:srgbClr val="000000"/>
                          </a:solidFill>
                          <a:effectLst/>
                          <a:latin typeface="Aptos Narrow" panose="020B0004020202020204" pitchFamily="34" charset="0"/>
                        </a:rPr>
                        <a:t>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D_SALDOS_IDA_FCD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ES_tradnl" sz="600" b="1" i="0" u="none" strike="noStrike">
                          <a:solidFill>
                            <a:srgbClr val="000000"/>
                          </a:solidFill>
                          <a:effectLst/>
                          <a:latin typeface="Arial" pitchFamily="34" charset="0"/>
                        </a:rPr>
                        <a:t>FACT_SALDOS_OPER_DIA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01/06/2026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1.024.440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1200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00186358"/>
                  </a:ext>
                </a:extLst>
              </a:tr>
              <a:tr h="116955">
                <a:tc>
                  <a:txBody>
                    <a:bodyPr/>
                    <a:lstStyle/>
                    <a:p>
                      <a:pPr algn="r" fontAlgn="b">
                        <a:buNone/>
                      </a:pPr>
                      <a:r>
                        <a:rPr lang="es-ES_tradnl" sz="600" b="0" i="0" u="none" strike="noStrike">
                          <a:solidFill>
                            <a:srgbClr val="000000"/>
                          </a:solidFill>
                          <a:effectLst/>
                          <a:latin typeface="Aptos Narrow" panose="020B0004020202020204" pitchFamily="34" charset="0"/>
                        </a:rPr>
                        <a:t>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D_SALDOS_IDA_FCD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ES_tradnl" sz="600" b="1" i="0" u="none" strike="noStrike">
                          <a:solidFill>
                            <a:srgbClr val="000000"/>
                          </a:solidFill>
                          <a:effectLst/>
                          <a:latin typeface="Arial" pitchFamily="34" charset="0"/>
                        </a:rPr>
                        <a:t>FACT_SALDOS_OPER_DIA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02/06/2026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1.034.684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2672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35543703"/>
                  </a:ext>
                </a:extLst>
              </a:tr>
              <a:tr h="116955">
                <a:tc>
                  <a:txBody>
                    <a:bodyPr/>
                    <a:lstStyle/>
                    <a:p>
                      <a:pPr algn="r" fontAlgn="b">
                        <a:buNone/>
                      </a:pPr>
                      <a:r>
                        <a:rPr lang="es-ES_tradnl" sz="600" b="0" i="0" u="none" strike="noStrike">
                          <a:solidFill>
                            <a:srgbClr val="000000"/>
                          </a:solidFill>
                          <a:effectLst/>
                          <a:latin typeface="Aptos Narrow" panose="020B0004020202020204" pitchFamily="34" charset="0"/>
                        </a:rPr>
                        <a:t>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D_SALDOS_IDA_FCD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ES_tradnl" sz="600" b="1" i="0" u="none" strike="noStrike">
                          <a:solidFill>
                            <a:srgbClr val="000000"/>
                          </a:solidFill>
                          <a:effectLst/>
                          <a:latin typeface="Arial" pitchFamily="34" charset="0"/>
                        </a:rPr>
                        <a:t>FACT_SALDOS_OPER_DIA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03/06/2026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1.024.338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12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2788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08234235"/>
                  </a:ext>
                </a:extLst>
              </a:tr>
              <a:tr h="116955">
                <a:tc>
                  <a:txBody>
                    <a:bodyPr/>
                    <a:lstStyle/>
                    <a:p>
                      <a:pPr algn="r" fontAlgn="b">
                        <a:buNone/>
                      </a:pPr>
                      <a:r>
                        <a:rPr lang="es-ES_tradnl" sz="600" b="0" i="0" u="none" strike="noStrike">
                          <a:solidFill>
                            <a:srgbClr val="000000"/>
                          </a:solidFill>
                          <a:effectLst/>
                          <a:latin typeface="Aptos Narrow" panose="020B0004020202020204" pitchFamily="34" charset="0"/>
                        </a:rPr>
                        <a:t>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D_SALDOS_IDA_FCD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ES_tradnl" sz="600" b="1" i="0" u="none" strike="noStrike">
                          <a:solidFill>
                            <a:srgbClr val="000000"/>
                          </a:solidFill>
                          <a:effectLst/>
                          <a:latin typeface="Arial" pitchFamily="34" charset="0"/>
                        </a:rPr>
                        <a:t>FACT_SALDOS_OPER_DIA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04/06/2026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50.000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fontAlgn="b">
                        <a:buNone/>
                      </a:pPr>
                      <a:r>
                        <a:rPr lang="es-ES_tradnl" sz="600" b="0" i="0" u="none" strike="noStrike">
                          <a:solidFill>
                            <a:srgbClr val="000000"/>
                          </a:solidFill>
                          <a:effectLst/>
                          <a:latin typeface="Aptos Narrow" panose="020B0004020202020204" pitchFamily="34" charset="0"/>
                        </a:rPr>
                        <a:t>100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90051164"/>
                  </a:ext>
                </a:extLst>
              </a:tr>
            </a:tbl>
          </a:graphicData>
        </a:graphic>
      </p:graphicFrame>
      <p:sp>
        <p:nvSpPr>
          <p:cNvPr id="32" name="Rectangle: Rounded Corners 31">
            <a:extLst>
              <a:ext uri="{FF2B5EF4-FFF2-40B4-BE49-F238E27FC236}">
                <a16:creationId xmlns:a16="http://schemas.microsoft.com/office/drawing/2014/main" id="{C52187F3-D3DC-4A62-3BD3-7B585C0C0F1A}"/>
              </a:ext>
            </a:extLst>
          </p:cNvPr>
          <p:cNvSpPr/>
          <p:nvPr/>
        </p:nvSpPr>
        <p:spPr>
          <a:xfrm>
            <a:off x="6624128" y="2118498"/>
            <a:ext cx="2917349" cy="2493241"/>
          </a:xfrm>
          <a:prstGeom prst="round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algn="just"/>
            <a:r>
              <a:rPr lang="es-ES_tradnl" sz="800">
                <a:solidFill>
                  <a:schemeClr val="tx1"/>
                </a:solidFill>
                <a:latin typeface="Arial" pitchFamily="34" charset="0"/>
                <a:cs typeface="Arial" pitchFamily="34" charset="0"/>
              </a:rPr>
              <a:t>A partir de estos datos se genera una tabla con la media histórica de registros para el proceso / tabla</a:t>
            </a:r>
          </a:p>
          <a:p>
            <a:pPr algn="just">
              <a:spcBef>
                <a:spcPts val="600"/>
              </a:spcBef>
            </a:pPr>
            <a:endParaRPr lang="es-ES_tradnl" sz="800">
              <a:solidFill>
                <a:schemeClr val="tx1"/>
              </a:solidFill>
            </a:endParaRPr>
          </a:p>
        </p:txBody>
      </p:sp>
      <p:sp>
        <p:nvSpPr>
          <p:cNvPr id="34" name="Oval 33">
            <a:extLst>
              <a:ext uri="{FF2B5EF4-FFF2-40B4-BE49-F238E27FC236}">
                <a16:creationId xmlns:a16="http://schemas.microsoft.com/office/drawing/2014/main" id="{11D70038-9D7A-2CBF-E16E-BA767A1E0782}"/>
              </a:ext>
            </a:extLst>
          </p:cNvPr>
          <p:cNvSpPr/>
          <p:nvPr/>
        </p:nvSpPr>
        <p:spPr>
          <a:xfrm>
            <a:off x="6568497" y="2019653"/>
            <a:ext cx="360000" cy="360000"/>
          </a:xfrm>
          <a:prstGeom prst="ellipse">
            <a:avLst/>
          </a:prstGeom>
          <a:solidFill>
            <a:srgbClr val="00206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ctr">
              <a:spcBef>
                <a:spcPts val="600"/>
              </a:spcBef>
            </a:pPr>
            <a:r>
              <a:rPr lang="es-ES_tradnl" sz="1100" b="1">
                <a:solidFill>
                  <a:schemeClr val="bg1"/>
                </a:solidFill>
              </a:rPr>
              <a:t>2</a:t>
            </a:r>
          </a:p>
        </p:txBody>
      </p:sp>
      <p:graphicFrame>
        <p:nvGraphicFramePr>
          <p:cNvPr id="38" name="Table 37">
            <a:extLst>
              <a:ext uri="{FF2B5EF4-FFF2-40B4-BE49-F238E27FC236}">
                <a16:creationId xmlns:a16="http://schemas.microsoft.com/office/drawing/2014/main" id="{F640FAC6-E698-E124-892F-87ED803B7E7E}"/>
              </a:ext>
            </a:extLst>
          </p:cNvPr>
          <p:cNvGraphicFramePr>
            <a:graphicFrameLocks noGrp="1"/>
          </p:cNvGraphicFramePr>
          <p:nvPr>
            <p:extLst>
              <p:ext uri="{D42A27DB-BD31-4B8C-83A1-F6EECF244321}">
                <p14:modId xmlns:p14="http://schemas.microsoft.com/office/powerpoint/2010/main" val="3530759428"/>
              </p:ext>
            </p:extLst>
          </p:nvPr>
        </p:nvGraphicFramePr>
        <p:xfrm>
          <a:off x="6785559" y="3300700"/>
          <a:ext cx="2616463" cy="609600"/>
        </p:xfrm>
        <a:graphic>
          <a:graphicData uri="http://schemas.openxmlformats.org/drawingml/2006/table">
            <a:tbl>
              <a:tblPr/>
              <a:tblGrid>
                <a:gridCol w="513562">
                  <a:extLst>
                    <a:ext uri="{9D8B030D-6E8A-4147-A177-3AD203B41FA5}">
                      <a16:colId xmlns:a16="http://schemas.microsoft.com/office/drawing/2014/main" val="1209366654"/>
                    </a:ext>
                  </a:extLst>
                </a:gridCol>
                <a:gridCol w="383820">
                  <a:extLst>
                    <a:ext uri="{9D8B030D-6E8A-4147-A177-3AD203B41FA5}">
                      <a16:colId xmlns:a16="http://schemas.microsoft.com/office/drawing/2014/main" val="1711839474"/>
                    </a:ext>
                  </a:extLst>
                </a:gridCol>
                <a:gridCol w="573027">
                  <a:extLst>
                    <a:ext uri="{9D8B030D-6E8A-4147-A177-3AD203B41FA5}">
                      <a16:colId xmlns:a16="http://schemas.microsoft.com/office/drawing/2014/main" val="4168035668"/>
                    </a:ext>
                  </a:extLst>
                </a:gridCol>
                <a:gridCol w="318949">
                  <a:extLst>
                    <a:ext uri="{9D8B030D-6E8A-4147-A177-3AD203B41FA5}">
                      <a16:colId xmlns:a16="http://schemas.microsoft.com/office/drawing/2014/main" val="1299521853"/>
                    </a:ext>
                  </a:extLst>
                </a:gridCol>
                <a:gridCol w="400038">
                  <a:extLst>
                    <a:ext uri="{9D8B030D-6E8A-4147-A177-3AD203B41FA5}">
                      <a16:colId xmlns:a16="http://schemas.microsoft.com/office/drawing/2014/main" val="837587467"/>
                    </a:ext>
                  </a:extLst>
                </a:gridCol>
                <a:gridCol w="427067">
                  <a:extLst>
                    <a:ext uri="{9D8B030D-6E8A-4147-A177-3AD203B41FA5}">
                      <a16:colId xmlns:a16="http://schemas.microsoft.com/office/drawing/2014/main" val="3734703140"/>
                    </a:ext>
                  </a:extLst>
                </a:gridCol>
              </a:tblGrid>
              <a:tr h="52994">
                <a:tc>
                  <a:txBody>
                    <a:bodyPr/>
                    <a:lstStyle/>
                    <a:p>
                      <a:pPr algn="ctr" fontAlgn="b">
                        <a:buNone/>
                      </a:pPr>
                      <a:r>
                        <a:rPr lang="es-ES_tradnl" sz="700" b="1" i="0" u="none" strike="noStrike">
                          <a:solidFill>
                            <a:srgbClr val="FFFFFF"/>
                          </a:solidFill>
                          <a:effectLst/>
                          <a:latin typeface="Aptos Narrow" panose="020B0004020202020204" pitchFamily="34" charset="0"/>
                        </a:rPr>
                        <a:t>Job</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Sistema Origen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Tabla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Nº Registros OK</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a:solidFill>
                            <a:srgbClr val="FFFFFF"/>
                          </a:solidFill>
                          <a:effectLst/>
                          <a:latin typeface="Aptos Narrow" panose="020B0004020202020204" pitchFamily="34" charset="0"/>
                        </a:rPr>
                        <a:t>Nº Registro Error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buNone/>
                      </a:pPr>
                      <a:r>
                        <a:rPr lang="es-ES_tradnl" sz="700" b="1" i="0" u="none" strike="noStrike" err="1">
                          <a:solidFill>
                            <a:srgbClr val="FFFFFF"/>
                          </a:solidFill>
                          <a:effectLst/>
                          <a:latin typeface="Aptos Narrow" panose="020B0004020202020204" pitchFamily="34" charset="0"/>
                        </a:rPr>
                        <a:t>Nº Registro Warning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553003195"/>
                  </a:ext>
                </a:extLst>
              </a:tr>
              <a:tr h="164450">
                <a:tc>
                  <a:txBody>
                    <a:bodyPr/>
                    <a:lstStyle/>
                    <a:p>
                      <a:pPr algn="l" fontAlgn="b">
                        <a:buNone/>
                      </a:pPr>
                      <a:r>
                        <a:rPr lang="es-ES_tradnl" sz="600" b="0" i="0" u="none" strike="noStrike">
                          <a:solidFill>
                            <a:srgbClr val="000000"/>
                          </a:solidFill>
                          <a:effectLst/>
                          <a:latin typeface="Aptos Narrow" panose="020B0004020202020204" pitchFamily="34" charset="0"/>
                        </a:rPr>
                        <a:t>D_SALDOS_IDA_FCD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FCD</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s-ES_tradnl" sz="600" b="1" i="0" u="none" strike="noStrike">
                          <a:solidFill>
                            <a:srgbClr val="000000"/>
                          </a:solidFill>
                          <a:effectLst/>
                          <a:latin typeface="Arial" pitchFamily="34" charset="0"/>
                        </a:rPr>
                        <a:t>FACT_SALDOS_OPER_DIA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1.027.821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6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s-ES_tradnl" sz="600" b="0" i="0" u="none" strike="noStrike">
                          <a:solidFill>
                            <a:srgbClr val="000000"/>
                          </a:solidFill>
                          <a:effectLst/>
                          <a:latin typeface="Aptos Narrow" panose="020B0004020202020204" pitchFamily="34" charset="0"/>
                        </a:rPr>
                        <a:t>                          2.220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1849952"/>
                  </a:ext>
                </a:extLst>
              </a:tr>
            </a:tbl>
          </a:graphicData>
        </a:graphic>
      </p:graphicFrame>
      <p:sp>
        <p:nvSpPr>
          <p:cNvPr id="40" name="Rectangle: Rounded Corners 39">
            <a:extLst>
              <a:ext uri="{FF2B5EF4-FFF2-40B4-BE49-F238E27FC236}">
                <a16:creationId xmlns:a16="http://schemas.microsoft.com/office/drawing/2014/main" id="{86A83FB4-4532-3B17-BA44-B1478258C17A}"/>
              </a:ext>
            </a:extLst>
          </p:cNvPr>
          <p:cNvSpPr/>
          <p:nvPr/>
        </p:nvSpPr>
        <p:spPr>
          <a:xfrm>
            <a:off x="9721477" y="2118498"/>
            <a:ext cx="1998999" cy="2493241"/>
          </a:xfrm>
          <a:prstGeom prst="round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algn="just"/>
            <a:r>
              <a:rPr lang="es-ES_tradnl" sz="800">
                <a:solidFill>
                  <a:schemeClr val="tx1"/>
                </a:solidFill>
                <a:latin typeface="Arial" pitchFamily="34" charset="0"/>
                <a:cs typeface="Arial" pitchFamily="34" charset="0"/>
              </a:rPr>
              <a:t>A partir de estos datos se pueden establecer reglas que generen un error aunque el proceso terminase correctamente:</a:t>
            </a:r>
          </a:p>
          <a:p>
            <a:pPr marL="171450" indent="-171450" algn="just">
              <a:buFont typeface="Arial" pitchFamily="34" charset="0"/>
              <a:buChar char="•"/>
            </a:pPr>
            <a:r>
              <a:rPr lang="es-ES_tradnl" sz="800" err="1">
                <a:solidFill>
                  <a:schemeClr val="tx1"/>
                </a:solidFill>
                <a:latin typeface="Arial" pitchFamily="34" charset="0"/>
                <a:cs typeface="Arial" pitchFamily="34" charset="0"/>
              </a:rPr>
              <a:t>Nº de Errores (Absoluto o %) &gt; Umbral</a:t>
            </a:r>
          </a:p>
          <a:p>
            <a:pPr marL="171450" indent="-171450" algn="just">
              <a:buFont typeface="Arial" pitchFamily="34" charset="0"/>
              <a:buChar char="•"/>
            </a:pPr>
            <a:r>
              <a:rPr lang="es-ES_tradnl" sz="800" err="1">
                <a:solidFill>
                  <a:schemeClr val="tx1"/>
                </a:solidFill>
                <a:latin typeface="Arial" pitchFamily="34" charset="0"/>
                <a:cs typeface="Arial" pitchFamily="34" charset="0"/>
              </a:rPr>
              <a:t>Nº de Warings (Absoluto o %) &gt; Umbral</a:t>
            </a:r>
          </a:p>
          <a:p>
            <a:pPr marL="171450" indent="-171450" algn="just">
              <a:buFont typeface="Arial" pitchFamily="34" charset="0"/>
              <a:buChar char="•"/>
            </a:pPr>
            <a:r>
              <a:rPr lang="es-ES_tradnl" sz="800">
                <a:solidFill>
                  <a:schemeClr val="tx1"/>
                </a:solidFill>
                <a:latin typeface="Arial" pitchFamily="34" charset="0"/>
                <a:cs typeface="Arial" pitchFamily="34" charset="0"/>
              </a:rPr>
              <a:t>Variación de Registros respecto al histórico (Z-Score) &gt; Umbral</a:t>
            </a:r>
          </a:p>
        </p:txBody>
      </p:sp>
      <p:sp>
        <p:nvSpPr>
          <p:cNvPr id="42" name="Oval 41">
            <a:extLst>
              <a:ext uri="{FF2B5EF4-FFF2-40B4-BE49-F238E27FC236}">
                <a16:creationId xmlns:a16="http://schemas.microsoft.com/office/drawing/2014/main" id="{5C971B4B-0C41-0A79-131C-BD58B619C437}"/>
              </a:ext>
            </a:extLst>
          </p:cNvPr>
          <p:cNvSpPr/>
          <p:nvPr/>
        </p:nvSpPr>
        <p:spPr>
          <a:xfrm>
            <a:off x="9665846" y="2019653"/>
            <a:ext cx="360000" cy="360000"/>
          </a:xfrm>
          <a:prstGeom prst="ellipse">
            <a:avLst/>
          </a:prstGeom>
          <a:solidFill>
            <a:srgbClr val="00206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ctr">
              <a:spcBef>
                <a:spcPts val="600"/>
              </a:spcBef>
            </a:pPr>
            <a:r>
              <a:rPr lang="es-ES_tradnl" sz="1100" b="1">
                <a:solidFill>
                  <a:schemeClr val="bg1"/>
                </a:solidFill>
              </a:rPr>
              <a:t>3</a:t>
            </a:r>
          </a:p>
        </p:txBody>
      </p:sp>
      <p:sp>
        <p:nvSpPr>
          <p:cNvPr id="46" name="Arrow: Chevron 45">
            <a:extLst>
              <a:ext uri="{FF2B5EF4-FFF2-40B4-BE49-F238E27FC236}">
                <a16:creationId xmlns:a16="http://schemas.microsoft.com/office/drawing/2014/main" id="{CB42456E-3661-919A-BA7D-AD5DFFC4DF77}"/>
              </a:ext>
            </a:extLst>
          </p:cNvPr>
          <p:cNvSpPr/>
          <p:nvPr/>
        </p:nvSpPr>
        <p:spPr>
          <a:xfrm>
            <a:off x="2265159" y="5240715"/>
            <a:ext cx="338328" cy="369332"/>
          </a:xfrm>
          <a:prstGeom prst="chevron">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lstStyle/>
          <a:p>
            <a:pPr marL="171450" indent="-171450" algn="just">
              <a:spcBef>
                <a:spcPts val="600"/>
              </a:spcBef>
              <a:buFont typeface="Arial" pitchFamily="34" charset="0"/>
              <a:buChar char="•"/>
            </a:pPr>
            <a:endParaRPr lang="es-ES_tradnl" sz="1100">
              <a:solidFill>
                <a:schemeClr val="tx1"/>
              </a:solidFill>
            </a:endParaRPr>
          </a:p>
        </p:txBody>
      </p:sp>
    </p:spTree>
    <p:extLst>
      <p:ext uri="{BB962C8B-B14F-4D97-AF65-F5344CB8AC3E}">
        <p14:creationId xmlns:p14="http://schemas.microsoft.com/office/powerpoint/2010/main" val="11214590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B1D99-DC6A-F755-2A58-110D0F17B75A}"/>
            </a:ext>
          </a:extLst>
        </p:cNvPr>
        <p:cNvGrpSpPr/>
        <p:nvPr/>
      </p:nvGrpSpPr>
      <p:grpSpPr>
        <a:xfrm>
          <a:off x="0" y="0"/>
          <a:ext cx="0" cy="0"/>
          <a:chOff x="0" y="0"/>
          <a:chExt cx="0" cy="0"/>
        </a:xfrm>
      </p:grpSpPr>
      <p:sp>
        <p:nvSpPr>
          <p:cNvPr id="47" name="Rounded Rectangle 1">
            <a:extLst>
              <a:ext uri="{FF2B5EF4-FFF2-40B4-BE49-F238E27FC236}">
                <a16:creationId xmlns:a16="http://schemas.microsoft.com/office/drawing/2014/main" id="{585B2E8F-06B6-3F14-2849-836A80843908}"/>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EA8F675F-8B51-876E-4F8F-7356AD3DD002}"/>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grpSp>
        <p:nvGrpSpPr>
          <p:cNvPr id="9" name="Group 8">
            <a:extLst>
              <a:ext uri="{FF2B5EF4-FFF2-40B4-BE49-F238E27FC236}">
                <a16:creationId xmlns:a16="http://schemas.microsoft.com/office/drawing/2014/main" id="{BFB1219B-34F9-642D-4CF2-0A54622A086B}"/>
              </a:ext>
            </a:extLst>
          </p:cNvPr>
          <p:cNvGrpSpPr/>
          <p:nvPr/>
        </p:nvGrpSpPr>
        <p:grpSpPr>
          <a:xfrm>
            <a:off x="142319" y="1322356"/>
            <a:ext cx="1192822" cy="378105"/>
            <a:chOff x="835051" y="1350653"/>
            <a:chExt cx="1192822" cy="378105"/>
          </a:xfrm>
        </p:grpSpPr>
        <p:pic>
          <p:nvPicPr>
            <p:cNvPr id="1032" name="Graphic 17" descr="AWS Step Functions service icon.">
              <a:extLst>
                <a:ext uri="{FF2B5EF4-FFF2-40B4-BE49-F238E27FC236}">
                  <a16:creationId xmlns:a16="http://schemas.microsoft.com/office/drawing/2014/main" id="{A75F8A1D-4266-8608-306C-CC599AC3F191}"/>
                </a:ext>
              </a:extLst>
            </p:cNvPr>
            <p:cNvPicPr>
              <a:picLocks noChangeAspect="1" noChangeArrowheads="1"/>
            </p:cNvPicPr>
            <p:nvPr/>
          </p:nvPicPr>
          <p:blipFill>
            <a:blip>
              <a:extLst>
                <a:ext uri="{96DAC541-7B7A-43D3-8B79-37D633B846F1}">
                  <asvg:svgBlip xmlns:asvg="http://schemas.microsoft.com/office/drawing/2016/SVG/main" r:embed="rId4"/>
                </a:ext>
              </a:extLst>
            </a:blip>
            <a:stretch>
              <a:fillRect/>
            </a:stretch>
          </p:blipFill>
          <p:spPr bwMode="auto">
            <a:xfrm>
              <a:off x="835051" y="1350653"/>
              <a:ext cx="378105" cy="37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Box 9">
              <a:extLst>
                <a:ext uri="{FF2B5EF4-FFF2-40B4-BE49-F238E27FC236}">
                  <a16:creationId xmlns:a16="http://schemas.microsoft.com/office/drawing/2014/main" id="{AAEC840D-0406-C77D-71C0-334EC8A79D65}"/>
                </a:ext>
              </a:extLst>
            </p:cNvPr>
            <p:cNvSpPr txBox="1">
              <a:spLocks noChangeArrowheads="1"/>
            </p:cNvSpPr>
            <p:nvPr/>
          </p:nvSpPr>
          <p:spPr bwMode="auto">
            <a:xfrm>
              <a:off x="1024103" y="1390204"/>
              <a:ext cx="10037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AWS Step Functions</a:t>
              </a:r>
            </a:p>
          </p:txBody>
        </p:sp>
      </p:grpSp>
      <p:grpSp>
        <p:nvGrpSpPr>
          <p:cNvPr id="3" name="Group 2">
            <a:extLst>
              <a:ext uri="{FF2B5EF4-FFF2-40B4-BE49-F238E27FC236}">
                <a16:creationId xmlns:a16="http://schemas.microsoft.com/office/drawing/2014/main" id="{4482CD89-8FE9-CDAC-859E-EA1C341D8349}"/>
              </a:ext>
            </a:extLst>
          </p:cNvPr>
          <p:cNvGrpSpPr/>
          <p:nvPr/>
        </p:nvGrpSpPr>
        <p:grpSpPr>
          <a:xfrm>
            <a:off x="1213155" y="1374178"/>
            <a:ext cx="10651125" cy="274463"/>
            <a:chOff x="1784281" y="5889742"/>
            <a:chExt cx="10080000" cy="261610"/>
          </a:xfrm>
        </p:grpSpPr>
        <p:sp>
          <p:nvSpPr>
            <p:cNvPr id="4" name="Arrow: Pentagon 3">
              <a:extLst>
                <a:ext uri="{FF2B5EF4-FFF2-40B4-BE49-F238E27FC236}">
                  <a16:creationId xmlns:a16="http://schemas.microsoft.com/office/drawing/2014/main" id="{405C1901-F5F7-3DE7-3D36-FA13B7A8012F}"/>
                </a:ext>
              </a:extLst>
            </p:cNvPr>
            <p:cNvSpPr/>
            <p:nvPr/>
          </p:nvSpPr>
          <p:spPr bwMode="auto">
            <a:xfrm>
              <a:off x="1784281" y="5925328"/>
              <a:ext cx="10080000" cy="211458"/>
            </a:xfrm>
            <a:prstGeom prst="homePlate">
              <a:avLst/>
            </a:prstGeom>
            <a:solidFill>
              <a:schemeClr val="tx2"/>
            </a:solidFill>
            <a:ln w="9525">
              <a:noFill/>
              <a:round/>
            </a:ln>
          </p:spPr>
          <p:txBody>
            <a:bodyPr wrap="square" rtlCol="0" anchor="ctr">
              <a:noAutofit/>
            </a:bodyPr>
            <a:lstStyle/>
            <a:p>
              <a:pPr algn="ctr"/>
              <a:endParaRPr lang="es-ES_tradnl" sz="800" b="1">
                <a:solidFill>
                  <a:schemeClr val="bg1"/>
                </a:solidFill>
                <a:latin typeface="Arial" pitchFamily="34" charset="0"/>
                <a:cs typeface="Arial" pitchFamily="34" charset="0"/>
              </a:endParaRPr>
            </a:p>
          </p:txBody>
        </p:sp>
        <p:sp>
          <p:nvSpPr>
            <p:cNvPr id="5" name="TextBox 4">
              <a:extLst>
                <a:ext uri="{FF2B5EF4-FFF2-40B4-BE49-F238E27FC236}">
                  <a16:creationId xmlns:a16="http://schemas.microsoft.com/office/drawing/2014/main" id="{C432AEEC-23C5-C830-F694-40503E8F07C1}"/>
                </a:ext>
              </a:extLst>
            </p:cNvPr>
            <p:cNvSpPr txBox="1"/>
            <p:nvPr/>
          </p:nvSpPr>
          <p:spPr>
            <a:xfrm>
              <a:off x="3159412" y="5889742"/>
              <a:ext cx="8449695" cy="261610"/>
            </a:xfrm>
            <a:prstGeom prst="rect">
              <a:avLst/>
            </a:prstGeom>
            <a:noFill/>
          </p:spPr>
          <p:txBody>
            <a:bodyPr wrap="square" rtlCol="0">
              <a:spAutoFit/>
            </a:bodyPr>
            <a:lstStyle/>
            <a:p>
              <a:r>
                <a:rPr lang="es-ES_tradnl" sz="1100" b="1">
                  <a:solidFill>
                    <a:schemeClr val="bg1"/>
                  </a:solidFill>
                  <a:latin typeface="Arial" pitchFamily="34" charset="0"/>
                  <a:cs typeface="Arial" pitchFamily="34" charset="0"/>
                </a:rPr>
                <a:t>Pipeline único, la particularidades de cada sistema se gestionan mediante ficheros de configuración.</a:t>
              </a:r>
            </a:p>
          </p:txBody>
        </p:sp>
      </p:grpSp>
      <p:pic>
        <p:nvPicPr>
          <p:cNvPr id="7" name="Picture 6">
            <a:extLst>
              <a:ext uri="{FF2B5EF4-FFF2-40B4-BE49-F238E27FC236}">
                <a16:creationId xmlns:a16="http://schemas.microsoft.com/office/drawing/2014/main" id="{9E6193D7-9D91-395D-147D-99DB1A363F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26920" y="327667"/>
            <a:ext cx="1815789" cy="900000"/>
          </a:xfrm>
          <a:prstGeom prst="rect">
            <a:avLst/>
          </a:prstGeom>
        </p:spPr>
      </p:pic>
      <p:sp>
        <p:nvSpPr>
          <p:cNvPr id="10" name="Rectangle 9">
            <a:extLst>
              <a:ext uri="{FF2B5EF4-FFF2-40B4-BE49-F238E27FC236}">
                <a16:creationId xmlns:a16="http://schemas.microsoft.com/office/drawing/2014/main" id="{0A7D887D-8CA5-A4CD-152F-DC4A208B6458}"/>
              </a:ext>
            </a:extLst>
          </p:cNvPr>
          <p:cNvSpPr/>
          <p:nvPr/>
        </p:nvSpPr>
        <p:spPr bwMode="auto">
          <a:xfrm>
            <a:off x="10430934" y="1078757"/>
            <a:ext cx="1618748" cy="148910"/>
          </a:xfrm>
          <a:prstGeom prst="rect">
            <a:avLst/>
          </a:prstGeom>
          <a:noFill/>
          <a:ln w="12700">
            <a:solidFill>
              <a:srgbClr val="FF0000"/>
            </a:solidFill>
            <a:round/>
          </a:ln>
        </p:spPr>
        <p:txBody>
          <a:bodyPr wrap="none" rtlCol="0" anchor="ctr">
            <a:noAutofit/>
          </a:bodyPr>
          <a:lstStyle/>
          <a:p>
            <a:pPr algn="ctr"/>
            <a:endParaRPr lang="es-ES_tradnl"/>
          </a:p>
        </p:txBody>
      </p:sp>
      <p:sp>
        <p:nvSpPr>
          <p:cNvPr id="19" name="Rectangle: Rounded Corners 18">
            <a:extLst>
              <a:ext uri="{FF2B5EF4-FFF2-40B4-BE49-F238E27FC236}">
                <a16:creationId xmlns:a16="http://schemas.microsoft.com/office/drawing/2014/main" id="{2C54BF02-4847-6AE4-4B4B-48D97E4DDE14}"/>
              </a:ext>
            </a:extLst>
          </p:cNvPr>
          <p:cNvSpPr/>
          <p:nvPr/>
        </p:nvSpPr>
        <p:spPr>
          <a:xfrm>
            <a:off x="757799" y="2013323"/>
            <a:ext cx="3397286" cy="1991748"/>
          </a:xfrm>
          <a:prstGeom prst="roundRect">
            <a:avLst/>
          </a:prstGeom>
          <a:solidFill>
            <a:schemeClr val="bg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just">
              <a:spcBef>
                <a:spcPts val="600"/>
              </a:spcBef>
            </a:pPr>
            <a:r>
              <a:rPr lang="es-ES_tradnl" sz="900">
                <a:solidFill>
                  <a:schemeClr val="tx1"/>
                </a:solidFill>
                <a:latin typeface="+mj-lt"/>
                <a:cs typeface="Arial" pitchFamily="34" charset="0"/>
              </a:rPr>
              <a:t>Se busca tener una arquitectura modular, con reutilización de componentes de forma que se reduzca el mantenimiento del software</a:t>
            </a:r>
          </a:p>
          <a:p>
            <a:pPr algn="just">
              <a:spcBef>
                <a:spcPts val="600"/>
              </a:spcBef>
            </a:pPr>
            <a:endParaRPr lang="es-ES_tradnl" sz="900">
              <a:solidFill>
                <a:schemeClr val="tx1"/>
              </a:solidFill>
              <a:latin typeface="+mj-lt"/>
            </a:endParaRPr>
          </a:p>
        </p:txBody>
      </p:sp>
      <p:sp>
        <p:nvSpPr>
          <p:cNvPr id="21" name="Rectangle: Rounded Corners 20">
            <a:extLst>
              <a:ext uri="{FF2B5EF4-FFF2-40B4-BE49-F238E27FC236}">
                <a16:creationId xmlns:a16="http://schemas.microsoft.com/office/drawing/2014/main" id="{2956ACD6-A688-8309-CA8C-E5E40B56D5E4}"/>
              </a:ext>
            </a:extLst>
          </p:cNvPr>
          <p:cNvSpPr/>
          <p:nvPr/>
        </p:nvSpPr>
        <p:spPr>
          <a:xfrm>
            <a:off x="4390798" y="2013323"/>
            <a:ext cx="3410404" cy="1991749"/>
          </a:xfrm>
          <a:prstGeom prst="roundRect">
            <a:avLst/>
          </a:prstGeom>
          <a:solidFill>
            <a:schemeClr val="bg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just">
              <a:spcBef>
                <a:spcPts val="600"/>
              </a:spcBef>
            </a:pPr>
            <a:r>
              <a:rPr lang="es-ES_tradnl" sz="900">
                <a:solidFill>
                  <a:schemeClr val="tx1"/>
                </a:solidFill>
                <a:latin typeface="+mj-lt"/>
                <a:cs typeface="Arial" pitchFamily="34" charset="0"/>
              </a:rPr>
              <a:t>En el caso del proceso de cargar de Contratos y Saldos Operacionales Diarios se tendrá un único Step Function que recibirá como parámetro el sistema origen, a partir de este parámetro se  personaliza la lógica necesaria en cada subproceso.</a:t>
            </a:r>
          </a:p>
        </p:txBody>
      </p:sp>
      <p:sp>
        <p:nvSpPr>
          <p:cNvPr id="23" name="Rectangle: Rounded Corners 22">
            <a:extLst>
              <a:ext uri="{FF2B5EF4-FFF2-40B4-BE49-F238E27FC236}">
                <a16:creationId xmlns:a16="http://schemas.microsoft.com/office/drawing/2014/main" id="{E629CF06-DD8F-DC76-1C5D-34FF276CC67E}"/>
              </a:ext>
            </a:extLst>
          </p:cNvPr>
          <p:cNvSpPr/>
          <p:nvPr/>
        </p:nvSpPr>
        <p:spPr>
          <a:xfrm>
            <a:off x="8033158" y="2013323"/>
            <a:ext cx="3410404" cy="1991749"/>
          </a:xfrm>
          <a:prstGeom prst="roundRect">
            <a:avLst/>
          </a:prstGeom>
          <a:solidFill>
            <a:schemeClr val="bg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just">
              <a:spcBef>
                <a:spcPts val="600"/>
              </a:spcBef>
            </a:pPr>
            <a:r>
              <a:rPr lang="es-ES_tradnl" sz="900">
                <a:solidFill>
                  <a:schemeClr val="tx1"/>
                </a:solidFill>
                <a:latin typeface="+mj-lt"/>
                <a:cs typeface="Arial" pitchFamily="34" charset="0"/>
              </a:rPr>
              <a:t>La configuración del Step Function se realiza en ficheros de configuración json siguiendo el formato ASL</a:t>
            </a:r>
          </a:p>
          <a:p>
            <a:pPr algn="just">
              <a:spcBef>
                <a:spcPts val="600"/>
              </a:spcBef>
            </a:pPr>
            <a:endParaRPr lang="es-ES_tradnl" sz="900">
              <a:solidFill>
                <a:schemeClr val="tx1"/>
              </a:solidFill>
              <a:latin typeface="+mj-lt"/>
              <a:cs typeface="Arial" pitchFamily="34" charset="0"/>
            </a:endParaRPr>
          </a:p>
          <a:p>
            <a:pPr marL="171450" indent="-171450" algn="just">
              <a:buFont typeface="Arial" pitchFamily="34" charset="0"/>
              <a:buChar char="•"/>
            </a:pPr>
            <a:r>
              <a:rPr lang="es-ES_tradnl" sz="900">
                <a:solidFill>
                  <a:schemeClr val="tx1"/>
                </a:solidFill>
                <a:latin typeface="+mj-lt"/>
              </a:rPr>
              <a:t>Incluye los diferentes pasos a ejecutar y sus dependencias</a:t>
            </a:r>
          </a:p>
          <a:p>
            <a:pPr marL="171450" indent="-171450" algn="just">
              <a:buFont typeface="Arial" pitchFamily="34" charset="0"/>
              <a:buChar char="•"/>
            </a:pPr>
            <a:r>
              <a:rPr lang="es-ES_tradnl" sz="900">
                <a:solidFill>
                  <a:schemeClr val="tx1"/>
                </a:solidFill>
                <a:latin typeface="+mj-lt"/>
              </a:rPr>
              <a:t>En función del sistema origen se adecuan los ficheros de configuración</a:t>
            </a:r>
          </a:p>
          <a:p>
            <a:pPr marL="171450" indent="-171450" algn="just">
              <a:buFont typeface="Arial" pitchFamily="34" charset="0"/>
              <a:buChar char="•"/>
            </a:pPr>
            <a:r>
              <a:rPr lang="es-ES_tradnl" sz="900">
                <a:solidFill>
                  <a:schemeClr val="tx1"/>
                </a:solidFill>
                <a:latin typeface="+mj-lt"/>
              </a:rPr>
              <a:t>Los estados de cada uno de los pasos se actualizan en una tabla en DynamoDB </a:t>
            </a:r>
          </a:p>
          <a:p>
            <a:pPr marL="171450" indent="-171450" algn="just">
              <a:buFont typeface="Arial" pitchFamily="34" charset="0"/>
              <a:buChar char="•"/>
            </a:pPr>
            <a:r>
              <a:rPr lang="es-ES_tradnl" sz="900">
                <a:solidFill>
                  <a:schemeClr val="tx1"/>
                </a:solidFill>
                <a:latin typeface="+mj-lt"/>
              </a:rPr>
              <a:t>Esta integración con DynamoDB permite generar Checkpoints de forma que ante un error en el proceso se pueda comenzar la re-ejecución desde el punto de error</a:t>
            </a:r>
          </a:p>
        </p:txBody>
      </p:sp>
      <p:sp>
        <p:nvSpPr>
          <p:cNvPr id="25" name="Rectangle: Rounded Corners 24">
            <a:extLst>
              <a:ext uri="{FF2B5EF4-FFF2-40B4-BE49-F238E27FC236}">
                <a16:creationId xmlns:a16="http://schemas.microsoft.com/office/drawing/2014/main" id="{CD8AF7A7-EBC0-5741-1674-30826A02A9FD}"/>
              </a:ext>
            </a:extLst>
          </p:cNvPr>
          <p:cNvSpPr/>
          <p:nvPr/>
        </p:nvSpPr>
        <p:spPr>
          <a:xfrm>
            <a:off x="8044051" y="4353873"/>
            <a:ext cx="3410404" cy="1920427"/>
          </a:xfrm>
          <a:prstGeom prst="roundRect">
            <a:avLst/>
          </a:prstGeom>
          <a:solidFill>
            <a:schemeClr val="bg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just">
              <a:spcBef>
                <a:spcPts val="600"/>
              </a:spcBef>
            </a:pPr>
            <a:r>
              <a:rPr lang="es-ES_tradnl" sz="900">
                <a:solidFill>
                  <a:schemeClr val="tx1"/>
                </a:solidFill>
                <a:latin typeface="+mj-lt"/>
                <a:cs typeface="Arial" pitchFamily="34" charset="0"/>
              </a:rPr>
              <a:t>Cada proceso genera las estadísticas de entrada/salida/error/warings, que se actualizan en tablas de DynamoDB mediante una componente genérica de log, esto permite tener un log funcional detallado de cada uno de los procesos.</a:t>
            </a:r>
          </a:p>
        </p:txBody>
      </p:sp>
      <p:sp>
        <p:nvSpPr>
          <p:cNvPr id="27" name="Rectangle: Rounded Corners 26">
            <a:extLst>
              <a:ext uri="{FF2B5EF4-FFF2-40B4-BE49-F238E27FC236}">
                <a16:creationId xmlns:a16="http://schemas.microsoft.com/office/drawing/2014/main" id="{E37814D7-4FBC-5146-7E4A-D74711DF7A81}"/>
              </a:ext>
            </a:extLst>
          </p:cNvPr>
          <p:cNvSpPr/>
          <p:nvPr/>
        </p:nvSpPr>
        <p:spPr>
          <a:xfrm>
            <a:off x="4401691" y="4353874"/>
            <a:ext cx="3410404" cy="1920426"/>
          </a:xfrm>
          <a:prstGeom prst="roundRect">
            <a:avLst/>
          </a:prstGeom>
          <a:solidFill>
            <a:schemeClr val="bg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just">
              <a:spcBef>
                <a:spcPts val="600"/>
              </a:spcBef>
            </a:pPr>
            <a:r>
              <a:rPr lang="es-ES_tradnl" sz="900">
                <a:solidFill>
                  <a:schemeClr val="tx1"/>
                </a:solidFill>
                <a:latin typeface="+mj-lt"/>
                <a:cs typeface="Arial" pitchFamily="34" charset="0"/>
              </a:rPr>
              <a:t>La información de log de DynamoDB se consolida en base de datos – pendiente definir si en tablas Redshift o base datos Aurora – para facilitar la explotación en dashborad de seguimiento.</a:t>
            </a:r>
          </a:p>
        </p:txBody>
      </p:sp>
      <p:sp>
        <p:nvSpPr>
          <p:cNvPr id="29" name="Rectangle: Rounded Corners 28">
            <a:extLst>
              <a:ext uri="{FF2B5EF4-FFF2-40B4-BE49-F238E27FC236}">
                <a16:creationId xmlns:a16="http://schemas.microsoft.com/office/drawing/2014/main" id="{26C169EF-691C-ED54-5AE8-0146CEDB257A}"/>
              </a:ext>
            </a:extLst>
          </p:cNvPr>
          <p:cNvSpPr/>
          <p:nvPr/>
        </p:nvSpPr>
        <p:spPr>
          <a:xfrm>
            <a:off x="757799" y="4353872"/>
            <a:ext cx="3410404" cy="1920427"/>
          </a:xfrm>
          <a:prstGeom prst="roundRect">
            <a:avLst/>
          </a:prstGeom>
          <a:solidFill>
            <a:schemeClr val="bg2">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lstStyle/>
          <a:p>
            <a:pPr algn="just">
              <a:spcBef>
                <a:spcPts val="600"/>
              </a:spcBef>
            </a:pPr>
            <a:r>
              <a:rPr lang="es-ES_tradnl" sz="900">
                <a:solidFill>
                  <a:schemeClr val="tx1"/>
                </a:solidFill>
                <a:latin typeface="+mj-lt"/>
                <a:cs typeface="Arial" pitchFamily="34" charset="0"/>
              </a:rPr>
              <a:t>El log técnico de ejecución de Step Function se integra de forma nativa en CloudWatch </a:t>
            </a:r>
          </a:p>
        </p:txBody>
      </p:sp>
      <p:sp>
        <p:nvSpPr>
          <p:cNvPr id="31" name="Isosceles Triangle 30">
            <a:extLst>
              <a:ext uri="{FF2B5EF4-FFF2-40B4-BE49-F238E27FC236}">
                <a16:creationId xmlns:a16="http://schemas.microsoft.com/office/drawing/2014/main" id="{CB063A86-E66D-8A17-DDBE-77F109033D72}"/>
              </a:ext>
            </a:extLst>
          </p:cNvPr>
          <p:cNvSpPr/>
          <p:nvPr/>
        </p:nvSpPr>
        <p:spPr>
          <a:xfrm rot="5400000">
            <a:off x="3302759" y="2907791"/>
            <a:ext cx="1991750" cy="172250"/>
          </a:xfrm>
          <a:prstGeom prst="triangle">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atin typeface="+mj-lt"/>
            </a:endParaRPr>
          </a:p>
        </p:txBody>
      </p:sp>
      <p:sp>
        <p:nvSpPr>
          <p:cNvPr id="33" name="Isosceles Triangle 32">
            <a:extLst>
              <a:ext uri="{FF2B5EF4-FFF2-40B4-BE49-F238E27FC236}">
                <a16:creationId xmlns:a16="http://schemas.microsoft.com/office/drawing/2014/main" id="{375548A8-7856-F4F4-3DD6-F84B558ED35D}"/>
              </a:ext>
            </a:extLst>
          </p:cNvPr>
          <p:cNvSpPr/>
          <p:nvPr/>
        </p:nvSpPr>
        <p:spPr>
          <a:xfrm rot="5400000">
            <a:off x="6921305" y="2907791"/>
            <a:ext cx="1991750" cy="172250"/>
          </a:xfrm>
          <a:prstGeom prst="triangle">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atin typeface="+mj-lt"/>
            </a:endParaRPr>
          </a:p>
        </p:txBody>
      </p:sp>
      <p:sp>
        <p:nvSpPr>
          <p:cNvPr id="35" name="Isosceles Triangle 34">
            <a:extLst>
              <a:ext uri="{FF2B5EF4-FFF2-40B4-BE49-F238E27FC236}">
                <a16:creationId xmlns:a16="http://schemas.microsoft.com/office/drawing/2014/main" id="{36D4AFAB-7FBA-4936-3EB7-AB3FC0EA8A03}"/>
              </a:ext>
            </a:extLst>
          </p:cNvPr>
          <p:cNvSpPr/>
          <p:nvPr/>
        </p:nvSpPr>
        <p:spPr>
          <a:xfrm rot="10800000">
            <a:off x="8753378" y="4108471"/>
            <a:ext cx="1991750" cy="172250"/>
          </a:xfrm>
          <a:prstGeom prst="triangle">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atin typeface="+mj-lt"/>
            </a:endParaRPr>
          </a:p>
        </p:txBody>
      </p:sp>
      <p:sp>
        <p:nvSpPr>
          <p:cNvPr id="37" name="Isosceles Triangle 36">
            <a:extLst>
              <a:ext uri="{FF2B5EF4-FFF2-40B4-BE49-F238E27FC236}">
                <a16:creationId xmlns:a16="http://schemas.microsoft.com/office/drawing/2014/main" id="{A1024DAE-310E-793F-15EF-B0E8AF9C5DA4}"/>
              </a:ext>
            </a:extLst>
          </p:cNvPr>
          <p:cNvSpPr/>
          <p:nvPr/>
        </p:nvSpPr>
        <p:spPr>
          <a:xfrm rot="16200000">
            <a:off x="6910637" y="5263624"/>
            <a:ext cx="1991750" cy="172250"/>
          </a:xfrm>
          <a:prstGeom prst="triangle">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atin typeface="+mj-lt"/>
            </a:endParaRPr>
          </a:p>
        </p:txBody>
      </p:sp>
      <p:sp>
        <p:nvSpPr>
          <p:cNvPr id="39" name="Isosceles Triangle 38">
            <a:extLst>
              <a:ext uri="{FF2B5EF4-FFF2-40B4-BE49-F238E27FC236}">
                <a16:creationId xmlns:a16="http://schemas.microsoft.com/office/drawing/2014/main" id="{FCAE545D-5E22-E19A-4C82-9C6D038FE43E}"/>
              </a:ext>
            </a:extLst>
          </p:cNvPr>
          <p:cNvSpPr/>
          <p:nvPr/>
        </p:nvSpPr>
        <p:spPr>
          <a:xfrm rot="16200000">
            <a:off x="3289072" y="5177498"/>
            <a:ext cx="1991750" cy="172250"/>
          </a:xfrm>
          <a:prstGeom prst="triangle">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atin typeface="+mj-lt"/>
            </a:endParaRPr>
          </a:p>
        </p:txBody>
      </p:sp>
      <p:grpSp>
        <p:nvGrpSpPr>
          <p:cNvPr id="40" name="Group 39">
            <a:extLst>
              <a:ext uri="{FF2B5EF4-FFF2-40B4-BE49-F238E27FC236}">
                <a16:creationId xmlns:a16="http://schemas.microsoft.com/office/drawing/2014/main" id="{D8AB7AAD-8A71-D0BD-8140-190B5ABE2334}"/>
              </a:ext>
            </a:extLst>
          </p:cNvPr>
          <p:cNvGrpSpPr/>
          <p:nvPr/>
        </p:nvGrpSpPr>
        <p:grpSpPr>
          <a:xfrm>
            <a:off x="9471801" y="5664649"/>
            <a:ext cx="841315" cy="468855"/>
            <a:chOff x="7754896" y="3062065"/>
            <a:chExt cx="841315" cy="468855"/>
          </a:xfrm>
        </p:grpSpPr>
        <p:pic>
          <p:nvPicPr>
            <p:cNvPr id="41" name="Graphic 23" descr="Amazon DynamoDB service icon.">
              <a:extLst>
                <a:ext uri="{FF2B5EF4-FFF2-40B4-BE49-F238E27FC236}">
                  <a16:creationId xmlns:a16="http://schemas.microsoft.com/office/drawing/2014/main" id="{54BD394A-FEED-CB6D-148B-E1EF2D27EC79}"/>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8030391" y="3062065"/>
              <a:ext cx="253411" cy="2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12">
              <a:extLst>
                <a:ext uri="{FF2B5EF4-FFF2-40B4-BE49-F238E27FC236}">
                  <a16:creationId xmlns:a16="http://schemas.microsoft.com/office/drawing/2014/main" id="{9D0F8450-7A64-3CB9-3403-5429908368D0}"/>
                </a:ext>
              </a:extLst>
            </p:cNvPr>
            <p:cNvSpPr txBox="1">
              <a:spLocks noChangeArrowheads="1"/>
            </p:cNvSpPr>
            <p:nvPr/>
          </p:nvSpPr>
          <p:spPr bwMode="auto">
            <a:xfrm>
              <a:off x="7754896" y="3315476"/>
              <a:ext cx="84131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DynamoDB</a:t>
              </a:r>
            </a:p>
          </p:txBody>
        </p:sp>
      </p:grpSp>
      <p:grpSp>
        <p:nvGrpSpPr>
          <p:cNvPr id="43" name="Group 42">
            <a:extLst>
              <a:ext uri="{FF2B5EF4-FFF2-40B4-BE49-F238E27FC236}">
                <a16:creationId xmlns:a16="http://schemas.microsoft.com/office/drawing/2014/main" id="{30F660CC-E0E7-3CD4-8D5B-9C03CD8D3F96}"/>
              </a:ext>
            </a:extLst>
          </p:cNvPr>
          <p:cNvGrpSpPr/>
          <p:nvPr/>
        </p:nvGrpSpPr>
        <p:grpSpPr>
          <a:xfrm>
            <a:off x="5748988" y="5664649"/>
            <a:ext cx="841315" cy="468855"/>
            <a:chOff x="7754896" y="3062065"/>
            <a:chExt cx="841315" cy="468855"/>
          </a:xfrm>
        </p:grpSpPr>
        <p:pic>
          <p:nvPicPr>
            <p:cNvPr id="44" name="Graphic 23" descr="Amazon DynamoDB service icon.">
              <a:extLst>
                <a:ext uri="{FF2B5EF4-FFF2-40B4-BE49-F238E27FC236}">
                  <a16:creationId xmlns:a16="http://schemas.microsoft.com/office/drawing/2014/main" id="{41D2A27A-6FF9-A9A7-B029-986499DE7C62}"/>
                </a:ext>
              </a:extLst>
            </p:cNvPr>
            <p:cNvPicPr>
              <a:picLocks noChangeAspect="1" noChangeArrowheads="1"/>
            </p:cNvPicPr>
            <p:nvPr/>
          </p:nvPicPr>
          <p:blipFill>
            <a:blip>
              <a:extLst>
                <a:ext uri="{96DAC541-7B7A-43D3-8B79-37D633B846F1}">
                  <asvg:svgBlip xmlns:asvg="http://schemas.microsoft.com/office/drawing/2016/SVG/main" r:embed="rId6"/>
                </a:ext>
              </a:extLst>
            </a:blip>
            <a:stretch>
              <a:fillRect/>
            </a:stretch>
          </p:blipFill>
          <p:spPr bwMode="auto">
            <a:xfrm>
              <a:off x="8030391" y="3062065"/>
              <a:ext cx="253411" cy="2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12">
              <a:extLst>
                <a:ext uri="{FF2B5EF4-FFF2-40B4-BE49-F238E27FC236}">
                  <a16:creationId xmlns:a16="http://schemas.microsoft.com/office/drawing/2014/main" id="{0E87B4CD-9F21-0A78-A3D2-5743F77F6D54}"/>
                </a:ext>
              </a:extLst>
            </p:cNvPr>
            <p:cNvSpPr txBox="1">
              <a:spLocks noChangeArrowheads="1"/>
            </p:cNvSpPr>
            <p:nvPr/>
          </p:nvSpPr>
          <p:spPr bwMode="auto">
            <a:xfrm>
              <a:off x="7754896" y="3315476"/>
              <a:ext cx="84131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DynamoDB</a:t>
              </a:r>
            </a:p>
          </p:txBody>
        </p:sp>
      </p:grpSp>
      <p:grpSp>
        <p:nvGrpSpPr>
          <p:cNvPr id="46" name="Group 45">
            <a:extLst>
              <a:ext uri="{FF2B5EF4-FFF2-40B4-BE49-F238E27FC236}">
                <a16:creationId xmlns:a16="http://schemas.microsoft.com/office/drawing/2014/main" id="{54B18C61-50FA-6807-8191-25ABF4760CD8}"/>
              </a:ext>
            </a:extLst>
          </p:cNvPr>
          <p:cNvGrpSpPr/>
          <p:nvPr/>
        </p:nvGrpSpPr>
        <p:grpSpPr>
          <a:xfrm>
            <a:off x="1959490" y="5648702"/>
            <a:ext cx="816787" cy="480354"/>
            <a:chOff x="2748526" y="1353119"/>
            <a:chExt cx="816787" cy="480354"/>
          </a:xfrm>
        </p:grpSpPr>
        <p:pic>
          <p:nvPicPr>
            <p:cNvPr id="48" name="Graphic 17" descr="Amazon CloudWatch service icon.">
              <a:extLst>
                <a:ext uri="{FF2B5EF4-FFF2-40B4-BE49-F238E27FC236}">
                  <a16:creationId xmlns:a16="http://schemas.microsoft.com/office/drawing/2014/main" id="{5FB2D881-FF02-4EC2-BC57-1EAF11C9AB53}"/>
                </a:ext>
              </a:extLst>
            </p:cNvPr>
            <p:cNvPicPr>
              <a:picLocks noChangeAspect="1" noChangeArrowheads="1"/>
            </p:cNvPicPr>
            <p:nvPr/>
          </p:nvPicPr>
          <p:blipFill>
            <a:blip>
              <a:extLst>
                <a:ext uri="{96DAC541-7B7A-43D3-8B79-37D633B846F1}">
                  <asvg:svgBlip xmlns:asvg="http://schemas.microsoft.com/office/drawing/2016/SVG/main" r:embed="rId7"/>
                </a:ext>
              </a:extLst>
            </a:blip>
            <a:stretch>
              <a:fillRect/>
            </a:stretch>
          </p:blipFill>
          <p:spPr bwMode="auto">
            <a:xfrm>
              <a:off x="2991811" y="1353119"/>
              <a:ext cx="2769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Box 9">
              <a:extLst>
                <a:ext uri="{FF2B5EF4-FFF2-40B4-BE49-F238E27FC236}">
                  <a16:creationId xmlns:a16="http://schemas.microsoft.com/office/drawing/2014/main" id="{6E5DDDDD-A30D-F66B-2726-D991F3A6EA1A}"/>
                </a:ext>
              </a:extLst>
            </p:cNvPr>
            <p:cNvSpPr txBox="1">
              <a:spLocks noChangeArrowheads="1"/>
            </p:cNvSpPr>
            <p:nvPr/>
          </p:nvSpPr>
          <p:spPr bwMode="auto">
            <a:xfrm>
              <a:off x="2748526" y="1618029"/>
              <a:ext cx="81678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_tradnl"/>
              </a:defPPr>
              <a:lvl1pPr algn="ctr">
                <a:defRPr sz="800" b="1">
                  <a:latin typeface="Arial" pitchFamily="34" charset="0"/>
                  <a:ea typeface="Amazon Ember" panose="020B0603020204020204" pitchFamily="34" charset="0"/>
                  <a:cs typeface="Arial"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a:t>CloudWatch</a:t>
              </a:r>
            </a:p>
          </p:txBody>
        </p:sp>
      </p:grpSp>
    </p:spTree>
    <p:extLst>
      <p:ext uri="{BB962C8B-B14F-4D97-AF65-F5344CB8AC3E}">
        <p14:creationId xmlns:p14="http://schemas.microsoft.com/office/powerpoint/2010/main" val="112367603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BE0A6-1029-54E9-D562-868EA6676B0D}"/>
            </a:ext>
          </a:extLst>
        </p:cNvPr>
        <p:cNvGrpSpPr/>
        <p:nvPr/>
      </p:nvGrpSpPr>
      <p:grpSpPr>
        <a:xfrm>
          <a:off x="0" y="0"/>
          <a:ext cx="0" cy="0"/>
          <a:chOff x="0" y="0"/>
          <a:chExt cx="0" cy="0"/>
        </a:xfrm>
      </p:grpSpPr>
      <p:sp>
        <p:nvSpPr>
          <p:cNvPr id="47" name="Rounded Rectangle 1">
            <a:extLst>
              <a:ext uri="{FF2B5EF4-FFF2-40B4-BE49-F238E27FC236}">
                <a16:creationId xmlns:a16="http://schemas.microsoft.com/office/drawing/2014/main" id="{36FF6427-7F2B-1880-09FE-9A0766E0AFA8}"/>
              </a:ext>
            </a:extLst>
          </p:cNvPr>
          <p:cNvSpPr/>
          <p:nvPr/>
        </p:nvSpPr>
        <p:spPr bwMode="auto">
          <a:xfrm>
            <a:off x="142319" y="445589"/>
            <a:ext cx="384000" cy="384000"/>
          </a:xfrm>
          <a:prstGeom prst="roundRect">
            <a:avLst/>
          </a:prstGeom>
          <a:solidFill>
            <a:schemeClr val="tx2"/>
          </a:solidFill>
          <a:ln w="9525">
            <a:noFill/>
            <a:round/>
          </a:ln>
        </p:spPr>
        <p:txBody>
          <a:bodyPr wrap="none" rtlCol="0" anchor="ctr">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 sz="2400" b="1" i="0" u="none" strike="noStrike" kern="1200" cap="none" spc="0" normalizeH="0" baseline="0" noProof="0">
                <a:ln>
                  <a:noFill/>
                </a:ln>
                <a:solidFill>
                  <a:srgbClr val="FFFFFF"/>
                </a:solidFill>
                <a:effectLst/>
                <a:uLnTx/>
                <a:uFillTx/>
                <a:latin typeface="Segoe Print" panose="02000600000000000000" pitchFamily="2" charset="0"/>
                <a:ea typeface="+mn-ea"/>
                <a:cs typeface="Segoe UI Semibold" panose="020B0702040204020203" pitchFamily="34" charset="0"/>
              </a:rPr>
              <a:t>1</a:t>
            </a:r>
          </a:p>
        </p:txBody>
      </p:sp>
      <p:sp>
        <p:nvSpPr>
          <p:cNvPr id="49" name="Rectangle 48">
            <a:extLst>
              <a:ext uri="{FF2B5EF4-FFF2-40B4-BE49-F238E27FC236}">
                <a16:creationId xmlns:a16="http://schemas.microsoft.com/office/drawing/2014/main" id="{9B067339-9054-8BCA-4ACF-52D813921650}"/>
              </a:ext>
            </a:extLst>
          </p:cNvPr>
          <p:cNvSpPr>
            <a:spLocks noChangeArrowheads="1"/>
          </p:cNvSpPr>
          <p:nvPr>
            <p:custDataLst>
              <p:tags r:id="rId1"/>
            </p:custDataLst>
          </p:nvPr>
        </p:nvSpPr>
        <p:spPr bwMode="gray">
          <a:xfrm>
            <a:off x="538342" y="398224"/>
            <a:ext cx="9289981" cy="758887"/>
          </a:xfrm>
          <a:prstGeom prst="rect">
            <a:avLst/>
          </a:prstGeom>
          <a:noFill/>
          <a:ln w="9525">
            <a:noFill/>
            <a:miter lim="800000"/>
          </a:ln>
          <a:effectLst/>
        </p:spPr>
        <p:txBody>
          <a:bodyPr wrap="square" lIns="103844" tIns="51924" rIns="103844" bIns="51924">
            <a:spAutoFit/>
          </a:bodyPr>
          <a:lstStyle/>
          <a:p>
            <a:pPr marL="0" marR="0" lvl="0" indent="0" algn="l" defTabSz="1219170" rtl="0" eaLnBrk="1" fontAlgn="auto" latinLnBrk="0" hangingPunct="1">
              <a:lnSpc>
                <a:spcPts val="1733"/>
              </a:lnSpc>
              <a:spcBef>
                <a:spcPct val="0"/>
              </a:spcBef>
              <a:spcAft>
                <a:spcPct val="0"/>
              </a:spcAft>
              <a:buClrTx/>
              <a:buSzTx/>
              <a:buFontTx/>
              <a:buNone/>
              <a:defRPr/>
            </a:pPr>
            <a:r>
              <a:rPr lang="es-ES" sz="2133" b="1" kern="0">
                <a:solidFill>
                  <a:srgbClr val="002569"/>
                </a:solidFill>
                <a:latin typeface="Segoe UI Light"/>
              </a:rPr>
              <a:t>Diseño Técnico</a:t>
            </a:r>
            <a:endParaRPr kumimoji="0" lang="es-ES" sz="2133" b="1" i="0" u="none" strike="noStrike" kern="0" cap="none" spc="0" normalizeH="0" baseline="0" noProof="0">
              <a:ln>
                <a:noFill/>
              </a:ln>
              <a:solidFill>
                <a:srgbClr val="002569"/>
              </a:solidFill>
              <a:effectLst/>
              <a:uLnTx/>
              <a:uFillTx/>
              <a:latin typeface="Segoe UI Light"/>
              <a:ea typeface="+mn-ea"/>
              <a:cs typeface="+mn-cs"/>
            </a:endParaRPr>
          </a:p>
          <a:p>
            <a:pPr marL="0" marR="0" lvl="0" indent="0" algn="l" defTabSz="1219170" rtl="0" eaLnBrk="1" fontAlgn="auto" latinLnBrk="0" hangingPunct="1">
              <a:lnSpc>
                <a:spcPts val="1733"/>
              </a:lnSpc>
              <a:spcBef>
                <a:spcPct val="0"/>
              </a:spcBef>
              <a:spcAft>
                <a:spcPct val="0"/>
              </a:spcAft>
              <a:buClrTx/>
              <a:buSzTx/>
              <a:buFontTx/>
              <a:buNone/>
              <a:defRPr/>
            </a:pPr>
            <a:r>
              <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rPr>
              <a:t>Flujo Aprovisionamiento Contratos y Saldos Operacionales Diarios</a:t>
            </a:r>
          </a:p>
          <a:p>
            <a:pPr marL="0" marR="0" lvl="0" indent="0" algn="l" defTabSz="1219170" rtl="0" eaLnBrk="1" fontAlgn="auto" latinLnBrk="0" hangingPunct="1">
              <a:lnSpc>
                <a:spcPts val="1733"/>
              </a:lnSpc>
              <a:spcBef>
                <a:spcPct val="0"/>
              </a:spcBef>
              <a:spcAft>
                <a:spcPct val="0"/>
              </a:spcAft>
              <a:buClrTx/>
              <a:buSzTx/>
              <a:buFontTx/>
              <a:buNone/>
              <a:defRPr/>
            </a:pPr>
            <a:endParaRPr kumimoji="0" lang="es-ES" sz="1600" b="1" i="0" u="none" strike="noStrike" kern="0" cap="none" spc="0" normalizeH="0" baseline="0" noProof="0">
              <a:ln>
                <a:noFill/>
              </a:ln>
              <a:solidFill>
                <a:srgbClr val="E0D399">
                  <a:lumMod val="75000"/>
                </a:srgbClr>
              </a:solidFill>
              <a:effectLst/>
              <a:uLnTx/>
              <a:uFillTx/>
              <a:latin typeface="Segoe UI Light"/>
              <a:ea typeface="+mn-ea"/>
              <a:cs typeface="+mn-cs"/>
            </a:endParaRPr>
          </a:p>
        </p:txBody>
      </p:sp>
      <p:sp>
        <p:nvSpPr>
          <p:cNvPr id="6" name="TextBox 5">
            <a:extLst>
              <a:ext uri="{FF2B5EF4-FFF2-40B4-BE49-F238E27FC236}">
                <a16:creationId xmlns:a16="http://schemas.microsoft.com/office/drawing/2014/main" id="{F39705C9-78B4-F589-EADE-3C569EB57621}"/>
              </a:ext>
            </a:extLst>
          </p:cNvPr>
          <p:cNvSpPr txBox="1"/>
          <p:nvPr/>
        </p:nvSpPr>
        <p:spPr>
          <a:xfrm>
            <a:off x="520425" y="1657123"/>
            <a:ext cx="9800858" cy="215444"/>
          </a:xfrm>
          <a:prstGeom prst="rect">
            <a:avLst/>
          </a:prstGeom>
          <a:noFill/>
        </p:spPr>
        <p:txBody>
          <a:bodyPr wrap="square" rtlCol="0">
            <a:spAutoFit/>
          </a:bodyPr>
          <a:lstStyle/>
          <a:p>
            <a:endParaRPr lang="es-ES_tradnl" sz="800" b="1">
              <a:latin typeface="Arial" pitchFamily="34" charset="0"/>
              <a:cs typeface="Arial" pitchFamily="34" charset="0"/>
            </a:endParaRPr>
          </a:p>
        </p:txBody>
      </p:sp>
      <p:pic>
        <p:nvPicPr>
          <p:cNvPr id="17" name="Picture 16">
            <a:extLst>
              <a:ext uri="{FF2B5EF4-FFF2-40B4-BE49-F238E27FC236}">
                <a16:creationId xmlns:a16="http://schemas.microsoft.com/office/drawing/2014/main" id="{0330E223-FE20-C829-D624-3CF3E05F9A1F}"/>
              </a:ext>
            </a:extLst>
          </p:cNvPr>
          <p:cNvPicPr>
            <a:picLocks noChangeAspect="1"/>
          </p:cNvPicPr>
          <p:nvPr/>
        </p:nvPicPr>
        <p:blipFill>
          <a:blip r:embed="rId4"/>
          <a:stretch>
            <a:fillRect/>
          </a:stretch>
        </p:blipFill>
        <p:spPr>
          <a:xfrm>
            <a:off x="1870717" y="1637196"/>
            <a:ext cx="2605241" cy="4663927"/>
          </a:xfrm>
          <a:prstGeom prst="rect">
            <a:avLst/>
          </a:prstGeom>
        </p:spPr>
      </p:pic>
      <p:sp>
        <p:nvSpPr>
          <p:cNvPr id="7" name="TextBox 6">
            <a:extLst>
              <a:ext uri="{FF2B5EF4-FFF2-40B4-BE49-F238E27FC236}">
                <a16:creationId xmlns:a16="http://schemas.microsoft.com/office/drawing/2014/main" id="{CC7514D6-9A9A-E451-411F-48646E4BE08F}"/>
              </a:ext>
            </a:extLst>
          </p:cNvPr>
          <p:cNvSpPr txBox="1"/>
          <p:nvPr/>
        </p:nvSpPr>
        <p:spPr>
          <a:xfrm>
            <a:off x="4865357" y="1802148"/>
            <a:ext cx="4212000" cy="230832"/>
          </a:xfrm>
          <a:prstGeom prst="rect">
            <a:avLst/>
          </a:prstGeom>
          <a:noFill/>
          <a:ln>
            <a:solidFill>
              <a:schemeClr val="tx1"/>
            </a:solidFill>
            <a:prstDash val="dash"/>
          </a:ln>
        </p:spPr>
        <p:txBody>
          <a:bodyPr wrap="square" rtlCol="0">
            <a:spAutoFit/>
          </a:bodyPr>
          <a:lstStyle/>
          <a:p>
            <a:pPr algn="just"/>
            <a:r>
              <a:rPr lang="es-ES_tradnl" sz="900" err="1">
                <a:latin typeface="Arial" pitchFamily="34" charset="0"/>
                <a:cs typeface="Arial" pitchFamily="34" charset="0"/>
              </a:rPr>
              <a:t>Config: Carpeta de configuración </a:t>
            </a:r>
          </a:p>
        </p:txBody>
      </p:sp>
      <p:sp>
        <p:nvSpPr>
          <p:cNvPr id="10" name="Arrow: Right 9">
            <a:extLst>
              <a:ext uri="{FF2B5EF4-FFF2-40B4-BE49-F238E27FC236}">
                <a16:creationId xmlns:a16="http://schemas.microsoft.com/office/drawing/2014/main" id="{A97B7D3E-6F39-966D-2090-2E5B10BC6088}"/>
              </a:ext>
            </a:extLst>
          </p:cNvPr>
          <p:cNvSpPr/>
          <p:nvPr/>
        </p:nvSpPr>
        <p:spPr bwMode="auto">
          <a:xfrm>
            <a:off x="2625024" y="1861027"/>
            <a:ext cx="2240333" cy="112611"/>
          </a:xfrm>
          <a:prstGeom prst="rightArrow">
            <a:avLst/>
          </a:prstGeom>
          <a:solidFill>
            <a:srgbClr val="92D050"/>
          </a:solidFill>
          <a:ln w="9525">
            <a:noFill/>
            <a:round/>
          </a:ln>
        </p:spPr>
        <p:txBody>
          <a:bodyPr wrap="none" rtlCol="0" anchor="ctr">
            <a:noAutofit/>
          </a:bodyPr>
          <a:lstStyle/>
          <a:p>
            <a:pPr algn="ctr"/>
            <a:endParaRPr lang="es-ES_tradnl"/>
          </a:p>
        </p:txBody>
      </p:sp>
      <p:sp>
        <p:nvSpPr>
          <p:cNvPr id="11" name="TextBox 10">
            <a:extLst>
              <a:ext uri="{FF2B5EF4-FFF2-40B4-BE49-F238E27FC236}">
                <a16:creationId xmlns:a16="http://schemas.microsoft.com/office/drawing/2014/main" id="{8313B107-2724-EE9A-9419-2BFD52D74323}"/>
              </a:ext>
            </a:extLst>
          </p:cNvPr>
          <p:cNvSpPr txBox="1"/>
          <p:nvPr/>
        </p:nvSpPr>
        <p:spPr>
          <a:xfrm>
            <a:off x="5154393" y="2092104"/>
            <a:ext cx="4212000" cy="230832"/>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Step Functions: Fichero con la configuración de cada uno de los pipeline tipo</a:t>
            </a:r>
          </a:p>
        </p:txBody>
      </p:sp>
      <p:sp>
        <p:nvSpPr>
          <p:cNvPr id="12" name="Right Bracket 11">
            <a:extLst>
              <a:ext uri="{FF2B5EF4-FFF2-40B4-BE49-F238E27FC236}">
                <a16:creationId xmlns:a16="http://schemas.microsoft.com/office/drawing/2014/main" id="{E253228E-1DC2-4A08-B784-737E2A2EC159}"/>
              </a:ext>
            </a:extLst>
          </p:cNvPr>
          <p:cNvSpPr/>
          <p:nvPr/>
        </p:nvSpPr>
        <p:spPr bwMode="auto">
          <a:xfrm>
            <a:off x="3455654" y="1996789"/>
            <a:ext cx="213634" cy="403909"/>
          </a:xfrm>
          <a:prstGeom prst="rightBracket">
            <a:avLst/>
          </a:prstGeom>
          <a:no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endParaRPr kumimoji="0" lang="es-ES_tradnl" sz="1200" b="1" i="0" u="none" strike="noStrike" cap="none" normalizeH="0" baseline="0">
              <a:ln>
                <a:noFill/>
              </a:ln>
              <a:solidFill>
                <a:schemeClr val="tx1"/>
              </a:solidFill>
              <a:effectLst/>
              <a:latin typeface="Arial"/>
            </a:endParaRPr>
          </a:p>
        </p:txBody>
      </p:sp>
      <p:sp>
        <p:nvSpPr>
          <p:cNvPr id="13" name="Arrow: Right 12">
            <a:extLst>
              <a:ext uri="{FF2B5EF4-FFF2-40B4-BE49-F238E27FC236}">
                <a16:creationId xmlns:a16="http://schemas.microsoft.com/office/drawing/2014/main" id="{A2AC63E8-1B5C-996F-07A3-99AC51BA7375}"/>
              </a:ext>
            </a:extLst>
          </p:cNvPr>
          <p:cNvSpPr/>
          <p:nvPr/>
        </p:nvSpPr>
        <p:spPr bwMode="auto">
          <a:xfrm>
            <a:off x="3669288" y="2149390"/>
            <a:ext cx="1506125" cy="112611"/>
          </a:xfrm>
          <a:prstGeom prst="rightArrow">
            <a:avLst/>
          </a:prstGeom>
          <a:solidFill>
            <a:schemeClr val="accent5">
              <a:lumMod val="75000"/>
            </a:schemeClr>
          </a:solidFill>
          <a:ln w="9525">
            <a:noFill/>
            <a:round/>
          </a:ln>
        </p:spPr>
        <p:txBody>
          <a:bodyPr wrap="none" rtlCol="0" anchor="ctr">
            <a:noAutofit/>
          </a:bodyPr>
          <a:lstStyle/>
          <a:p>
            <a:pPr algn="ctr"/>
            <a:endParaRPr lang="es-ES_tradnl"/>
          </a:p>
        </p:txBody>
      </p:sp>
      <p:sp>
        <p:nvSpPr>
          <p:cNvPr id="14" name="Right Bracket 13">
            <a:extLst>
              <a:ext uri="{FF2B5EF4-FFF2-40B4-BE49-F238E27FC236}">
                <a16:creationId xmlns:a16="http://schemas.microsoft.com/office/drawing/2014/main" id="{76FF614D-F7AF-E7DA-747B-35227D3C5AAA}"/>
              </a:ext>
            </a:extLst>
          </p:cNvPr>
          <p:cNvSpPr/>
          <p:nvPr/>
        </p:nvSpPr>
        <p:spPr bwMode="auto">
          <a:xfrm>
            <a:off x="3579951" y="2689061"/>
            <a:ext cx="241737" cy="1360433"/>
          </a:xfrm>
          <a:prstGeom prst="rightBracket">
            <a:avLst/>
          </a:prstGeom>
          <a:no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endParaRPr kumimoji="0" lang="es-ES_tradnl" sz="1200" b="1" i="0" u="none" strike="noStrike" cap="none" normalizeH="0" baseline="0">
              <a:ln>
                <a:noFill/>
              </a:ln>
              <a:solidFill>
                <a:schemeClr val="tx1"/>
              </a:solidFill>
              <a:effectLst/>
              <a:latin typeface="Arial"/>
            </a:endParaRPr>
          </a:p>
        </p:txBody>
      </p:sp>
      <p:sp>
        <p:nvSpPr>
          <p:cNvPr id="16" name="Arrow: Right 15">
            <a:extLst>
              <a:ext uri="{FF2B5EF4-FFF2-40B4-BE49-F238E27FC236}">
                <a16:creationId xmlns:a16="http://schemas.microsoft.com/office/drawing/2014/main" id="{A53D2C3C-57F9-CA55-87E4-DBB1FE0C57A7}"/>
              </a:ext>
            </a:extLst>
          </p:cNvPr>
          <p:cNvSpPr/>
          <p:nvPr/>
        </p:nvSpPr>
        <p:spPr bwMode="auto">
          <a:xfrm>
            <a:off x="3821688" y="3228363"/>
            <a:ext cx="1916027" cy="112611"/>
          </a:xfrm>
          <a:prstGeom prst="rightArrow">
            <a:avLst/>
          </a:prstGeom>
          <a:solidFill>
            <a:schemeClr val="accent5">
              <a:lumMod val="75000"/>
            </a:schemeClr>
          </a:solidFill>
          <a:ln w="9525">
            <a:noFill/>
            <a:round/>
          </a:ln>
        </p:spPr>
        <p:txBody>
          <a:bodyPr wrap="none" rtlCol="0" anchor="ctr">
            <a:noAutofit/>
          </a:bodyPr>
          <a:lstStyle/>
          <a:p>
            <a:pPr algn="ctr"/>
            <a:endParaRPr lang="es-ES_tradnl"/>
          </a:p>
        </p:txBody>
      </p:sp>
      <p:sp>
        <p:nvSpPr>
          <p:cNvPr id="18" name="TextBox 17">
            <a:extLst>
              <a:ext uri="{FF2B5EF4-FFF2-40B4-BE49-F238E27FC236}">
                <a16:creationId xmlns:a16="http://schemas.microsoft.com/office/drawing/2014/main" id="{04F7D142-B987-79B4-38E7-04C3FAF2F080}"/>
              </a:ext>
            </a:extLst>
          </p:cNvPr>
          <p:cNvSpPr txBox="1"/>
          <p:nvPr/>
        </p:nvSpPr>
        <p:spPr>
          <a:xfrm>
            <a:off x="5185922" y="2336443"/>
            <a:ext cx="4212000" cy="230832"/>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ETL:  Carpeta con las configuraciones, cada pipeline tipo tiene una subcarpeta</a:t>
            </a:r>
          </a:p>
        </p:txBody>
      </p:sp>
      <p:sp>
        <p:nvSpPr>
          <p:cNvPr id="19" name="Arrow: Right 18">
            <a:extLst>
              <a:ext uri="{FF2B5EF4-FFF2-40B4-BE49-F238E27FC236}">
                <a16:creationId xmlns:a16="http://schemas.microsoft.com/office/drawing/2014/main" id="{8C202347-4784-8716-7C45-BC2BC3A92193}"/>
              </a:ext>
            </a:extLst>
          </p:cNvPr>
          <p:cNvSpPr/>
          <p:nvPr/>
        </p:nvSpPr>
        <p:spPr bwMode="auto">
          <a:xfrm>
            <a:off x="2555987" y="2384881"/>
            <a:ext cx="2628000" cy="112611"/>
          </a:xfrm>
          <a:prstGeom prst="rightArrow">
            <a:avLst/>
          </a:prstGeom>
          <a:solidFill>
            <a:srgbClr val="E9923B"/>
          </a:solidFill>
          <a:ln w="9525">
            <a:noFill/>
            <a:round/>
          </a:ln>
        </p:spPr>
        <p:txBody>
          <a:bodyPr wrap="none" rtlCol="0" anchor="ctr">
            <a:noAutofit/>
          </a:bodyPr>
          <a:lstStyle/>
          <a:p>
            <a:pPr algn="ctr"/>
            <a:endParaRPr lang="es-ES_tradnl"/>
          </a:p>
        </p:txBody>
      </p:sp>
      <p:sp>
        <p:nvSpPr>
          <p:cNvPr id="20" name="TextBox 19">
            <a:extLst>
              <a:ext uri="{FF2B5EF4-FFF2-40B4-BE49-F238E27FC236}">
                <a16:creationId xmlns:a16="http://schemas.microsoft.com/office/drawing/2014/main" id="{2E3EB5A8-BDEB-B5CC-F76E-326F6109B4C6}"/>
              </a:ext>
            </a:extLst>
          </p:cNvPr>
          <p:cNvSpPr txBox="1"/>
          <p:nvPr/>
        </p:nvSpPr>
        <p:spPr>
          <a:xfrm>
            <a:off x="5737715" y="3002515"/>
            <a:ext cx="5135361" cy="507831"/>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Por cada uno de los pasos del Pipeline se utiliza un fichero de configuración de la lógica parametrizable necesaria en cada caso. En caso de que se tengan pipelines que se utilizan por varios sistemas es posible definir un modelo común y otro con las particularidades por sistema.</a:t>
            </a:r>
          </a:p>
        </p:txBody>
      </p:sp>
      <p:sp>
        <p:nvSpPr>
          <p:cNvPr id="21" name="TextBox 20">
            <a:extLst>
              <a:ext uri="{FF2B5EF4-FFF2-40B4-BE49-F238E27FC236}">
                <a16:creationId xmlns:a16="http://schemas.microsoft.com/office/drawing/2014/main" id="{A472EF5B-66D7-67A5-7AF2-33C6968E5C4F}"/>
              </a:ext>
            </a:extLst>
          </p:cNvPr>
          <p:cNvSpPr txBox="1"/>
          <p:nvPr/>
        </p:nvSpPr>
        <p:spPr>
          <a:xfrm>
            <a:off x="5229960" y="3923951"/>
            <a:ext cx="6456910" cy="324000"/>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Data Quality:  Definición de Reglas de calidad globales. Estas reglas se pueden importar dentro de cualquiera de los procesos</a:t>
            </a:r>
          </a:p>
        </p:txBody>
      </p:sp>
      <p:sp>
        <p:nvSpPr>
          <p:cNvPr id="22" name="Arrow: Right 21">
            <a:extLst>
              <a:ext uri="{FF2B5EF4-FFF2-40B4-BE49-F238E27FC236}">
                <a16:creationId xmlns:a16="http://schemas.microsoft.com/office/drawing/2014/main" id="{92C4AA43-EB38-5F4B-B0EA-66039C9F9750}"/>
              </a:ext>
            </a:extLst>
          </p:cNvPr>
          <p:cNvSpPr/>
          <p:nvPr/>
        </p:nvSpPr>
        <p:spPr bwMode="auto">
          <a:xfrm>
            <a:off x="2781960" y="4055217"/>
            <a:ext cx="2448000" cy="112611"/>
          </a:xfrm>
          <a:prstGeom prst="rightArrow">
            <a:avLst/>
          </a:prstGeom>
          <a:solidFill>
            <a:srgbClr val="FF0000"/>
          </a:solidFill>
          <a:ln w="9525">
            <a:noFill/>
            <a:round/>
          </a:ln>
        </p:spPr>
        <p:txBody>
          <a:bodyPr wrap="none" rtlCol="0" anchor="ctr">
            <a:noAutofit/>
          </a:bodyPr>
          <a:lstStyle/>
          <a:p>
            <a:pPr algn="ctr"/>
            <a:endParaRPr lang="es-ES_tradnl"/>
          </a:p>
        </p:txBody>
      </p:sp>
      <p:sp>
        <p:nvSpPr>
          <p:cNvPr id="23" name="TextBox 22">
            <a:extLst>
              <a:ext uri="{FF2B5EF4-FFF2-40B4-BE49-F238E27FC236}">
                <a16:creationId xmlns:a16="http://schemas.microsoft.com/office/drawing/2014/main" id="{A71CC093-93B2-E048-1C71-9A0F5DEE4D88}"/>
              </a:ext>
            </a:extLst>
          </p:cNvPr>
          <p:cNvSpPr txBox="1"/>
          <p:nvPr/>
        </p:nvSpPr>
        <p:spPr>
          <a:xfrm>
            <a:off x="5487950" y="4260434"/>
            <a:ext cx="3852000" cy="230832"/>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Reglas: Diferentes sets agrupando reglas de calidad en función del tipo</a:t>
            </a:r>
          </a:p>
        </p:txBody>
      </p:sp>
      <p:sp>
        <p:nvSpPr>
          <p:cNvPr id="24" name="Right Bracket 23">
            <a:extLst>
              <a:ext uri="{FF2B5EF4-FFF2-40B4-BE49-F238E27FC236}">
                <a16:creationId xmlns:a16="http://schemas.microsoft.com/office/drawing/2014/main" id="{56953D56-A75D-87E6-13BB-FE21A9D1E45A}"/>
              </a:ext>
            </a:extLst>
          </p:cNvPr>
          <p:cNvSpPr/>
          <p:nvPr/>
        </p:nvSpPr>
        <p:spPr bwMode="auto">
          <a:xfrm>
            <a:off x="3366317" y="4283506"/>
            <a:ext cx="213634" cy="169897"/>
          </a:xfrm>
          <a:prstGeom prst="rightBracket">
            <a:avLst/>
          </a:prstGeom>
          <a:no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endParaRPr kumimoji="0" lang="es-ES_tradnl" sz="1200" b="1" i="0" u="none" strike="noStrike" cap="none" normalizeH="0" baseline="0">
              <a:ln>
                <a:noFill/>
              </a:ln>
              <a:solidFill>
                <a:schemeClr val="tx1"/>
              </a:solidFill>
              <a:effectLst/>
              <a:latin typeface="Arial"/>
            </a:endParaRPr>
          </a:p>
        </p:txBody>
      </p:sp>
      <p:sp>
        <p:nvSpPr>
          <p:cNvPr id="25" name="Arrow: Right 24">
            <a:extLst>
              <a:ext uri="{FF2B5EF4-FFF2-40B4-BE49-F238E27FC236}">
                <a16:creationId xmlns:a16="http://schemas.microsoft.com/office/drawing/2014/main" id="{FAEDE42C-3359-AAE9-F711-1AE02245A0A5}"/>
              </a:ext>
            </a:extLst>
          </p:cNvPr>
          <p:cNvSpPr/>
          <p:nvPr/>
        </p:nvSpPr>
        <p:spPr bwMode="auto">
          <a:xfrm>
            <a:off x="3579950" y="4309262"/>
            <a:ext cx="1908000" cy="112611"/>
          </a:xfrm>
          <a:prstGeom prst="rightArrow">
            <a:avLst/>
          </a:prstGeom>
          <a:solidFill>
            <a:schemeClr val="accent5">
              <a:lumMod val="75000"/>
            </a:schemeClr>
          </a:solidFill>
          <a:ln w="9525">
            <a:noFill/>
            <a:round/>
          </a:ln>
        </p:spPr>
        <p:txBody>
          <a:bodyPr wrap="none" rtlCol="0" anchor="ctr">
            <a:noAutofit/>
          </a:bodyPr>
          <a:lstStyle/>
          <a:p>
            <a:pPr algn="ctr"/>
            <a:endParaRPr lang="es-ES_tradnl"/>
          </a:p>
        </p:txBody>
      </p:sp>
      <p:sp>
        <p:nvSpPr>
          <p:cNvPr id="26" name="TextBox 25">
            <a:extLst>
              <a:ext uri="{FF2B5EF4-FFF2-40B4-BE49-F238E27FC236}">
                <a16:creationId xmlns:a16="http://schemas.microsoft.com/office/drawing/2014/main" id="{A6374F29-1303-0931-8142-3EB3719757B0}"/>
              </a:ext>
            </a:extLst>
          </p:cNvPr>
          <p:cNvSpPr txBox="1"/>
          <p:nvPr/>
        </p:nvSpPr>
        <p:spPr>
          <a:xfrm>
            <a:off x="5503714" y="4517938"/>
            <a:ext cx="5278246" cy="230832"/>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Datos: Ficheros de configuración de homologaciones entre sistemas origen / Rentabilidad / OFSAA</a:t>
            </a:r>
          </a:p>
        </p:txBody>
      </p:sp>
      <p:sp>
        <p:nvSpPr>
          <p:cNvPr id="27" name="Right Bracket 26">
            <a:extLst>
              <a:ext uri="{FF2B5EF4-FFF2-40B4-BE49-F238E27FC236}">
                <a16:creationId xmlns:a16="http://schemas.microsoft.com/office/drawing/2014/main" id="{5A3AA6BD-5AC3-28ED-6F27-61C15340B659}"/>
              </a:ext>
            </a:extLst>
          </p:cNvPr>
          <p:cNvSpPr/>
          <p:nvPr/>
        </p:nvSpPr>
        <p:spPr bwMode="auto">
          <a:xfrm>
            <a:off x="3361061" y="4562030"/>
            <a:ext cx="213634" cy="169897"/>
          </a:xfrm>
          <a:prstGeom prst="rightBracket">
            <a:avLst/>
          </a:prstGeom>
          <a:no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endParaRPr kumimoji="0" lang="es-ES_tradnl" sz="1200" b="1" i="0" u="none" strike="noStrike" cap="none" normalizeH="0" baseline="0">
              <a:ln>
                <a:noFill/>
              </a:ln>
              <a:solidFill>
                <a:schemeClr val="tx1"/>
              </a:solidFill>
              <a:effectLst/>
              <a:latin typeface="Arial"/>
            </a:endParaRPr>
          </a:p>
        </p:txBody>
      </p:sp>
      <p:sp>
        <p:nvSpPr>
          <p:cNvPr id="28" name="Arrow: Right 27">
            <a:extLst>
              <a:ext uri="{FF2B5EF4-FFF2-40B4-BE49-F238E27FC236}">
                <a16:creationId xmlns:a16="http://schemas.microsoft.com/office/drawing/2014/main" id="{0ADF6567-0845-B152-03D4-EF130F4502F8}"/>
              </a:ext>
            </a:extLst>
          </p:cNvPr>
          <p:cNvSpPr/>
          <p:nvPr/>
        </p:nvSpPr>
        <p:spPr bwMode="auto">
          <a:xfrm>
            <a:off x="3574694" y="4587786"/>
            <a:ext cx="1908000" cy="112611"/>
          </a:xfrm>
          <a:prstGeom prst="rightArrow">
            <a:avLst/>
          </a:prstGeom>
          <a:solidFill>
            <a:srgbClr val="92D050"/>
          </a:solidFill>
          <a:ln w="9525">
            <a:noFill/>
            <a:round/>
          </a:ln>
        </p:spPr>
        <p:txBody>
          <a:bodyPr wrap="none" rtlCol="0" anchor="ctr">
            <a:noAutofit/>
          </a:bodyPr>
          <a:lstStyle/>
          <a:p>
            <a:pPr algn="ctr"/>
            <a:endParaRPr lang="es-ES_tradnl"/>
          </a:p>
        </p:txBody>
      </p:sp>
      <p:sp>
        <p:nvSpPr>
          <p:cNvPr id="29" name="TextBox 28">
            <a:extLst>
              <a:ext uri="{FF2B5EF4-FFF2-40B4-BE49-F238E27FC236}">
                <a16:creationId xmlns:a16="http://schemas.microsoft.com/office/drawing/2014/main" id="{E47AB16E-AE29-8401-919D-8FD312119E91}"/>
              </a:ext>
            </a:extLst>
          </p:cNvPr>
          <p:cNvSpPr txBox="1"/>
          <p:nvPr/>
        </p:nvSpPr>
        <p:spPr>
          <a:xfrm>
            <a:off x="4865356" y="4769536"/>
            <a:ext cx="4592349" cy="230832"/>
          </a:xfrm>
          <a:prstGeom prst="rect">
            <a:avLst/>
          </a:prstGeom>
          <a:noFill/>
          <a:ln>
            <a:solidFill>
              <a:schemeClr val="tx1"/>
            </a:solidFill>
            <a:prstDash val="dash"/>
          </a:ln>
        </p:spPr>
        <p:txBody>
          <a:bodyPr wrap="square" rtlCol="0">
            <a:spAutoFit/>
          </a:bodyPr>
          <a:lstStyle/>
          <a:p>
            <a:pPr algn="just"/>
            <a:r>
              <a:rPr lang="es-ES_tradnl" sz="900" err="1">
                <a:latin typeface="Arial" pitchFamily="34" charset="0"/>
                <a:cs typeface="Arial" pitchFamily="34" charset="0"/>
              </a:rPr>
              <a:t>Artifacts: Carpeta con los scripts Python con los componentes ejecutables desde Glue</a:t>
            </a:r>
          </a:p>
        </p:txBody>
      </p:sp>
      <p:sp>
        <p:nvSpPr>
          <p:cNvPr id="30" name="Arrow: Right 29">
            <a:extLst>
              <a:ext uri="{FF2B5EF4-FFF2-40B4-BE49-F238E27FC236}">
                <a16:creationId xmlns:a16="http://schemas.microsoft.com/office/drawing/2014/main" id="{ECAB89EE-62BB-31E0-FDA7-551591E92F09}"/>
              </a:ext>
            </a:extLst>
          </p:cNvPr>
          <p:cNvSpPr/>
          <p:nvPr/>
        </p:nvSpPr>
        <p:spPr bwMode="auto">
          <a:xfrm>
            <a:off x="2625024" y="4754913"/>
            <a:ext cx="2240333" cy="112611"/>
          </a:xfrm>
          <a:prstGeom prst="rightArrow">
            <a:avLst/>
          </a:prstGeom>
          <a:solidFill>
            <a:schemeClr val="tx2">
              <a:lumMod val="50000"/>
              <a:lumOff val="50000"/>
            </a:schemeClr>
          </a:solidFill>
          <a:ln w="9525">
            <a:noFill/>
            <a:round/>
          </a:ln>
        </p:spPr>
        <p:txBody>
          <a:bodyPr wrap="none" rtlCol="0" anchor="ctr">
            <a:noAutofit/>
          </a:bodyPr>
          <a:lstStyle/>
          <a:p>
            <a:pPr algn="ctr"/>
            <a:endParaRPr lang="es-ES_tradnl"/>
          </a:p>
        </p:txBody>
      </p:sp>
      <p:sp>
        <p:nvSpPr>
          <p:cNvPr id="31" name="Right Bracket 30">
            <a:extLst>
              <a:ext uri="{FF2B5EF4-FFF2-40B4-BE49-F238E27FC236}">
                <a16:creationId xmlns:a16="http://schemas.microsoft.com/office/drawing/2014/main" id="{B00A90E2-6513-326E-4436-803D4FD09C7C}"/>
              </a:ext>
            </a:extLst>
          </p:cNvPr>
          <p:cNvSpPr/>
          <p:nvPr/>
        </p:nvSpPr>
        <p:spPr bwMode="auto">
          <a:xfrm>
            <a:off x="3494557" y="4903682"/>
            <a:ext cx="174731" cy="851970"/>
          </a:xfrm>
          <a:prstGeom prst="rightBracket">
            <a:avLst/>
          </a:prstGeom>
          <a:noFill/>
          <a:ln w="9525" cap="flat" cmpd="sng" algn="ctr">
            <a:solidFill>
              <a:schemeClr val="bg2">
                <a:lumMod val="40000"/>
                <a:lumOff val="6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endParaRPr kumimoji="0" lang="es-ES_tradnl" sz="1200" b="1" i="0" u="none" strike="noStrike" cap="none" normalizeH="0" baseline="0">
              <a:ln>
                <a:noFill/>
              </a:ln>
              <a:solidFill>
                <a:schemeClr val="tx1"/>
              </a:solidFill>
              <a:effectLst/>
              <a:latin typeface="Arial"/>
            </a:endParaRPr>
          </a:p>
        </p:txBody>
      </p:sp>
      <p:sp>
        <p:nvSpPr>
          <p:cNvPr id="32" name="Arrow: Right 31">
            <a:extLst>
              <a:ext uri="{FF2B5EF4-FFF2-40B4-BE49-F238E27FC236}">
                <a16:creationId xmlns:a16="http://schemas.microsoft.com/office/drawing/2014/main" id="{A1DBCD7D-3095-12BE-C7D5-276E25DD9DFD}"/>
              </a:ext>
            </a:extLst>
          </p:cNvPr>
          <p:cNvSpPr/>
          <p:nvPr/>
        </p:nvSpPr>
        <p:spPr bwMode="auto">
          <a:xfrm>
            <a:off x="3679799" y="5294405"/>
            <a:ext cx="1384932" cy="70523"/>
          </a:xfrm>
          <a:prstGeom prst="rightArrow">
            <a:avLst/>
          </a:prstGeom>
          <a:solidFill>
            <a:schemeClr val="bg2">
              <a:lumMod val="40000"/>
              <a:lumOff val="60000"/>
            </a:schemeClr>
          </a:solidFill>
          <a:ln w="9525">
            <a:solidFill>
              <a:schemeClr val="bg2">
                <a:lumMod val="40000"/>
                <a:lumOff val="60000"/>
              </a:schemeClr>
            </a:solidFill>
            <a:round/>
          </a:ln>
        </p:spPr>
        <p:txBody>
          <a:bodyPr wrap="none" rtlCol="0" anchor="ctr">
            <a:noAutofit/>
          </a:bodyPr>
          <a:lstStyle/>
          <a:p>
            <a:pPr algn="ctr"/>
            <a:endParaRPr lang="es-ES_tradnl"/>
          </a:p>
        </p:txBody>
      </p:sp>
      <p:sp>
        <p:nvSpPr>
          <p:cNvPr id="33" name="TextBox 32">
            <a:extLst>
              <a:ext uri="{FF2B5EF4-FFF2-40B4-BE49-F238E27FC236}">
                <a16:creationId xmlns:a16="http://schemas.microsoft.com/office/drawing/2014/main" id="{21A8E70D-EE3C-A700-819E-73BAA50DB622}"/>
              </a:ext>
            </a:extLst>
          </p:cNvPr>
          <p:cNvSpPr txBox="1"/>
          <p:nvPr/>
        </p:nvSpPr>
        <p:spPr>
          <a:xfrm>
            <a:off x="5064732" y="5239175"/>
            <a:ext cx="4301662" cy="230832"/>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ETL: Componentes con el Python con cada uno de los pasos tipo de los pipeline </a:t>
            </a:r>
          </a:p>
        </p:txBody>
      </p:sp>
      <p:sp>
        <p:nvSpPr>
          <p:cNvPr id="34" name="Right Bracket 33">
            <a:extLst>
              <a:ext uri="{FF2B5EF4-FFF2-40B4-BE49-F238E27FC236}">
                <a16:creationId xmlns:a16="http://schemas.microsoft.com/office/drawing/2014/main" id="{57BCD460-32D4-067F-04EB-E9240C276A09}"/>
              </a:ext>
            </a:extLst>
          </p:cNvPr>
          <p:cNvSpPr/>
          <p:nvPr/>
        </p:nvSpPr>
        <p:spPr bwMode="auto">
          <a:xfrm>
            <a:off x="3505068" y="5865058"/>
            <a:ext cx="185242" cy="431697"/>
          </a:xfrm>
          <a:prstGeom prst="rightBracke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endParaRPr kumimoji="0" lang="es-ES_tradnl" sz="1200" b="1" i="0" u="none" strike="noStrike" cap="none" normalizeH="0" baseline="0">
              <a:ln>
                <a:noFill/>
              </a:ln>
              <a:solidFill>
                <a:schemeClr val="tx1"/>
              </a:solidFill>
              <a:effectLst/>
              <a:latin typeface="Arial"/>
            </a:endParaRPr>
          </a:p>
        </p:txBody>
      </p:sp>
      <p:sp>
        <p:nvSpPr>
          <p:cNvPr id="35" name="Arrow: Right 34">
            <a:extLst>
              <a:ext uri="{FF2B5EF4-FFF2-40B4-BE49-F238E27FC236}">
                <a16:creationId xmlns:a16="http://schemas.microsoft.com/office/drawing/2014/main" id="{B14612CB-BAB4-6DA4-0BC7-617AE8A25963}"/>
              </a:ext>
            </a:extLst>
          </p:cNvPr>
          <p:cNvSpPr/>
          <p:nvPr/>
        </p:nvSpPr>
        <p:spPr bwMode="auto">
          <a:xfrm>
            <a:off x="3700819" y="6028121"/>
            <a:ext cx="1384932" cy="70523"/>
          </a:xfrm>
          <a:prstGeom prst="rightArrow">
            <a:avLst/>
          </a:prstGeom>
          <a:solidFill>
            <a:schemeClr val="tx1"/>
          </a:solidFill>
          <a:ln w="9525">
            <a:noFill/>
            <a:round/>
          </a:ln>
        </p:spPr>
        <p:txBody>
          <a:bodyPr wrap="none" rtlCol="0" anchor="ctr">
            <a:noAutofit/>
          </a:bodyPr>
          <a:lstStyle/>
          <a:p>
            <a:pPr algn="ctr"/>
            <a:endParaRPr lang="es-ES_tradnl"/>
          </a:p>
        </p:txBody>
      </p:sp>
      <p:sp>
        <p:nvSpPr>
          <p:cNvPr id="36" name="TextBox 35">
            <a:extLst>
              <a:ext uri="{FF2B5EF4-FFF2-40B4-BE49-F238E27FC236}">
                <a16:creationId xmlns:a16="http://schemas.microsoft.com/office/drawing/2014/main" id="{8398BACE-4AE0-0988-2E2F-1B6FD91D0FE9}"/>
              </a:ext>
            </a:extLst>
          </p:cNvPr>
          <p:cNvSpPr txBox="1"/>
          <p:nvPr/>
        </p:nvSpPr>
        <p:spPr>
          <a:xfrm>
            <a:off x="5064731" y="5960412"/>
            <a:ext cx="4301662" cy="230832"/>
          </a:xfrm>
          <a:prstGeom prst="rect">
            <a:avLst/>
          </a:prstGeom>
          <a:noFill/>
          <a:ln>
            <a:solidFill>
              <a:schemeClr val="tx1"/>
            </a:solidFill>
            <a:prstDash val="dash"/>
          </a:ln>
        </p:spPr>
        <p:txBody>
          <a:bodyPr wrap="square" rtlCol="0">
            <a:spAutoFit/>
          </a:bodyPr>
          <a:lstStyle/>
          <a:p>
            <a:pPr algn="just"/>
            <a:r>
              <a:rPr lang="es-ES_tradnl" sz="900">
                <a:latin typeface="Arial" pitchFamily="34" charset="0"/>
                <a:cs typeface="Arial" pitchFamily="34" charset="0"/>
              </a:rPr>
              <a:t>Common: Utilidades Cross que se pueden reutilizar entre componentes</a:t>
            </a:r>
          </a:p>
        </p:txBody>
      </p:sp>
      <p:pic>
        <p:nvPicPr>
          <p:cNvPr id="15" name="Picture 14">
            <a:extLst>
              <a:ext uri="{FF2B5EF4-FFF2-40B4-BE49-F238E27FC236}">
                <a16:creationId xmlns:a16="http://schemas.microsoft.com/office/drawing/2014/main" id="{CBCF2A99-C27D-3CD2-9673-C2BE368531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26920" y="327667"/>
            <a:ext cx="1815789" cy="900000"/>
          </a:xfrm>
          <a:prstGeom prst="rect">
            <a:avLst/>
          </a:prstGeom>
        </p:spPr>
      </p:pic>
      <p:sp>
        <p:nvSpPr>
          <p:cNvPr id="38" name="Rectangle 37">
            <a:extLst>
              <a:ext uri="{FF2B5EF4-FFF2-40B4-BE49-F238E27FC236}">
                <a16:creationId xmlns:a16="http://schemas.microsoft.com/office/drawing/2014/main" id="{C21BA7BA-2949-3E00-7FA2-3E539518F899}"/>
              </a:ext>
            </a:extLst>
          </p:cNvPr>
          <p:cNvSpPr/>
          <p:nvPr/>
        </p:nvSpPr>
        <p:spPr bwMode="auto">
          <a:xfrm>
            <a:off x="10430934" y="1078757"/>
            <a:ext cx="1618748" cy="148910"/>
          </a:xfrm>
          <a:prstGeom prst="rect">
            <a:avLst/>
          </a:prstGeom>
          <a:noFill/>
          <a:ln w="12700">
            <a:solidFill>
              <a:srgbClr val="FF0000"/>
            </a:solidFill>
            <a:round/>
          </a:ln>
        </p:spPr>
        <p:txBody>
          <a:bodyPr wrap="none" rtlCol="0" anchor="ctr">
            <a:noAutofit/>
          </a:bodyPr>
          <a:lstStyle/>
          <a:p>
            <a:pPr algn="ctr"/>
            <a:endParaRPr lang="es-ES_tradnl"/>
          </a:p>
        </p:txBody>
      </p:sp>
      <p:sp>
        <p:nvSpPr>
          <p:cNvPr id="40" name="Google Shape;72;p7">
            <a:extLst>
              <a:ext uri="{FF2B5EF4-FFF2-40B4-BE49-F238E27FC236}">
                <a16:creationId xmlns:a16="http://schemas.microsoft.com/office/drawing/2014/main" id="{A1C7A534-94C9-3A3F-3710-484AAB2EDE8D}"/>
              </a:ext>
            </a:extLst>
          </p:cNvPr>
          <p:cNvSpPr txBox="1"/>
          <p:nvPr/>
        </p:nvSpPr>
        <p:spPr>
          <a:xfrm>
            <a:off x="380373" y="1119653"/>
            <a:ext cx="11283696" cy="517543"/>
          </a:xfrm>
          <a:prstGeom prst="rect">
            <a:avLst/>
          </a:prstGeom>
          <a:noFill/>
          <a:ln>
            <a:noFill/>
          </a:ln>
        </p:spPr>
        <p:txBody>
          <a:bodyPr spcFirstLastPara="1" wrap="square" lIns="99031" tIns="49502" rIns="99031" bIns="49502" anchor="t" anchorCtr="0">
            <a:noAutofit/>
          </a:bodyPr>
          <a:lstStyle/>
          <a:p>
            <a:pPr algn="ctr">
              <a:spcAft>
                <a:spcPts val="785"/>
              </a:spcAft>
              <a:buClr>
                <a:schemeClr val="tx1"/>
              </a:buClr>
            </a:pPr>
            <a:r>
              <a:rPr lang="es-ES_tradnl" sz="1517">
                <a:solidFill>
                  <a:srgbClr val="001A48"/>
                </a:solidFill>
                <a:latin typeface="+mj-lt"/>
                <a:ea typeface="Lato"/>
                <a:cs typeface="Calibri" panose="020F0502020204030204" pitchFamily="34" charset="0"/>
              </a:rPr>
              <a:t>Propuesta de estructura de ficheros de configuración</a:t>
            </a:r>
          </a:p>
        </p:txBody>
      </p:sp>
    </p:spTree>
    <p:extLst>
      <p:ext uri="{BB962C8B-B14F-4D97-AF65-F5344CB8AC3E}">
        <p14:creationId xmlns:p14="http://schemas.microsoft.com/office/powerpoint/2010/main" val="35212767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34467C-0B50-7BD0-4442-1FCE4CBA738F}"/>
              </a:ext>
            </a:extLst>
          </p:cNvPr>
          <p:cNvSpPr>
            <a:spLocks noGrp="1"/>
          </p:cNvSpPr>
          <p:nvPr>
            <p:ph idx="1"/>
          </p:nvPr>
        </p:nvSpPr>
        <p:spPr>
          <a:xfrm>
            <a:off x="712764" y="1038162"/>
            <a:ext cx="10287001" cy="4114800"/>
          </a:xfrm>
        </p:spPr>
        <p:txBody>
          <a:bodyPr/>
          <a:lstStyle/>
          <a:p>
            <a:endParaRPr lang="en-US" dirty="0"/>
          </a:p>
        </p:txBody>
      </p:sp>
    </p:spTree>
    <p:extLst>
      <p:ext uri="{BB962C8B-B14F-4D97-AF65-F5344CB8AC3E}">
        <p14:creationId xmlns:p14="http://schemas.microsoft.com/office/powerpoint/2010/main" val="144117208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648963a9e2_0_0"/>
          <p:cNvSpPr txBox="1">
            <a:spLocks noGrp="1"/>
          </p:cNvSpPr>
          <p:nvPr>
            <p:ph type="ctrTitle"/>
          </p:nvPr>
        </p:nvSpPr>
        <p:spPr>
          <a:xfrm>
            <a:off x="296105" y="992767"/>
            <a:ext cx="11360800" cy="27368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endParaRPr/>
          </a:p>
        </p:txBody>
      </p:sp>
      <p:sp>
        <p:nvSpPr>
          <p:cNvPr id="999" name="Google Shape;999;g648963a9e2_0_0"/>
          <p:cNvSpPr txBox="1">
            <a:spLocks noGrp="1"/>
          </p:cNvSpPr>
          <p:nvPr>
            <p:ph type="subTitle" idx="1"/>
          </p:nvPr>
        </p:nvSpPr>
        <p:spPr>
          <a:xfrm>
            <a:off x="415600" y="3778833"/>
            <a:ext cx="11360800" cy="10568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09585" indent="-541853">
              <a:buFont typeface="Calibri"/>
              <a:buChar char="-"/>
            </a:pPr>
            <a:r>
              <a:rPr lang="es-ES"/>
              <a:t>Vestimenta</a:t>
            </a:r>
          </a:p>
          <a:p>
            <a:pPr marL="609585" indent="-304792"/>
            <a:endParaRPr/>
          </a:p>
        </p:txBody>
      </p:sp>
      <p:sp>
        <p:nvSpPr>
          <p:cNvPr id="1000" name="Google Shape;1000;g648963a9e2_0_0"/>
          <p:cNvSpPr/>
          <p:nvPr/>
        </p:nvSpPr>
        <p:spPr>
          <a:xfrm>
            <a:off x="232660" y="167500"/>
            <a:ext cx="2212400" cy="553200"/>
          </a:xfrm>
          <a:prstGeom prst="rect">
            <a:avLst/>
          </a:prstGeom>
          <a:solidFill>
            <a:srgbClr val="FF00FF"/>
          </a:solidFill>
          <a:ln w="9525" cap="flat" cmpd="sng">
            <a:solidFill>
              <a:srgbClr val="FF00F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ct val="0"/>
              </a:spcBef>
              <a:spcAft>
                <a:spcPct val="0"/>
              </a:spcAft>
              <a:buClr>
                <a:srgbClr val="000000"/>
              </a:buClr>
              <a:buSzPts val="1400"/>
              <a:buFontTx/>
              <a:buNone/>
              <a:defRPr/>
            </a:pPr>
            <a:r>
              <a:rPr kumimoji="0" lang="en-US" sz="1867" b="1" i="0" u="none" strike="noStrike" kern="1200" cap="none" spc="0" normalizeH="0" baseline="0" noProof="0">
                <a:ln>
                  <a:noFill/>
                </a:ln>
                <a:solidFill>
                  <a:srgbClr val="000000"/>
                </a:solidFill>
                <a:effectLst/>
                <a:uLnTx/>
                <a:uFillTx/>
                <a:latin typeface="Arial"/>
                <a:ea typeface="Arial"/>
                <a:cs typeface="Arial"/>
                <a:sym typeface="Arial"/>
              </a:rPr>
              <a:t>index</a:t>
            </a:r>
            <a:endParaRPr kumimoji="0" sz="1867" b="1"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001" name="Google Shape;1001;g648963a9e2_0_0"/>
          <p:cNvPicPr preferRelativeResize="0"/>
          <p:nvPr/>
        </p:nvPicPr>
        <p:blipFill>
          <a:blip r:embed="rId3">
            <a:alphaModFix/>
          </a:blip>
          <a:srcRect r="8709"/>
          <a:stretch>
            <a:fillRect/>
          </a:stretch>
        </p:blipFill>
        <p:spPr>
          <a:xfrm>
            <a:off x="-125333" y="0"/>
            <a:ext cx="12444665" cy="6924667"/>
          </a:xfrm>
          <a:prstGeom prst="rect">
            <a:avLst/>
          </a:prstGeom>
          <a:noFill/>
          <a:ln>
            <a:noFill/>
          </a:ln>
          <a:effectLst>
            <a:outerShdw blurRad="50800" dist="50800" dir="5400000" algn="ctr" rotWithShape="0">
              <a:srgbClr val="000000"/>
            </a:outerShdw>
          </a:effectLst>
        </p:spPr>
      </p:pic>
      <p:sp>
        <p:nvSpPr>
          <p:cNvPr id="9" name="Google Shape;1032;p4"/>
          <p:cNvSpPr/>
          <p:nvPr/>
        </p:nvSpPr>
        <p:spPr>
          <a:xfrm>
            <a:off x="-128722" y="0"/>
            <a:ext cx="12448055" cy="6924667"/>
          </a:xfrm>
          <a:prstGeom prst="rect">
            <a:avLst/>
          </a:prstGeom>
          <a:gradFill>
            <a:gsLst>
              <a:gs pos="0">
                <a:srgbClr val="5983B1">
                  <a:alpha val="38823"/>
                </a:srgbClr>
              </a:gs>
              <a:gs pos="44000">
                <a:srgbClr val="5983B1">
                  <a:alpha val="38823"/>
                </a:srgbClr>
              </a:gs>
              <a:gs pos="61000">
                <a:srgbClr val="021B32">
                  <a:alpha val="80000"/>
                </a:srgbClr>
              </a:gs>
              <a:gs pos="74000">
                <a:srgbClr val="01101D">
                  <a:alpha val="89803"/>
                </a:srgbClr>
              </a:gs>
              <a:gs pos="100000">
                <a:srgbClr val="022646"/>
              </a:gs>
            </a:gsLst>
            <a:path path="circle">
              <a:fillToRect l="100000" t="100000"/>
            </a:path>
            <a:tileRect r="-100000" b="-100000"/>
          </a:gradFill>
          <a:ln w="9525" cap="flat" cmpd="sng">
            <a:noFill/>
            <a:prstDash val="solid"/>
            <a:round/>
            <a:headEnd type="none" w="sm" len="sm"/>
            <a:tailEnd type="none" w="sm" len="sm"/>
          </a:ln>
        </p:spPr>
        <p:txBody>
          <a:bodyPr spcFirstLastPara="1" wrap="square" lIns="121900" tIns="60933" rIns="121900" bIns="60933" anchor="ctr" anchorCtr="0">
            <a:noAutofit/>
          </a:bodyPr>
          <a:lstStyle/>
          <a:p>
            <a:pPr marL="0" marR="0" lvl="0" indent="0" algn="ctr" defTabSz="1219170" rtl="0" eaLnBrk="1" fontAlgn="auto" latinLnBrk="0" hangingPunct="1">
              <a:lnSpc>
                <a:spcPct val="100000"/>
              </a:lnSpc>
              <a:spcBef>
                <a:spcPct val="0"/>
              </a:spcBef>
              <a:spcAft>
                <a:spcPct val="0"/>
              </a:spcAft>
              <a:buClrTx/>
              <a:buSzTx/>
              <a:buFontTx/>
              <a:buNone/>
              <a:defRPr/>
            </a:pPr>
            <a:endParaRPr kumimoji="0" sz="1467" b="0" i="0" u="none" strike="noStrike" kern="1200" cap="none" spc="0" normalizeH="0" baseline="0" noProof="0">
              <a:ln>
                <a:noFill/>
              </a:ln>
              <a:solidFill>
                <a:srgbClr val="FFFFFF"/>
              </a:solidFill>
              <a:effectLst/>
              <a:uLnTx/>
              <a:uFillTx/>
              <a:latin typeface="Lato"/>
              <a:ea typeface="Lato"/>
              <a:cs typeface="Lato"/>
              <a:sym typeface="Lato"/>
            </a:endParaRPr>
          </a:p>
        </p:txBody>
      </p:sp>
      <p:sp>
        <p:nvSpPr>
          <p:cNvPr id="1002" name="Google Shape;1002;g648963a9e2_0_0"/>
          <p:cNvSpPr/>
          <p:nvPr/>
        </p:nvSpPr>
        <p:spPr>
          <a:xfrm>
            <a:off x="-128723" y="745335"/>
            <a:ext cx="6585200" cy="2000197"/>
          </a:xfrm>
          <a:prstGeom prst="rect">
            <a:avLst/>
          </a:prstGeom>
          <a:solidFill>
            <a:srgbClr val="FFFFFF">
              <a:alpha val="23137"/>
            </a:srgbClr>
          </a:solidFill>
          <a:ln>
            <a:noFill/>
          </a:ln>
        </p:spPr>
        <p:txBody>
          <a:bodyPr spcFirstLastPara="1" wrap="square" lIns="121900" tIns="60933" rIns="121900" bIns="60933" anchor="ctr" anchorCtr="0">
            <a:noAutofit/>
          </a:bodyPr>
          <a:lstStyle/>
          <a:p>
            <a:pPr marL="0" marR="0" lvl="0" indent="0" algn="ctr" defTabSz="1219170" rtl="0" eaLnBrk="1" fontAlgn="auto" latinLnBrk="0" hangingPunct="1">
              <a:lnSpc>
                <a:spcPct val="100000"/>
              </a:lnSpc>
              <a:spcBef>
                <a:spcPct val="0"/>
              </a:spcBef>
              <a:spcAft>
                <a:spcPct val="0"/>
              </a:spcAft>
              <a:buClr>
                <a:srgbClr val="838383"/>
              </a:buClr>
              <a:buSzPts val="1400"/>
              <a:buFontTx/>
              <a:buNone/>
              <a:defRPr/>
            </a:pPr>
            <a:endParaRPr kumimoji="0" sz="1867"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05" name="Google Shape;1005;g648963a9e2_0_0"/>
          <p:cNvSpPr txBox="1"/>
          <p:nvPr/>
        </p:nvSpPr>
        <p:spPr>
          <a:xfrm>
            <a:off x="-164287" y="1246834"/>
            <a:ext cx="4530928" cy="997201"/>
          </a:xfrm>
          <a:prstGeom prst="rect">
            <a:avLst/>
          </a:prstGeom>
          <a:noFill/>
          <a:ln>
            <a:noFill/>
          </a:ln>
        </p:spPr>
        <p:txBody>
          <a:bodyPr spcFirstLastPara="1" wrap="square" lIns="121900" tIns="60933" rIns="121900" bIns="60933" anchor="ctr" anchorCtr="0">
            <a:noAutofit/>
          </a:bodyPr>
          <a:lstStyle/>
          <a:p>
            <a:pPr marL="0" marR="0" lvl="0" indent="0" algn="ctr" defTabSz="1219170" rtl="0" eaLnBrk="1" fontAlgn="auto" latinLnBrk="0" hangingPunct="1">
              <a:lnSpc>
                <a:spcPct val="100000"/>
              </a:lnSpc>
              <a:spcBef>
                <a:spcPct val="0"/>
              </a:spcBef>
              <a:spcAft>
                <a:spcPct val="0"/>
              </a:spcAft>
              <a:buClrTx/>
              <a:buSzTx/>
              <a:buFontTx/>
              <a:buNone/>
              <a:defRPr/>
            </a:pPr>
            <a:r>
              <a:rPr kumimoji="0" lang="es-ES_tradnl" sz="3200" b="1" i="0" u="none" strike="noStrike" kern="1200" cap="none" spc="0" normalizeH="0" baseline="0" noProof="0">
                <a:ln>
                  <a:noFill/>
                </a:ln>
                <a:solidFill>
                  <a:srgbClr val="FFFFFF"/>
                </a:solidFill>
                <a:effectLst/>
                <a:uLnTx/>
                <a:uFillTx/>
                <a:latin typeface="Lato"/>
                <a:ea typeface="Lato"/>
                <a:cs typeface="Lato"/>
                <a:sym typeface="Lato"/>
              </a:rPr>
              <a:t>GRACIAS</a:t>
            </a:r>
          </a:p>
        </p:txBody>
      </p:sp>
      <p:sp>
        <p:nvSpPr>
          <p:cNvPr id="11" name="Rectangle 10"/>
          <p:cNvSpPr/>
          <p:nvPr/>
        </p:nvSpPr>
        <p:spPr>
          <a:xfrm>
            <a:off x="4257728" y="745335"/>
            <a:ext cx="2324083" cy="200150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ct val="0"/>
              </a:spcBef>
              <a:spcAft>
                <a:spcPct val="0"/>
              </a:spcAft>
              <a:buClrTx/>
              <a:buSzTx/>
              <a:buFontTx/>
              <a:buNone/>
              <a:defRPr/>
            </a:pPr>
            <a:endParaRPr kumimoji="0" lang="es-ES" sz="2667" b="1" i="0" u="none" strike="noStrike" kern="1200" cap="none" spc="0" normalizeH="0" baseline="0" noProof="0">
              <a:ln>
                <a:noFill/>
              </a:ln>
              <a:solidFill>
                <a:srgbClr val="FFFFFF"/>
              </a:solidFill>
              <a:effectLst/>
              <a:uLnTx/>
              <a:uFillTx/>
              <a:latin typeface="Calibri"/>
              <a:ea typeface="+mn-ea"/>
              <a:cs typeface="+mn-cs"/>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4136" y="1278904"/>
            <a:ext cx="1507576" cy="736201"/>
          </a:xfrm>
          <a:prstGeom prst="rect">
            <a:avLst/>
          </a:prstGeom>
        </p:spPr>
      </p:pic>
      <p:sp>
        <p:nvSpPr>
          <p:cNvPr id="2" name="TextBox 1"/>
          <p:cNvSpPr txBox="1"/>
          <p:nvPr/>
        </p:nvSpPr>
        <p:spPr>
          <a:xfrm>
            <a:off x="10643178" y="6396335"/>
            <a:ext cx="1548822" cy="461665"/>
          </a:xfrm>
          <a:prstGeom prst="rect">
            <a:avLst/>
          </a:prstGeom>
          <a:noFill/>
        </p:spPr>
        <p:txBody>
          <a:bodyPr wrap="none" rtlCol="0">
            <a:spAutoFit/>
          </a:bodyPr>
          <a:lstStyle/>
          <a:p>
            <a:pPr marL="0" marR="0" lvl="0" indent="0" algn="l" defTabSz="1219170" rtl="0" eaLnBrk="1" fontAlgn="auto" latinLnBrk="0" hangingPunct="1">
              <a:lnSpc>
                <a:spcPct val="100000"/>
              </a:lnSpc>
              <a:spcBef>
                <a:spcPct val="0"/>
              </a:spcBef>
              <a:spcAft>
                <a:spcPct val="0"/>
              </a:spcAft>
              <a:buClrTx/>
              <a:buSzTx/>
              <a:buFontTx/>
              <a:buNone/>
              <a:defRPr/>
            </a:pPr>
            <a:r>
              <a:rPr kumimoji="0" lang="es-ES_tradnl" sz="2400" b="1" i="0" u="none" strike="noStrike" kern="1200" cap="none" spc="0" normalizeH="0" baseline="0" noProof="0">
                <a:ln>
                  <a:noFill/>
                </a:ln>
                <a:solidFill>
                  <a:srgbClr val="FFFFFF"/>
                </a:solidFill>
                <a:effectLst/>
                <a:uLnTx/>
                <a:uFillTx/>
                <a:latin typeface="Calibri"/>
                <a:ea typeface="+mn-ea"/>
                <a:cs typeface="+mn-cs"/>
              </a:rPr>
              <a:t>Junio 2026</a:t>
            </a:r>
            <a:endParaRPr kumimoji="0" lang="en-US" sz="2400" b="1"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834240619"/>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OS" val="Unix 3.10.0.957"/>
  <p:tag name="AS_RELEASE_DATE" val="2025.02.28"/>
  <p:tag name="AS_TITLE" val="Aspose.Slides for Java"/>
  <p:tag name="AS_VERSION" val="25.2"/>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O.yfWj2EQY6yv3D5ckUWF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fqkY0b.TkiOSxj8N3sqS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d4KtmtuQRg.G7UcVkQhK7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jfqkY0b.TkiOSxj8N3sqS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7LlPDi5nDECGyX8j3ZXHlQ"/>
</p:tagLst>
</file>

<file path=ppt/theme/theme1.xml><?xml version="1.0" encoding="utf-8"?>
<a:theme xmlns:a="http://schemas.openxmlformats.org/drawingml/2006/main" name="1_Bloque 2_Tasas de transferencia_IBK">
  <a:themeElements>
    <a:clrScheme name="">
      <a:dk1>
        <a:srgbClr val="000000"/>
      </a:dk1>
      <a:lt1>
        <a:srgbClr val="FFFFFF"/>
      </a:lt1>
      <a:dk2>
        <a:srgbClr val="002569"/>
      </a:dk2>
      <a:lt2>
        <a:srgbClr val="808080"/>
      </a:lt2>
      <a:accent1>
        <a:srgbClr val="CCD3E1"/>
      </a:accent1>
      <a:accent2>
        <a:srgbClr val="E0D399"/>
      </a:accent2>
      <a:accent3>
        <a:srgbClr val="FFFFFF"/>
      </a:accent3>
      <a:accent4>
        <a:srgbClr val="000000"/>
      </a:accent4>
      <a:accent5>
        <a:srgbClr val="E2E6EE"/>
      </a:accent5>
      <a:accent6>
        <a:srgbClr val="CBBF8A"/>
      </a:accent6>
      <a:hlink>
        <a:srgbClr val="BFA13E"/>
      </a:hlink>
      <a:folHlink>
        <a:srgbClr val="99A8C3"/>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bg1">
              <a:lumMod val="65000"/>
            </a:schemeClr>
          </a:solidFill>
        </a:ln>
      </a:spPr>
      <a:bodyPr lIns="144000" tIns="108000" rIns="144000" bIns="108000" rtlCol="0" anchor="t"/>
      <a:lstStyle>
        <a:defPPr marL="171450" indent="-171450" algn="just">
          <a:spcBef>
            <a:spcPts val="600"/>
          </a:spcBef>
          <a:buFont typeface="Arial" panose="020B0604020202020204" pitchFamily="34" charset="0"/>
          <a:buChar char="•"/>
          <a:defRPr sz="11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oque 2_Tasas de transferencia_IBK">
  <a:themeElements>
    <a:clrScheme name="">
      <a:dk1>
        <a:srgbClr val="000000"/>
      </a:dk1>
      <a:lt1>
        <a:srgbClr val="FFFFFF"/>
      </a:lt1>
      <a:dk2>
        <a:srgbClr val="002569"/>
      </a:dk2>
      <a:lt2>
        <a:srgbClr val="808080"/>
      </a:lt2>
      <a:accent1>
        <a:srgbClr val="CCD3E1"/>
      </a:accent1>
      <a:accent2>
        <a:srgbClr val="E0D399"/>
      </a:accent2>
      <a:accent3>
        <a:srgbClr val="FFFFFF"/>
      </a:accent3>
      <a:accent4>
        <a:srgbClr val="000000"/>
      </a:accent4>
      <a:accent5>
        <a:srgbClr val="E2E6EE"/>
      </a:accent5>
      <a:accent6>
        <a:srgbClr val="CBBF8A"/>
      </a:accent6>
      <a:hlink>
        <a:srgbClr val="BFA13E"/>
      </a:hlink>
      <a:folHlink>
        <a:srgbClr val="99A8C3"/>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bg1">
              <a:lumMod val="65000"/>
            </a:schemeClr>
          </a:solidFill>
        </a:ln>
      </a:spPr>
      <a:bodyPr lIns="144000" tIns="108000" rIns="144000" bIns="108000" rtlCol="0" anchor="t"/>
      <a:lstStyle>
        <a:defPPr marL="171450" indent="-171450" algn="just">
          <a:spcBef>
            <a:spcPts val="600"/>
          </a:spcBef>
          <a:buFont typeface="Arial" panose="020B0604020202020204" pitchFamily="34" charset="0"/>
          <a:buChar char="•"/>
          <a:defRPr sz="11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Default Design">
  <a:themeElements>
    <a:clrScheme name="HRO">
      <a:dk1>
        <a:srgbClr val="838383"/>
      </a:dk1>
      <a:lt1>
        <a:srgbClr val="FFFFFF"/>
      </a:lt1>
      <a:dk2>
        <a:srgbClr val="002569"/>
      </a:dk2>
      <a:lt2>
        <a:srgbClr val="5F5F5F"/>
      </a:lt2>
      <a:accent1>
        <a:srgbClr val="63BA68"/>
      </a:accent1>
      <a:accent2>
        <a:srgbClr val="FFD85D"/>
      </a:accent2>
      <a:accent3>
        <a:srgbClr val="A7A7A7"/>
      </a:accent3>
      <a:accent4>
        <a:srgbClr val="7094BC"/>
      </a:accent4>
      <a:accent5>
        <a:srgbClr val="E59D27"/>
      </a:accent5>
      <a:accent6>
        <a:srgbClr val="CCD3E1"/>
      </a:accent6>
      <a:hlink>
        <a:srgbClr val="BFA13E"/>
      </a:hlink>
      <a:folHlink>
        <a:srgbClr val="99A8C3"/>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pattFill prst="pct30">
          <a:fgClr>
            <a:srgbClr val="92D050"/>
          </a:fgClr>
          <a:bgClr>
            <a:schemeClr val="bg1"/>
          </a:bgClr>
        </a:pattFill>
        <a:ln>
          <a:noFill/>
        </a:ln>
        <a:effectLst/>
      </a:spPr>
      <a:bodyPr rtlCol="0" anchor="ctr"/>
      <a:lstStyle>
        <a:defPPr algn="ctr">
          <a:defRPr dirty="0">
            <a:latin typeface="+mj-lt"/>
          </a:defRPr>
        </a:defPPr>
      </a:lstStyle>
      <a:style>
        <a:lnRef idx="1">
          <a:schemeClr val="accent1"/>
        </a:lnRef>
        <a:fillRef idx="3">
          <a:schemeClr val="accent1"/>
        </a:fillRef>
        <a:effectRef idx="2">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s-ES_tradnl" sz="12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ptos Display" panose="0211000402020202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ptos" panose="0211000402020202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5927</TotalTime>
  <Words>2535</Words>
  <Application>Microsoft Office PowerPoint</Application>
  <PresentationFormat>Panorámica</PresentationFormat>
  <Paragraphs>408</Paragraphs>
  <Slides>12</Slides>
  <Notes>10</Notes>
  <HiddenSlides>0</HiddenSlides>
  <MMClips>0</MMClips>
  <ScaleCrop>false</ScaleCrop>
  <HeadingPairs>
    <vt:vector size="6" baseType="variant">
      <vt:variant>
        <vt:lpstr>Fuentes usadas</vt:lpstr>
      </vt:variant>
      <vt:variant>
        <vt:i4>9</vt:i4>
      </vt:variant>
      <vt:variant>
        <vt:lpstr>Tema</vt:lpstr>
      </vt:variant>
      <vt:variant>
        <vt:i4>3</vt:i4>
      </vt:variant>
      <vt:variant>
        <vt:lpstr>Títulos de diapositiva</vt:lpstr>
      </vt:variant>
      <vt:variant>
        <vt:i4>12</vt:i4>
      </vt:variant>
    </vt:vector>
  </HeadingPairs>
  <TitlesOfParts>
    <vt:vector size="24" baseType="lpstr">
      <vt:lpstr>Aptos</vt:lpstr>
      <vt:lpstr>Aptos Narrow</vt:lpstr>
      <vt:lpstr>Arial</vt:lpstr>
      <vt:lpstr>Calibri</vt:lpstr>
      <vt:lpstr>Lato</vt:lpstr>
      <vt:lpstr>Segoe Print</vt:lpstr>
      <vt:lpstr>Segoe UI Light</vt:lpstr>
      <vt:lpstr>Webdings</vt:lpstr>
      <vt:lpstr>Wingdings</vt:lpstr>
      <vt:lpstr>1_Bloque 2_Tasas de transferencia_IBK</vt:lpstr>
      <vt:lpstr>Bloque 2_Tasas de transferencia_IBK</vt:lpstr>
      <vt:lpstr>Default Design</vt:lpstr>
      <vt:lpstr>Nueva Solución RNT + ALM + FTP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Alonso García</dc:creator>
  <cp:lastModifiedBy>MANAGEMENT SOLUTIONS.Pachas Negron, Sebastian Ignacio</cp:lastModifiedBy>
  <cp:revision>34</cp:revision>
  <dcterms:created xsi:type="dcterms:W3CDTF">2026-06-10T05:35:33Z</dcterms:created>
  <dcterms:modified xsi:type="dcterms:W3CDTF">2026-07-07T19:40:42Z</dcterms:modified>
</cp:coreProperties>
</file>